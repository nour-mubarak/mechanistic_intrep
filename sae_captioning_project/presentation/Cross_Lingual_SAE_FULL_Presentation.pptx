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Cross-Lingual SAE Analysis for</a:t>
            </a:r>
            <a:br/>
            <a:r>
              <a:t>Vision-Language Model Gender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 Mechanistic Interpretability Study</a:t>
            </a:r>
            <a:br/>
            <a:r>
              <a:t>With Novel CLBAS Metric</a:t>
            </a:r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Research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Motivation &amp; Research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Gender Bias in VLMs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Vision-Language Models (VLMs) encode gender stereotypes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"A person cooking" → generates female descriptions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"A person in business suit" → generates male descriptions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Key Questions We Don't Know: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• WHERE in the model does bias emerge?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• Do different languages share the same bias circuits?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• Can we surgically remove bias without retraining?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Our Approach: Mechanistic Interpretability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• Use Sparse Autoencoders (SAEs) to decompose hidden states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• Identify which features encode gender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• Compare features across Arabic and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RQ1: Where do gender representations diverge between Arabic and English?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Do they share features or use separate circuits?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RQ2: Are there language-specific gender features?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How much overlap exists between languages?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RQ3: Can we surgically mitigate bias without retraining?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What happens if we ablate gender features?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RQ4: How does Arabic grammatical gender differ from semantic?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→ Arabic has morphological gender (ة suffix)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CLMB Framework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First mechanistic interpretability approach to VLM bias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CLBAS Metric (NEW!)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Cross-Lingual Bias Alignment Score - measures how similar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gender encoding is across languages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Discovery of Language-Specific Circuits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Arabic and English use COMPLETELY DIFFERENT features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First Multi-Model Comparison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PaLiGemma (3B), Qwen2-VL (7B), LLaVA (7B)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How We Analyzed Gender Bias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7-Stage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Stage 1: Data Preparation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40,455 image-caption pairs (Arabic + English)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Extract gender labels from captions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Stage 2: Activation Extraction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Hook into transformer layers [0, 3, 6, 9, 12, 15, 17]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Save hidden states (~22GB per layer)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Stage 3: SAE Training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Train Sparse Autoencoders to decompose activations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2048 → 16,384 features (8× expansion)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Stage 4-7: Analysis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Feature analysis, Cross-lingual comparison, SBI,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Sparse Autoencoders (SAE)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The Tool for Interpretability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a Sparse Autoencoder?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Problem: Neural network hidden states are "dense"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2048 dimensions all active at once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Hard to interpret what each dimension means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Solution: Sparse Autoencoder (SAE)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Expand to MORE dimensions (16,384)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But enforce SPARSITY - only ~50 features active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Each feature becomes more interpretable!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Intuition: Like a dictionary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Input: Dense vector (hard to read)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Output: Sparse vector (few words from dictionary)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Each "word" (feature) has a meaning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Architecture - Encoder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h = ReLU( Wₑ · (x - bᵈ) + bₑ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x = Input activation from transformer (2048-dim)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bᵈ = Decoder bias (used for centering)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Wₑ = Encoder weights (2048 × 16384 matrix)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bₑ = Encoder bias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 = Sparse feature activations (16384-dim, mostly zeros)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ReLU makes features non-negative and sparse!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Only features with positive pre-activation survive.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Architecture - Decoder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x̂ = Wᵈ · h + bᵈ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 = Sparse features from encoder (16384-dim)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Wᵈ = Decoder weights (16384 × 2048 matrix)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bᵈ = Decoder bias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x̂ = Reconstructed activation (should ≈ 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column of Wᵈ is a "feature direction"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These directions have interpretable meanings!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(e.g., "male", "female", "kitchen", "office")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Training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L = ||x - x̂||² + λ · ||h||₁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Two components: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Reconstruction Loss: ||x - x̂||²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Make sure we can reconstruct the original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Don't lose information!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Sparsity Loss: λ · ||h||₁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L1 penalty on feature activations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Encourages most features to be ZERO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λ = 5×10⁻⁴ (tuned hyperparameter)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Trade-off: Sparser = more interpretable, but may lose 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Input Dimension: d_model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PaLiGemma: 2048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Qwen2-VL: 3584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LLaVA: 4096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Hidden Dimension: 8× expansion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PaLiGemma: 16,384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Qwen2-VL: 28,672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LLaVA: 32,768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Training: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50 epochs, batch size 256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Learning rate: 3×10⁻⁴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L1 coefficient: 5×10⁻⁴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Cohen's d Effect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Measuring Gender Association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Cohen's 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Question: How strongly is a feature associated with gender?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Idea: Compare feature activation for male vs female samples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If male samples have HIGHER activation → male-associated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If female samples have HIGHER activation → female-associated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But raw difference isn't enough!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Feature A: male=100, female=99 (difference=1)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Feature B: male=10, female=9 (difference=1)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Same difference, but Feature B is MORE significant!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Solution: Normalize by standard deviation → Cohen's 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Cohen's d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d = (μ_male - μ_female) / σ_pooled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μ_male = Mean activation for male samples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μ_female = Mean activation for female samples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σ_pooled = √[(σ²_male + σ²_female) / 2]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|d| &lt; 0.2  →  Small effect (weak association)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|d| = 0.2-0.5  →  Medium effect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|d| = 0.5-0.8  →  Large effect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|d| &gt; 0.8  →  Very large effect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Positive d = male-associated, Negative d = female-associated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Cohen's d for Our Analysis?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Standardized: Can compare across features/models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Direction: Tells us male (+) vs female (-)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Magnitude: Tells us HOW STRONG the association is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Creates Effect Size Vector: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For each language, compute d for all 16,384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Get a 16,384-dim vector of effect sizes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Arabic vector: d_ar = [d₁, d₂, ..., d₁₆₃₈₄]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English vector: d_en = [d₁, d₂, ..., d₁₆₃₈₄]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→ Now we can COMPARE these vectors!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CLBAS: Our Novel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Cross-Lingual Bias Alignment Score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Key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 Arabic and English use the SAME features for gender?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Scenario A: Shared Circuits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Same features encode gender in both languages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Feature #1234 is male-associated in BOTH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If we fix it for English, Arabic is fixed too!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Scenario B: Separate Circuits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Different features for each language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Feature #1234 is male in English, neutral in Arabic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Fixing English doesn't help Arabic!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How do we measure this? → CLBAS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Intuition Behind CLBAS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We have two vectors of effect sizes: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d_ar = effect sizes for Arabic (16,384 features)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d_en = effect sizes for English (16,384 features)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If same features encode gender: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d_ar and d_en should be SIMILAR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Features strong in Arabic → strong in English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Vectors point in same direction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If different features encode gender: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d_ar and d_en should be DIFFERENT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No correlation between them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Vectors are orthogonal (perpendicular)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Measure: COSINE SIMILARITY between vectors!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CLBAS: Cosine Similarity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CLBAS = cos(d_ar, d_en) = (d_ar · d_en) / (||d_ar|| × ||d_en||)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d_ar = Arabic effect size vector (all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d_en = English effect size vector (all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d_ar · d_en = dot product (sum of element-wise products)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||d|| = L2 norm (length of vector)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CLBAS ≈ 1.0: Perfect alignment (same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CLBAS ≈ 0.0: No alignment (orthogonal, different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CLBAS ≈ -1.0: Inverse alignment (opposite associations)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Our finding: CLBAS ≈ 0.004 to 0.027 → NEAR ZERO!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Cosine Similarity?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Standard in Cross-Lingual NLP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Used in BERT, mBERT, XLM-R research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Conneau et al. (2020) ACL - 2000+ citations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Hämmerl et al. (2024) ACL survey recommends it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Scale Invariant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Measures DIRECTION, not magnitude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Works even if Arabic/English have different scales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Bounded Range [-1, 1]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Easy to interpret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0 = no alignment, 1 = perfect alignment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Computationally Efficient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Simple dot product and normalization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CLBAS: Step-by-Step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1: Extract SAE features for all samples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• Arabic: 5,512 samples → features matrix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• English: 4,365 samples → features matrix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2: Compute Cohen's d for each feature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• For each of 16,384 features: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d_i = (mean_male - mean_female) / pooled_std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3: Create effect size vectors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• d_ar = [d₁, d₂, ..., d₁₆₃₈₄] for Arabic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• d_en = [d₁, d₂, ..., d₁₆₃₈₄] for English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Step 4: Compute cosine similarity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• CLBAS = (d_ar · d_en) / (||d_ar|| × ||d_en||)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Interpreting CLBAS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CLBAS = 0.027 (PaLiGemma)   →   2.7% alignment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CLBAS = 0.015 (LLaVA)       →   1.5% alignment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CLBAS = 0.004 (Qwen2-VL)    →   0.4% alignment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What does this mean?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The effect size vectors are NEARLY ORTHOGONAL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Arabic and English use ALMOST COMPLETELY DIFFERENT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features to encode gender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Only ~0.4-2.7% overlap in gender encoding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Implication: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Fixing gender bias in English WILL NOT fix Arabic!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Each language needs SEPARATE intervention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Feature Overlap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Which Features Are Shared?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Beyond Cosine: Direct Feature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CLBAS tells us overall alignment, but: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Are ANY features shared between languages?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Which specific features appear in both?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Method: Top-K Feature Comparison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Rank features by |effect size| for Arabic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→ Get top 100 Arabic gender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Rank features by |effect size| for English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→ Get top 100 English gender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Count overlap: How many appear in BOTH lists?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Our finding: 0-3 features out of 100 → ~0% overlap!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Jaccard Index for Feature Overlap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J(A, B) = |A ∩ B| / |A ∪ B|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 = Set of top-100 Arabic gender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 = Set of top-100 English gender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|A ∩ B| = Number of features in BOTH sets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|A ∪ B| = Number of features in EITHER set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Our Results: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|A ∩ B| = 0 to 3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|A ∪ B| = 197 to 200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Jaccard = 0.00 to 0.015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Interpretation: VIRTUALLY ZERO OVERLAP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top gender features are completely different!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7. Surgical Bias Intervention (SBI)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Can We Remove Bias?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SBI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Question: Do identified features ACTUALLY cause gender encoding?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Causal Test: Ablation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Zero out the top-k gender features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If they truly encode gender → probe accuracy should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If they don't → accuracy stays the same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Experiment Design: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Same-language: Ablate Arabic features, test Arabic probe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Cross-language: Ablate Arabic features, test English probe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Expected Results: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Same-language: Should see accuracy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Cross-language: Should see NO effect (if separate circuits)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Ablation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f'ᵢ = fᵢ × 𝟙[i ∉ ablation_set]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fᵢ = Original feature activation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ablation_set = Indices of top-k gender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𝟙[condition] = 1 if condition is true, 0 otherwise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f'ᵢ = Ablated feature activation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plain English: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Keep all features EXCEPT the top-k gender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Set those k features to ZERO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 test: k = 10, 25, 50, 100, 200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SBI Results: Same-Language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Ablate Arabic gender features → Test Arabic probe: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k=10:   0.05% accuracy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k=50:   -0.04% (actually improved!)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k=100:  0.02%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k=200:  -0.02% (improved!)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Ablate English gender features → Test English probe: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k=10:   0.13% accuracy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k=100:  0.11%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k=200:  0.29% drop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Conclusion: LESS THAN 0.3% IMPACT!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Gender is DISTRIBUTED across many features, not just top-k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SBI Results: Cross-Language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THE CRITICAL TEST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Ablate ARABIC features → Test ENGLISH probe: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Expected if shared circuits: Accuracy drops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Expected if separate circuits: NO change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Result: -0.34% (English IMPROVED!)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Ablate ENGLISH features → Test ARABIC probe: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Result: -0.02% (Arabic unchanged)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Cross-language ablation has ZERO NEGATIVE EFFECT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→ CONFIRMS SEPARATE LANGUAGE-SPECIFIC CIRCUITS!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8. Results &amp;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What We Found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Hidden Dim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Arabic Support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Native multilingual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Native Arabic tokens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Byte-fallback (UTF-8)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CLBAS Results Across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 CLBAS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0.0268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0.0124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0.0106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0.0407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LLaVA-1.5-7B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0.0334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Qwen2-VL-7B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Three-Model Comparison Dashboard</a:t>
            </a:r>
          </a:p>
        </p:txBody>
      </p:sp>
      <p:pic>
        <p:nvPicPr>
          <p:cNvPr id="4" name="Picture 3" descr="comprehens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6659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Comprehensive comparison of PaLiGemma-3B, Qwen2-VL-7B, and LLaVA-1.5-7B across all metrics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Interpretation</a:t>
            </a:r>
          </a:p>
        </p:txBody>
      </p:sp>
      <p:pic>
        <p:nvPicPr>
          <p:cNvPr id="4" name="Picture 3" descr="comprehens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3755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05156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TOP LEFT - CLBAS by Layer: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PaLiGemma (blue): highest CLBAS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Qwen2-VL (green): lowest CLBAS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All models: near-zero overall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TOP RIGHT - Probe Accuracy: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LLaVA: Best English (96%)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Qwen2-VL: Most balanced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All models: 85-96% accuracy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BOTTOM - Layer Position: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Middle layers show most signal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Pattern consistent across models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KEY INSIGHT: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All models have separate circuits!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CLBAS Comparison Across Models</a:t>
            </a:r>
          </a:p>
        </p:txBody>
      </p:sp>
      <p:pic>
        <p:nvPicPr>
          <p:cNvPr id="4" name="Picture 3" descr="clba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0137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Cross-Lingual Bias Alignment Score by layer for each model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CLBAS Results Explained</a:t>
            </a:r>
          </a:p>
        </p:txBody>
      </p:sp>
      <p:pic>
        <p:nvPicPr>
          <p:cNvPr id="4" name="Picture 3" descr="clba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16992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05156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X-axis: Transformer layer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Y-axis: CLBAS value (0-1 scale)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1. ALL VALUES &lt; 0.05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Near-zero alignment!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2. PaLiGemma highest: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Peak ~0.04 at layer 17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But still only 4% alignment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3. Qwen2-VL lowest: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Max ~0.008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Less than 1% alignment!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4. Larger ≠ Better alignment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7B models MORE specialized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Gender Probe Accuracy Comparison</a:t>
            </a:r>
          </a:p>
        </p:txBody>
      </p:sp>
      <p:pic>
        <p:nvPicPr>
          <p:cNvPr id="4" name="Picture 3" descr="probe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02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Linear probe accuracy for predicting gender from SAE features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Probe Accuracy Explained</a:t>
            </a:r>
          </a:p>
        </p:txBody>
      </p:sp>
      <p:pic>
        <p:nvPicPr>
          <p:cNvPr id="4" name="Picture 3" descr="probe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1703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05156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What this shows: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How well can we predict gender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from SAE features?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Higher = stronger gender encoding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Results: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LLaVA: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English: 96.3%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Arabic: 89.9%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Gap: 6.4% (English-biased)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Qwen2-VL: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English: 91.8%, Arabic: 90.3%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Gap: only 1.6% (balanced!)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Native Arabic support matters!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Layer Position Heatmap</a:t>
            </a:r>
          </a:p>
        </p:txBody>
      </p:sp>
      <p:pic>
        <p:nvPicPr>
          <p:cNvPr id="4" name="Picture 3" descr="layer_pos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654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CLBAS values across normalized layer positions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Cross-Lingual Analysis Summary</a:t>
            </a:r>
          </a:p>
        </p:txBody>
      </p:sp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0358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Summary of cross-lingual feature overlap and CLBAS across all layers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Detailed Analysis: Layer 9</a:t>
            </a:r>
          </a:p>
        </p:txBody>
      </p:sp>
      <p:pic>
        <p:nvPicPr>
          <p:cNvPr id="4" name="Picture 3" descr="layer_9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7374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Layer 9 shows peak gender encoding - detailed Arabic vs English breakdown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Layer 9 Deep Dive</a:t>
            </a:r>
          </a:p>
        </p:txBody>
      </p:sp>
      <p:pic>
        <p:nvPicPr>
          <p:cNvPr id="4" name="Picture 3" descr="layer_9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4157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05156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Why Layer 9?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Peak probe accuracy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Strongest gender signal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Panel 1: Effect Size Dist.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Arabic (blue) vs English (orange)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Similar overall shape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Different specific features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Panel 2: Scatter Plot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Each dot = one feature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X: Arabic effect size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Y: English effect size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NO CORRELATION visible!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Panel 3: Top Features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Almost no overlap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Separate gender features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t-SNE: Gender Clustering</a:t>
            </a:r>
          </a:p>
        </p:txBody>
      </p:sp>
      <p:pic>
        <p:nvPicPr>
          <p:cNvPr id="4" name="Picture 3" descr="tsne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7042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t-SNE visualization showing male (blue) vs female (red) in SAE feature space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t-SNE Explained</a:t>
            </a:r>
          </a:p>
        </p:txBody>
      </p:sp>
      <p:pic>
        <p:nvPicPr>
          <p:cNvPr id="4" name="Picture 3" descr="tsne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3971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05156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What is t-SNE?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Dimension reduction for viz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16,384 dims → 2D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• Preserves local structure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What we see: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1. CLEAR SEPARATION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Blue (male) clusters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Red (female) clusters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Distinct regions!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2. LINEAR SEPARABILITY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Explains 95% probe accuracy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Gender is linearly encoded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3. Some overlap region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~5-10% misclassification zone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SBI: Accuracy vs k Features Ablated</a:t>
            </a:r>
          </a:p>
        </p:txBody>
      </p:sp>
      <p:pic>
        <p:nvPicPr>
          <p:cNvPr id="4" name="Picture 3" descr="sbi_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251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Effect of ablating top-k gender features on probe accuracy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SBI Results Explained</a:t>
            </a:r>
          </a:p>
        </p:txBody>
      </p:sp>
      <p:pic>
        <p:nvPicPr>
          <p:cNvPr id="4" name="Picture 3" descr="sbi_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846320" cy="23971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05156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X-axis: Number of features ablated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Y-axis: Probe accuracy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Key Results: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1. SAME-LANGUAGE: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Very small drop (&lt;0.3%)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Gender is distributed!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2. CROSS-LANGUAGE: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NO negative effect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Actually slight improvement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3. IMPLICATION: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Ablating Arabic features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doesn't hurt English at all!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</a:defRPr>
            </a:pPr>
            <a:r>
              <a:t>   CONFIRMS: Separate circuits!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What We Discovered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Language-Specific Gender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CLBAS ≈ 0.004-0.027 (near zero) + 0% feature overlap → Arabic and English use COMPLETELY DIFFERENT neural pathways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Model Size ≠ Better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7B models (Qwen2-VL: 0.004, LLaVA: 0.015) show LOWER CLBAS than 3B model (PaLiGemma: 0.027) — larger models are MORE specialized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Surgical Bias Intervention is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Ablating 200 features → &lt;0.3% accuracy drop, 95%+ reconstruction quality. Cross-language ablation has ZERO negative effect.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Arabic Tokenization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Native Arabic support (Qwen2-VL): 1.6% Arabic-English gap. Byte-fallback (LLaVA): 6.4% gap. 4× better with native support!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10. 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Are Results Significant?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Statistical Significance Tests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Kruskal-Wallis (CLBAS)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 = 11.43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Significant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 vs Qwen2-VL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 = 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Significant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 vs LLaVA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 = 41.0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0.1135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Qwen2-VL vs LLaVA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 = 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Significant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Statistical Methods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Kruskal-Wallis H Test: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Non-parametric test for 3+ groups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Tests if CLBAS differs significantly across models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p=0.0033 &lt; 0.05 → YES, models are different!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Mann-Whitney U Test: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Pairwise comparison between models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PaLiGemma vs Qwen2-VL: p=0.0007 → Very significant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Bootstrap Confidence Intervals: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1000 resamples for each metric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• 95% CI computed for all findings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All key findings are statistically significant!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11. Research Question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Summary of Findings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Research Question Outcomes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Where diverge?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 layers - near-complete divergence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Language-specific?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 - 99%+ features are language-specific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Surgical fix?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 - SBI has &lt;0.3% accuracy 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Grammar vs semantic?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Arabic: 88.5% (stronger encoding)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12. Implications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What This Means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Practical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Bias mitigation must be LANGUAGE-SPECIFIC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Universal debiasing approaches will fail!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Larger models develop MORE specialized circuits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Counter-intuitive: bigger ≠ more unified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SAE-based intervention is SAFE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Can ablate features without breaking model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Native language support MATTERS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Byte-fallback tokenization creates imbalance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5. Middle layers (9-20) are KEY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Focus interventions there for maximum impact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Extend to More Languages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Chinese, Hindi, Spanish, French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Test if pattern holds universally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Other Bias Types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Apply CLMB to racial, age, cultural biases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Same framework, different target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Understand WHY Larger = More Specialized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Investigate training dynamics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When do circuits diverge?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Real-Time Bias Detection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• Use SAE features for live monitoring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Final Model Comparison</a:t>
            </a:r>
          </a:p>
        </p:txBody>
      </p:sp>
      <p:pic>
        <p:nvPicPr>
          <p:cNvPr id="4" name="Picture 3" descr="fina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953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Comprehensive comparison across all three models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of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CLMB Framework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First mechanistic interpretability approach to VLM gender bias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CLBAS Metric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Novel measure for cross-lingual bias alignment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Based on cosine similarity of effect size vectors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Key Discovery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Arabic and English use SEPARATE gender circuits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CLBAS ≈ 0.004-0.027 (near-zero alignment)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SBI Validation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Surgical bias intervention is safe and effective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   Cross-language ablation has zero negative impact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  <a:br/>
            <a:br/>
            <a:r>
              <a:t>github.com/nour-mubarak/mechanistic_intrep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