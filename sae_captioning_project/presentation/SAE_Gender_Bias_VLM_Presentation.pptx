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Sparse Autoencoders Reveal and Control</a:t>
            </a:r>
            <a:br/>
            <a:r>
              <a:t>Gender Bias in Vision-Language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C8C8C8"/>
                </a:solidFill>
              </a:defRPr>
            </a:pPr>
            <a:r>
              <a:t>A Cross-Lingual Mechanistic Interpretability Study</a:t>
            </a:r>
            <a:br/>
            <a:br/>
            <a:r>
              <a:t>Nour Mubarak | Durham University |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First application of Sparse Autoencoders (SAEs) to VLMs for mechanistic interpretability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Goal: Understand HOW gender bias is encoded, not just that it exists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Cross-lingual analysis: English and Arabic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4 state-of-the-art VLM architectures studied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Causal intervention experiments to validate findings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Direct implications for bias mitigation strategies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RQ1: Can SAEs identify interpretable gender-associated features in VLMs?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RQ2: Do these features have CAUSAL influence on gendered output?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RQ3: How does gender encoding differ across model architectures?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RQ4: Are gender features shared across languages (English/Arabic)?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RQ5: What are the implications for bias mitigation?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82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C8DCFF"/>
                </a:solidFill>
              </a:defRPr>
            </a:pPr>
            <a:r>
              <a:t>Section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Background &amp; Motivation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Problem: Gender Bias in VLMs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Vision-Language Models exhibit systematic gender bias in captioning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Example: Man on skateboard -&gt; 'man performing tricks'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Example: Woman on skateboard -&gt; 'person standing on board'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Models systematically deploy gendered language for some groups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Prior work measures WHAT but not WHY or HOW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Need to understand internal mechanisms for effective mitigation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Why Mechanistic Interpretability?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B82F6"/>
                </a:solidFill>
              </a:defRPr>
            </a:pPr>
            <a:r>
              <a:t>Prior Approaches (Black Box)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73736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Measure bias in outputs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Data augmentation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Constrained decoding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Treat model as black box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Cannot explain WHY bias occurs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B82F6"/>
                </a:solidFill>
              </a:defRPr>
            </a:pPr>
            <a:r>
              <a:t>Our Approach (Mechanistic)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73736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Open the black box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Identify specific features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Test causal hypotheses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Understand internal encoding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Enable surgical interventions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What are Sparse Autoencoders (SAEs)?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Neural network that decomposes dense activations into sparse, interpretable features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Architecture: Encoder -&gt; Sparse hidden -&gt; Decoder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Equation: h = ReLU(W_enc * x + b_enc)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Reconstruction: x_hat = W_dec * h + b_dec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Loss: MSE(x, x_hat) + lambda*||h||_1 (reconstruction + sparsity)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Each feature corresponds to a semantically meaningful concept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Previously applied to text LLMs; we extend to multimodal VLMs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82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C8DCFF"/>
                </a:solidFill>
              </a:defRPr>
            </a:pPr>
            <a:r>
              <a:t>Section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Methodology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Vision-Language Models Studied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8595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560"/>
                <a:gridCol w="1432560"/>
                <a:gridCol w="1432560"/>
                <a:gridCol w="1432560"/>
                <a:gridCol w="1432560"/>
                <a:gridCol w="143256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d_model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Layers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SAE Features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PaLiGemma-3B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2.9B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2,048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16,384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Captioning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Qwen2-VL-7B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7.6B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3,584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28,672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Instruction-tuned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LLaVA-1.5-7B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7.1B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4,096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32,768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Instruction-tuned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Llama-3.2-11B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10.6B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4,096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32,768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Instruction-tuned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Dataset: Flickr8K Bilingual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Flickr8K dataset (Hodosh et al., 2013)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8,092 images with bilingual English-Arabic caption pairs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Gender labels derived from caption content (keyword matching)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Male samples: 5,562 | Female samples: 2,047 (ratio 2.7:1)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16 binary gender terms tracked (he, she, him, her, man, woman, etc.)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18 gender-neutral terms tracked for comparison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Why Flickr8K is Sufficient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QUESTION: Isn't Flickr8K small compared to modern datasets?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ANSWER: We analyze INTERNAL ACTIVATIONS, not train new models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8,092 images yield up to 10,000 activation samples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SAEs learn to reconstruct activation distribution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Not generalizing to new images, just decomposing existing ones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Consistent with prior mechanistic interpretability work: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Cunningham et al. (2023): similar sample sizes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Bricken et al. (2023): comparable SAE training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Four-Stage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Stage 1: ACTIVATION EXTRACTION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Extract LANGUAGE MODEL DECODER activations (NOT visual encoder)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PyTorch forward hooks on text decoder layers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Mean-pool across sequence positions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Stage 2: SAE TRAINING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Train sparse autoencoder (8x expansion factor)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Vanilla ReLU + L1 sparsity (lambda = 10^-4)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Stage 3: GENDER FEATURE IDENTIFICATION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Differential activation analysis (male vs female)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Select top-k features (k=100, 0.6% of total)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Stage 4: CAUSAL INTERVENTION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Ablate identified features during generation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Compare to random ablation controls (25 runs)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Pipeline Overview Figure</a:t>
            </a:r>
          </a:p>
        </p:txBody>
      </p:sp>
      <p:pic>
        <p:nvPicPr>
          <p:cNvPr id="4" name="Picture 3" descr="fig1_pipeline_overview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58692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1F2937"/>
                </a:solidFill>
              </a:defRPr>
            </a:pPr>
            <a:r>
              <a:t>Complete pipeline: Data -&gt; Extraction -&gt; SAE Training -&gt; Intervention -&gt; Cross-lingual Analysis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Activation Extraction Details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8595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 Samples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Layers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PaLiGemma-3B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0,3,6,9,12,15,17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Flickr8K subset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Qwen2-VL-7B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7,609 EN / 6,413 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0,4,8,...,27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Gender-labeled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LLaVA-1.5-7B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5,249 EN / 4,449 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0,4,8,...,31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Gender-labeled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Llama-3.2-11B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5,249 EN / ~5K 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0,5,10,...,39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Gender-labeled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Why Sample Counts Vary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Each model extracted independently with its own script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Sample counts differ due to: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Image loading failures (corrupted files)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Out-of-memory errors on larger models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Different tokenization producing invalid samples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Key point: Activations are from LANGUAGE MODEL DECODER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NOT visual encoder features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NOT raw pixel representations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The decoder layers encode linguistic gender for generation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SAE Architecture &amp;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Expansion factor: 8x (e.g., 2048 -&gt; 16,384 features)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Activation: ReLU (vanilla baseline architecture)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Loss: MSE reconstruction + L1 sparsity penalty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Optimizer: AdamW (lr = 10^-4)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Batch size: 256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Training: 50 epochs with early stopping (patience=10)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Split: 90% train / 10% validation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Note: TopK and JumpReLU are alternatives for future work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Causal Intervention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500 test images (seed=42 for reproducibility)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BASELINE: Generate captions with no modification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TARGETED: Zero contribution of top-100 gender features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RANDOM CONTROL: 25 runs with randomly selected features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Two hook variants used: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Full reconstruction (PaLiGemma): Replace with SAE output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Residual ablation (Qwen, Llama): Subtract feature contribution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Deterministic generation: greedy decoding, no sampling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Evaluation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PRIMARY: Raw gender term count change (%)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count(targeted) vs count(baseline)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CONTROL: Length-normalized gender rate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rate = gender_terms / total_tokens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Prevents criticism: 'shorter captions = fewer terms mechanically'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STATISTICAL TESTS: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Bootstrap 95% CI (10,000 resamples)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Wilcoxon signed-rank (paired, per-image)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Effect ratio: targeted_change / random_change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Intervention Experiment Design</a:t>
            </a:r>
          </a:p>
        </p:txBody>
      </p:sp>
      <p:pic>
        <p:nvPicPr>
          <p:cNvPr id="4" name="Picture 3" descr="fig_intervention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8229600" cy="46772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1F2937"/>
                </a:solidFill>
              </a:defRPr>
            </a:pPr>
            <a:r>
              <a:t>Three-phase design: Baseline -&gt; Targeted Ablation -&gt; Random Control (x25) -&gt; Statistical Comparison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82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C8DCFF"/>
                </a:solidFill>
              </a:defRPr>
            </a:pPr>
            <a:r>
              <a:t>Section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Results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Main Intervention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8595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560"/>
                <a:gridCol w="1432560"/>
                <a:gridCol w="1432560"/>
                <a:gridCol w="1432560"/>
                <a:gridCol w="1432560"/>
                <a:gridCol w="143256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Targeted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Random (mean+/-std)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 (L9)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-8.7% +/- 3.9%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1.8x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 (L12)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1,315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1,367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+3.95%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-0.56% +/- 1.14%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7.1x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 (L20)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1,355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1,423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+5.02%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-0.84% +/- 0.76%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6.0x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274320"/>
            <a:ext cx="914400" cy="9144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B82F6"/>
                </a:solidFill>
              </a:defRPr>
            </a:pPr>
            <a:r>
              <a:t>Key Finding #1</a:t>
            </a:r>
          </a:p>
          <a:p>
            <a:pPr>
              <a:defRPr sz="2800" b="1">
                <a:solidFill>
                  <a:srgbClr val="1F2937"/>
                </a:solidFill>
              </a:defRPr>
            </a:pPr>
            <a:r>
              <a:t>Targeted Ablation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8595360" cy="1828800"/>
          </a:xfrm>
          <a:prstGeom prst="roundRect">
            <a:avLst/>
          </a:prstGeom>
          <a:solidFill>
            <a:srgbClr val="EFF6FF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F2937"/>
                </a:solidFill>
              </a:defRPr>
            </a:pPr>
            <a:r>
              <a:t>Ablating just 0.6% of SAE features (100 out of 16,384) produces statistically significant changes in gender-marked language across ALL three models tested. Effect ratios range from 1.8x to 7.1x compared to random controls.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840480"/>
            <a:ext cx="8595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Evidence: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Bootstrap 95% CIs exclude zero for all models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PaLiGemma: CI = [-0.274, -0.174]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Qwen2-VL: CI = [+0.038, +0.200]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Llama: CI = [+0.078, +0.242]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25 random control runs per model for statistical rigor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274320"/>
            <a:ext cx="914400" cy="9144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B82F6"/>
                </a:solidFill>
              </a:defRPr>
            </a:pPr>
            <a:r>
              <a:t>Key Finding #2</a:t>
            </a:r>
          </a:p>
          <a:p>
            <a:pPr>
              <a:defRPr sz="2800" b="1">
                <a:solidFill>
                  <a:srgbClr val="1F2937"/>
                </a:solidFill>
              </a:defRPr>
            </a:pPr>
            <a:r>
              <a:t>KEY NOVEL INSIGHT: Excitatory vs Inhibitory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8595360" cy="1828800"/>
          </a:xfrm>
          <a:prstGeom prst="roundRect">
            <a:avLst/>
          </a:prstGeom>
          <a:solidFill>
            <a:srgbClr val="EFF6FF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F2937"/>
                </a:solidFill>
              </a:defRPr>
            </a:pPr>
            <a:r>
              <a:t>The DIRECTION of the effect depends on model architecture. This is our most important discovery: the same ablation has OPPOSITE effects across architectures!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840480"/>
            <a:ext cx="8595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Evidence: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PaLiGemma (captioning): -16.1% gender terms (ablation REMOVES)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Qwen/Llama (instruction-tuned): +4-5% gender terms (ablation RELEASES)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HYPOTHESIS: Instruction tuning fundamentally changes encoding: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  Captioning models: gender features PRODUCE gender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  Instruction models: gender features REGULATE/SUPPRESS gender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PRACTICAL IMPLICATION: Same debiasing intervention would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   REDUCE bias in some models, INCREASE it in others!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Two Mechanisms of Gender Encoding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B82F6"/>
                </a:solidFill>
              </a:defRPr>
            </a:pPr>
            <a:r>
              <a:t>Excitatory (PaLiGemma)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73736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Smaller, captioning-focused model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Gender features directly produce output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Ablation REMOVES gendered language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Effect: -16.1% gender terms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Like turning off a light switch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B82F6"/>
                </a:solidFill>
              </a:defRPr>
            </a:pPr>
            <a:r>
              <a:t>Inhibitory (Qwen, Llama)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73736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Larger, instruction-tuned models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Features regulate/suppress gender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Ablation RELEASES gendered language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Effect: +4-5% gender terms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</a:defRPr>
            </a:pPr>
            <a:r>
              <a:t>• Like removing a governor/brake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Layer Specificity (PaLiGemma)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Gender features are LOCALIZED, not distributed uniformly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L9 (mid-layer, ~50%): Carries the ENTIRE effect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Targeted: -16.1%, Random: -8.7% +/- 3.9%, p = 1.65x10^-21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L17 (penultimate, negative control): NO significant effect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Targeted: -0.8%, Random: -4.1% +/- 5.0%, p = 0.999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L9 + L17 combined: Same as L9 alone (no additional benefit)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Conclusion: Middle layers encode semantic features like gender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Justification: Consistent with prior SAE literature on text LLMs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Per-Term Changes Under Ablation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8595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Term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PaLiGemma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Qwen2-VL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Llama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+11.9%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-83.3%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+90.9%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+5.3%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-0.2%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+4.8%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woman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-4.3%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+66.3%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Per-Term Analysis: Key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Ablation RESHUFFLES which gendered terms appear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It does NOT uniformly suppress all gender terms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PaLiGemma pattern: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Pronouns dramatically reduced (her -73%, him -83%)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Explicit nouns slightly increased (man +10%, woman +9%)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Suggests features encode PRONOUN USAGE, not pure gender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Qwen/Llama pattern: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Nouns increased (man +54%, him +91%)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Features appear to SUPPRESS explicit gendering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Implication: Gender encoding is more complex than simple on/off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SAE Quality Across Models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8595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Cosine Sim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Explained Var.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L0 (Active)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Dead %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0.9999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99.8%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7,992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51.2%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0.9965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71.6%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0.9956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344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98.6%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Robustness to SAE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SAE quality varies SUBSTANTIALLY across models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PaLiGemma: Excellent (99.8% explained variance)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Qwen2-VL: Good (66.4% explained variance)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Llama: Poor (36.6% explained variance, 98.6% dead features)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KEY FINDING: Intervention works even with low-quality SAEs!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Llama achieves 6.0x effect ratio despite poor SAE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Suggests approach is CONSERVATIVE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Better SAEs would likely yield LARGER effects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Justification: This is a strength - results are robust to SAE training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82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C8DCFF"/>
                </a:solidFill>
              </a:defRPr>
            </a:pPr>
            <a:r>
              <a:t>Section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Cross-Lingual Analysis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Cross-Lingual 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Do English and Arabic share gender bias features?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If YES: Debiasing in English would automatically help Arabic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If NO: Language-specific interventions are required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Our approach: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Compute Jaccard overlap of top-100 gender features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Causal 2x2 ablation: Feature language x Caption language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Languages differ fundamentally: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English: Grammatical gender is minimal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Arabic: Extensive grammatical gender marking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Cross-Lingual Feature Overlap (Jaccard Index)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8595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Overlap (k=100)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Jaccard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Interpretation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PaLiGemma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57/100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Substantial overlap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Qwen2-VL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0/100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Zero overlap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2/100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Near-zero overlap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Llama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1/100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0.005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Near-zero overlap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" y="274320"/>
            <a:ext cx="914400" cy="9144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B82F6"/>
                </a:solidFill>
              </a:defRPr>
            </a:pPr>
            <a:r>
              <a:t>Key Finding #3</a:t>
            </a:r>
          </a:p>
          <a:p>
            <a:pPr>
              <a:defRPr sz="2800" b="1">
                <a:solidFill>
                  <a:srgbClr val="1F2937"/>
                </a:solidFill>
              </a:defRPr>
            </a:pPr>
            <a:r>
              <a:t>Language-Specific Gender Encoding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8595360" cy="1828800"/>
          </a:xfrm>
          <a:prstGeom prst="roundRect">
            <a:avLst/>
          </a:prstGeom>
          <a:solidFill>
            <a:srgbClr val="EFF6FF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F2937"/>
                </a:solidFill>
              </a:defRPr>
            </a:pPr>
            <a:r>
              <a:t>Cross-lingual feature overlap is NEAR-ZERO (Jaccard &lt; 3%) for most models. Causal 2x2 ablation confirms: ablating English features has NO effect on Arabic captions when overlap is zero, but DOES transfer when overlap is high.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840480"/>
            <a:ext cx="8595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Evidence: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Qwen2-VL: 0% overlap -&gt; NO cross-lingual transfer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PaLiGemma: 57% overlap -&gt; Transfer DOES occur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Feature overlap PREDICTS transferability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Implication: Debiasing in English does NOT transfer to Arabic</a:t>
            </a:r>
          </a:p>
          <a:p>
            <a:pPr>
              <a:spcAft>
                <a:spcPts val="600"/>
              </a:spcAft>
              <a:defRPr sz="1600">
                <a:solidFill>
                  <a:srgbClr val="1F2937"/>
                </a:solidFill>
              </a:defRPr>
            </a:pPr>
            <a:r>
              <a:t>  Multilingual fairness requires language-specific interventions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Cross-Lingual Causal Ablation (Qwen2-VL)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8595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Condition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Features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Caption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Delta%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Significant?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EN-&gt;EN (within)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English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English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EN-&gt;AR (cross)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English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Arabic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AR-&gt;EN (cross)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Arabic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English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AR-&gt;AR (within)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Arabic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Arabic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Cross-Lingual Causal Confirmation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Qwen2-VL (0% feature overlap, Jaccard = 0.000):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Only EN-&gt;EN is significant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NO cross-lingual transfer in either direction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CAUSAL confirmation of language-specific encoding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PaLiGemma (57% feature overlap, Jaccard = 0.399):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AR-&gt;EN IS significant (transfers!)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High overlap predicts cross-lingual transfer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Conclusion: Feature overlap PREDICTS transferability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Zero overlap -&gt; No transfer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High overlap -&gt; Transfer occurs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82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C8DCFF"/>
                </a:solidFill>
              </a:defRPr>
            </a:pPr>
            <a:r>
              <a:t>Section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Implications &amp; Discussion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Practical Implications for Bias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CRITICAL: Same intervention has OPPOSITE effects across architectures!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Naive debiasing (ablate top-differential features):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REDUCES bias in PaLiGemma (checkmark)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INCREASES bias in Qwen/Llama (warning)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Architecture-specific analysis is ESSENTIAL before deployment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Language-specific interventions needed for multilingual fairness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Cannot assume cross-lingual transfer without measuring overlap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SAE-based analysis should precede any mechanistic intervention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Hypothesis: Why Direction Divergence?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Captioning models (PaLiGemma):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Trained to describe images directly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Learn features that PRODUCE gendered descriptions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Gender features are excitatory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Instruction-tuned models (Qwen, Llama):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Trained with RLHF/alignment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Learn features that REGULATE/SUPPRESS gender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May have developed 'safety circuits'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Gender features are inhibitory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Supporting evidence: Both instruction-tuned models show same direction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Alternative: Could partially reflect different hook methods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SAE training scale: 5K-10K samples (larger sets may help)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SAE architecture: Vanilla ReLU only (TopK/JumpReLU not tested)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Binary gender: Non-binary terms tracked but not primary metric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Hook inconsistency: Different methods for different models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No human evaluation: Caption fluency not assessed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Feature polysemanticity: Features may encode multiple concepts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Llama SAE quality: Only 36.6% explained variance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No SAEBench evaluation: Standardized metrics not reported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Train larger-scale SAEs (100K+ samples)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Compare SAE architectures (TopK, JumpReLU)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Extend to more languages beyond English/Arabic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Human evaluation of caption quality after ablation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Apply to other bias types (race, age, profession)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Develop architecture-aware debiasing strategies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Investigate instruction tuning's role in creating regulatory features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SAEBench evaluation for standardized comparisons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82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C8DCFF"/>
                </a:solidFill>
              </a:defRPr>
            </a:pPr>
            <a:r>
              <a:t>Section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Conclusions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Summary of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METHODOLOGICAL: First SAE-based mechanistic interpretability of VLM bias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EMPIRICAL: Causal evidence across 3 architectures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0.6% of features produce 1.8-7.1x effects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MECHANISTIC: Discovery of excitatory vs inhibitory encoding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Different architectures use fundamentally different mechanisms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CROSS-LINGUAL: First causal 2x2 ablation on VLM gender features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Feature overlap predicts cross-lingual transferability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PRACTICAL: Architecture &amp; language-specific analysis essential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Same intervention can increase or decrease bias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1. SAEs can identify causal gender features in VLMs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2. Direction of effect depends on architecture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Captioning models: excitatory features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Instruction-tuned: inhibitory features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3. Cross-lingual features are language-specific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Zero overlap -&gt; no transfer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High overlap -&gt; transfer occurs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4. Intervention is robust to SAE quality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5. Bias mitigation requires architecture-specific strategies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C8C8C8"/>
                </a:solidFill>
              </a:defRPr>
            </a:pPr>
            <a:r>
              <a:t>Questions?</a:t>
            </a:r>
            <a:br/>
            <a:br/>
            <a:r>
              <a:t>Code: github.com/nour-mubarak/mechanistic_intrep</a:t>
            </a:r>
            <a:br/>
            <a:r>
              <a:t>nour.mubarak@durham.ac.uk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82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C8DCFF"/>
                </a:solidFill>
              </a:defRPr>
            </a:pPr>
            <a:r>
              <a:t>Section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Supplementary Material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SAE Mathematical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Encoder: h = ReLU(W_enc * x + b_enc)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Maps d_model -&gt; n_features (8x expansion)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ReLU enforces sparsity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Decoder: x_hat = W_dec * h + b_dec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Reconstructs original activations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Loss: L = MSE(x, x_hat) + lambda*||h||_1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Reconstruction fidelity + sparsity penalty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lambda = 10^-4 (PaLiGemma), 5x10^-4 (Qwen)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Feature identification: |mean(h_j^male) - mean(h_j^female)|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Top-k features selected (k=100)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Ablation Hook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FULL RECONSTRUCTION (PaLiGemma):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x_mod = W_dec * (h element-wise m) + b_dec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m is binary mask (0 for ablated features)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Replaces activations with SAE output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Works when SAE has high reconstruction quality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RESIDUAL ABLATION (Qwen, Llama):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x_mod = x - Sum_{j in A} h_j * W_dec^(:,j)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A is set of ablated feature indices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Subtracts only targeted feature contribution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Preserves original activations otherwise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Needed when SAE trained on pooled but applied to per-token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Statistical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Primary metric: Total gender terms across 500 captions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Percentage change from baseline reported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PAIRED ANALYSIS: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Per-image: Delta_i = count(ablated_i) - count(baseline_i)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Bootstrap 95% CI (10,000 resamples)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Wilcoxon signed-rank test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EFFECT SPECIFICITY: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Specificity = |targeted%| - |random%|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Ratio = |targeted| / |random|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Values &gt; 1 indicate targeted effect exceeds random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Significance: CI excluding zero confirms effect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Why LLaVA Was Not Used for Intervention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LLaVA-1.5-7B trained but excluded from intervention experiments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Reason: 95% dead SAE features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Most features never activate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Insufficient active features for meaningful ablation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Secondary reason: Architectural similarity to Qwen2-VL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Both are instruction-tuned 7B models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Would likely show same direction (inhibitory)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Qwen provides sufficient evidence for this class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LLaVA results included in cross-lingual feature overlap analysis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Confirms near-zero overlap pattern (Jaccard = 0.010)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Arabic Per-Term Changes (AR-&gt;AR Ablation)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8595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Term (Transliteration)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PaLiGemma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Qwen2-VL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rajul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-57.4%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imra'a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woman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-24.2%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huwa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hiya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she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-27.3%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father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+12.0%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umm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mother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-9.5%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+20.6%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akh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brother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937"/>
                          </a:solidFill>
                        </a:defRPr>
                      </a:pPr>
                      <a:r>
                        <a:t>+32.4%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GENDER BIAS IN VLMs: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Hendricks et al. 2018: Activity vs appearance bias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Zhao et al. 2017: Data augmentation for debiasing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Hirota et al. 2022: Bias quantification metrics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MECHANISTIC INTERPRETABILITY: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Cunningham et al. 2023: SAEs on GPT-2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Bricken et al. 2023: Monosemanticity at scale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Templeton et al. 2024: 34M features on Claude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SAE ARCHITECTURES: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Gao et al. 2024: TopK SAEs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Rajamanoharan et al. 2024: JumpReLU SAEs</a:t>
            </a:r>
          </a:p>
          <a:p>
            <a:pPr>
              <a:spcAft>
                <a:spcPts val="1200"/>
              </a:spcAft>
              <a:defRPr sz="2000">
                <a:solidFill>
                  <a:srgbClr val="1F2937"/>
                </a:solidFill>
              </a:defRPr>
            </a:pPr>
            <a:r>
              <a:t>•    -&gt; Karvonen et al. 2025: SAEBench evaluation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