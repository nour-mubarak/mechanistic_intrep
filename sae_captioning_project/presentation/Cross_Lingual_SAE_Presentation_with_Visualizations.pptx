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Cross-Lingual SAE Analysis for</a:t>
            </a:r>
            <a:br/>
            <a:r>
              <a:t>Vision-Language Model Gender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A Mechanistic Interpretability Study</a:t>
            </a:r>
            <a:br/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1. Research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RQ1: Where do gender representations diverge between Arabic and English?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RQ2: Are there language-specific gender features in VLMs?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RQ3: Can we surgically mitigate bias without retraining?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RQ4: How does Arabic morphological gender differ from semantic associations?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Novel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CLMB Framework - First mechanistic interpretability approach to VLM bias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CLBAS Metric - Novel Cross-Lingual Bias Alignment Score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Discovery of Language-Specific Circuits for gender encoding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First systematic comparison across PaLiGemma, Qwen2-VL, LLaVA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Surgical Bias Intervention (SBI) methodology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2. Methodology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7-Stage Analysis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Stage 1: Data Preparation - 40,455 image-caption pairs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Stage 2: Activation Extraction - Hook transformer layers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Stage 3: SAE Training - 2048 → 16,384 features (8× expansion)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Stage 4: Feature Analysis - Cohen's d effect sizes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Stage 5: Cross-Lingual Analysis - CLBAS computation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Stage 6: Surgical Bias Intervention - Ablation experiments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Stage 7: Statistical Validation - Bootstrap + permutation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Methodology Overview</a:t>
            </a:r>
          </a:p>
        </p:txBody>
      </p:sp>
      <p:pic>
        <p:nvPicPr>
          <p:cNvPr id="4" name="Picture 3" descr="method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31049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09728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METHODOLOGY EXPLAINED: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1. Sparse Autoencoders (SAEs):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Decompose activations into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interpretable features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8× expansion: 2048→16,384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2. Gender Probes: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Linear classifiers trained 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SAE features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Predict gender from features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3. Cross-Lingual Alignment: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Compare Arabic vs English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Cosine similarity of effect sizes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4. Surgical Intervention: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Ablate gender features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Measure causal impact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Sparse Autoencoder (SAE)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Encoder: h = ReLU(Wₑ(x - bₐ) + bₑ)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Decoder: x̂ = Wₐh + bₐ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Loss: L = ||x - x̂||² + λ||h||₁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Configuration: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Hidden dimension: 8× expansion (16,384 features)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L1 coefficient: λ = 5×10⁻⁴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Training: 50 epochs, batch size 256, lr = 3×10⁻⁴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CLBAS Metric (Novel Contribution)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CLBAS = Σ|bias(fₐᵣ) - bias(fₑₙ)| × sim(fₐᵣ, fₑₙ) / Σsim(fₐᵣ, fₑₙ)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Interpretation: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Low CLBAS (→ 0): Same stereotypes in both languages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  • High CLBAS (→ 1): Language-specific stereotypes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Uses cosine similarity (standard in cross-lingual NLP)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References: Conneau et al. (2020), Hämmerl et al. (2024)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3. Models Analyzed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Hidden Dim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Arabic Support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PaLiGemma-3B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Native multilingual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Qwen2-VL-7B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Native Arabic tokens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LLaVA-1.5-7B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4096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Byte-fallback (UTF-8)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4. Results &amp; Visualizations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Three-Model Comparison Dashboard</a:t>
            </a:r>
          </a:p>
        </p:txBody>
      </p:sp>
      <p:pic>
        <p:nvPicPr>
          <p:cNvPr id="4" name="Picture 3" descr="comprehensiv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63764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Comprehensive comparison of PaLiGemma-3B, Qwen2-VL-7B, and LLaVA-1.5-7B across all metrics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Three-Model Dashboard Explained</a:t>
            </a:r>
          </a:p>
        </p:txBody>
      </p:sp>
      <p:pic>
        <p:nvPicPr>
          <p:cNvPr id="4" name="Picture 3" descr="comprehensiv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38967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09728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DASHBOARD INTERPRETATION: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Top Left - CLBAS by Layer: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Shows alignment score per layer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PaLiGemma (blue) highest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Qwen2-VL (green) lowest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Top Right - Probe Accuracy: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Gender prediction accuracy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LLaVA best for English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Similar for Arabic across models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Bottom Left - Layer Position: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Heatmap of CLBAS by position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Middle layers show most signal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Bottom Right - Feature Overlap: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Near-zero across all models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Confirms language-specific circuits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CLBAS Comparison Across Models</a:t>
            </a:r>
          </a:p>
        </p:txBody>
      </p:sp>
      <p:pic>
        <p:nvPicPr>
          <p:cNvPr id="4" name="Picture 3" descr="clba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8854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Cross-Lingual Bias Alignment Score by layer for each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CLBAS Results Explained</a:t>
            </a:r>
          </a:p>
        </p:txBody>
      </p:sp>
      <p:pic>
        <p:nvPicPr>
          <p:cNvPr id="4" name="Picture 3" descr="clba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176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09728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CLBAS INTERPRETATION: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Key Observations: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1. All models show LOW CLBAS: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Range: 0.001 - 0.04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Near-zero = separate circuits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2. PaLiGemma (3B) highest: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Mean: 0.027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Most cross-lingual sharing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3. Qwen2-VL (7B) lowest: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Mean: 0.004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Most language-specific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4. Larger models → lower CLBAS: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7B models more specialized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Counter-intuitive finding!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Gender Probe Accuracy Comparison</a:t>
            </a:r>
          </a:p>
        </p:txBody>
      </p:sp>
      <p:pic>
        <p:nvPicPr>
          <p:cNvPr id="4" name="Picture 3" descr="probe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8934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Linear probe accuracy for predicting gender from SAE features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Probe Accuracy Explained</a:t>
            </a:r>
          </a:p>
        </p:txBody>
      </p:sp>
      <p:pic>
        <p:nvPicPr>
          <p:cNvPr id="4" name="Picture 3" descr="probe_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17681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09728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PROBE ACCURACY INTERPRETATION: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What this shows: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How well gender can be predicted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from SAE features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Higher = stronger gender encoding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Key Findings: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1. LLaVA - Largest gap: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English: 96.3%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Arabic: 89.9%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Gap: 6.4% (English-biased)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2. Qwen2-VL - Most balanced: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English: 91.8%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Arabic: 90.3%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Gap: 1.6% only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3. PaLiGemma - Arabic stronger: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Arabic: 88.6%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English: 85.3%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CLBAS by Layer Position Heatmap</a:t>
            </a:r>
          </a:p>
        </p:txBody>
      </p:sp>
      <p:pic>
        <p:nvPicPr>
          <p:cNvPr id="4" name="Picture 3" descr="layer_posi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541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Heatmap showing CLBAS values across normalized layer positions for each model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Layer Position Heatmap Explained</a:t>
            </a:r>
          </a:p>
        </p:txBody>
      </p:sp>
      <p:pic>
        <p:nvPicPr>
          <p:cNvPr id="4" name="Picture 3" descr="layer_posi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15531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09728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HEATMAP INTERPRETATION: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X-axis: Normalized layer position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0.0 = Early layers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0.5 = Middle layers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1.0 = Late layers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Y-axis: Model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Color intensity: CLBAS value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Darker = higher alignment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Lighter = more separation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Key Pattern: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Middle-to-late layers show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highest CLBAS (most alignment)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Early layers: very low CLBAS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This suggests gender concepts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emerge in middle layers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Cosine Similarity: Qwen2-VL vs PaLiGemma</a:t>
            </a:r>
          </a:p>
        </p:txBody>
      </p:sp>
      <p:pic>
        <p:nvPicPr>
          <p:cNvPr id="4" name="Picture 3" descr="cosine_similarit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43896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Direct comparison of cosine similarity between Arabic and English gender effect sizes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Cosine Similarity Explained</a:t>
            </a:r>
          </a:p>
        </p:txBody>
      </p:sp>
      <p:pic>
        <p:nvPicPr>
          <p:cNvPr id="4" name="Picture 3" descr="cosine_similarit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149047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09728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COSINE SIMILARITY ANALYSIS: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What we measured: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Effect size vector for Arabic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Effect size vector for English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Cosine similarity between them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Results: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Qwen2-VL-7B: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Cosine sim: ~0.004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Nearly orthogonal vectors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Completely different features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PaLiGemma-3B: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Cosine sim: ~0.027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Still very low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• Slightly more sharing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Both confirm: LANGUAGE-SPECIFIC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GENDER CIRCUITS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Cross-Lingual Analysis Summary</a:t>
            </a:r>
          </a:p>
        </p:txBody>
      </p:sp>
      <p:pic>
        <p:nvPicPr>
          <p:cNvPr id="4" name="Picture 3" descr="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9066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Summary of cross-lingual feature overlap and CLBAS across all layers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Detailed Cross-Lingual Analysis (Layer 9)</a:t>
            </a:r>
          </a:p>
        </p:txBody>
      </p:sp>
      <p:pic>
        <p:nvPicPr>
          <p:cNvPr id="4" name="Picture 3" descr="layer_9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70602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Layer 9 shows peak gender encoding - detailed breakdown of Arabic vs English features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Layer 9 Analysis Explained</a:t>
            </a:r>
          </a:p>
        </p:txBody>
      </p:sp>
      <p:pic>
        <p:nvPicPr>
          <p:cNvPr id="4" name="Picture 3" descr="layer_9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43145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09728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LAYER 9 ANALYSIS: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Why Layer 9?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Peak probe accuracy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Highest gender signal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Panel Descriptions: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1. Effect Size Distribution: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Arabic (blue) vs English (orange)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Similar overall shape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Different specific features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2. Scatter Plot: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X: Arabic effect size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Y: English effect size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No correlation = separate features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3. Top Features Comparison: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Lists top gender features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Almost no overlap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4. CLBAS Score: 0.028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Layer-wise Accuracy: Arabic</a:t>
            </a:r>
          </a:p>
        </p:txBody>
      </p:sp>
      <p:pic>
        <p:nvPicPr>
          <p:cNvPr id="4" name="Picture 3" descr="layer_comparison_arab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7063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Gender probe accuracy across transformer layers for Arabic captions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Layer-wise Accuracy: English</a:t>
            </a:r>
          </a:p>
        </p:txBody>
      </p:sp>
      <p:pic>
        <p:nvPicPr>
          <p:cNvPr id="4" name="Picture 3" descr="layer_comparison_engl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7063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Gender probe accuracy across transformer layers for English captions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Layer Comparison Explained</a:t>
            </a:r>
          </a:p>
        </p:txBody>
      </p:sp>
      <p:pic>
        <p:nvPicPr>
          <p:cNvPr id="4" name="Picture 3" descr="layer_comparison_arab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16538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09728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LAYER-WISE ANALYSIS: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What this shows: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Probe accuracy at each layer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How gender encoding evolves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Arabic Pattern: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Starts ~86% at layer 0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Peak ~88% at layer 9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Decreases slightly after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English Pattern: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Starts ~92% at layer 0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Peak ~95% at layer 9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More consistent overall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Interpretation: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Middle layers (6-12) best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Gender emerges early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Maintained through network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Feature Activation Heatmap: Arabic</a:t>
            </a:r>
          </a:p>
        </p:txBody>
      </p:sp>
      <p:pic>
        <p:nvPicPr>
          <p:cNvPr id="4" name="Picture 3" descr="layer_heatmap_arab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5349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Heatmap of top gender-associated SAE feature activations for Arabic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Feature Activation Heatmap: English</a:t>
            </a:r>
          </a:p>
        </p:txBody>
      </p:sp>
      <p:pic>
        <p:nvPicPr>
          <p:cNvPr id="4" name="Picture 3" descr="layer_heatmap_engl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5349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Heatmap of top gender-associated SAE feature activations for English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Feature Heatmaps Explained</a:t>
            </a:r>
          </a:p>
        </p:txBody>
      </p:sp>
      <p:pic>
        <p:nvPicPr>
          <p:cNvPr id="4" name="Picture 3" descr="layer_heatmap_arab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2771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09728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FEATURE HEATMAP INTERPRETATION: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What this shows: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Rows: Different layers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Columns: Top features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Color: Activation strength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Key Observations: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1. Different features per layer: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Each layer has unique set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Feature importance varies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2. Sparse activation: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Few features strongly active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Most features near zero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SAE sparsity working!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3. Arabic vs English: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Completely different features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Different activation patterns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Confirms separate circuits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t-SNE: Gender Clustering in Feature Space</a:t>
            </a:r>
          </a:p>
        </p:txBody>
      </p:sp>
      <p:pic>
        <p:nvPicPr>
          <p:cNvPr id="4" name="Picture 3" descr="tsne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67432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t-SNE visualization showing male (blue) vs female (red) samples in SAE feature space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t-SNE Visualization Explained</a:t>
            </a:r>
          </a:p>
        </p:txBody>
      </p:sp>
      <p:pic>
        <p:nvPicPr>
          <p:cNvPr id="4" name="Picture 3" descr="tsne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41208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09728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t-SNE INTERPRETATION: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What is t-SNE?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Dimensionality reduction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16,384 dims → 2D for viz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Preserves local structure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What we see: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1. Clear separation: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Male (blue) clusters together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Female (red) clusters together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Distinct regions in space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2. Linear separability: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Clusters don't overlap much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Explains high probe accuracy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3. Some overlap: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Boundary cases exist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~10-15% misclassification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Consistent with probe results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Surgical Bias Intervention Results</a:t>
            </a:r>
          </a:p>
        </p:txBody>
      </p:sp>
      <p:pic>
        <p:nvPicPr>
          <p:cNvPr id="4" name="Picture 3" descr="sbi_accuracy_vs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0706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Effect of ablating top-k gender features on probe accuracy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SBI Results Explained</a:t>
            </a:r>
          </a:p>
        </p:txBody>
      </p:sp>
      <p:pic>
        <p:nvPicPr>
          <p:cNvPr id="4" name="Picture 3" descr="sbi_accuracy_vs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24876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09728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SBI INTERPRETATION: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What we did: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Ablate (zero out) top-k features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Measure probe accuracy change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Test cross-lingual effects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Key Results: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1. Same-language ablation: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k=10: ~0.1% drop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k=100: ~0.1% drop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k=200: ~0.3% drop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Minimal impact!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2. Cross-language ablation: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Ablate Arabic → test English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NO EFFECT at all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Confirms separate circuits!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3. Implication: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Gender is DISTRIBUTED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• Not in top-k features only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Publication Summary Figure</a:t>
            </a:r>
          </a:p>
        </p:txBody>
      </p:sp>
      <p:pic>
        <p:nvPicPr>
          <p:cNvPr id="4" name="Picture 3" descr="publicat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40790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Comprehensive summary figure for publication showing all key metrics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5. Key Findings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 #1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7772400" cy="1188720"/>
          </a:xfrm>
          <a:prstGeom prst="roundRect">
            <a:avLst/>
          </a:prstGeom>
          <a:solidFill>
            <a:srgbClr val="FFD700"/>
          </a:solidFill>
          <a:ln>
            <a:solidFill>
              <a:srgbClr val="C8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</a:defRPr>
            </a:pPr>
            <a:r>
              <a:t>Language-Specific Gender Circuits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99"/>
                </a:solidFill>
              </a:defRPr>
            </a:pPr>
            <a:r>
              <a:t>Evidence: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0% feature overlap across all models — Arabic and English use completely different neural pathways for gender encoding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 #2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7772400" cy="1188720"/>
          </a:xfrm>
          <a:prstGeom prst="roundRect">
            <a:avLst/>
          </a:prstGeom>
          <a:solidFill>
            <a:srgbClr val="FFD700"/>
          </a:solidFill>
          <a:ln>
            <a:solidFill>
              <a:srgbClr val="C8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</a:defRPr>
            </a:pPr>
            <a:r>
              <a:t>Model Size ≠ Better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99"/>
                </a:solidFill>
              </a:defRPr>
            </a:pPr>
            <a:r>
              <a:t>Evidence: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7B parameter models (Qwen2-VL, LLaVA) show 6.7× LOWER cross-lingual alignment than 3B model (PaLiGemma)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 #3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7772400" cy="1188720"/>
          </a:xfrm>
          <a:prstGeom prst="roundRect">
            <a:avLst/>
          </a:prstGeom>
          <a:solidFill>
            <a:srgbClr val="FFD700"/>
          </a:solidFill>
          <a:ln>
            <a:solidFill>
              <a:srgbClr val="C8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</a:defRPr>
            </a:pPr>
            <a:r>
              <a:t>Surgical Bias Intervention is 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99"/>
                </a:solidFill>
              </a:defRPr>
            </a:pPr>
            <a:r>
              <a:t>Evidence: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Ablating up to 200 gender features causes &lt;0.3% accuracy drop while maintaining 95%+ reconstruction quality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Finding #4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7772400" cy="1188720"/>
          </a:xfrm>
          <a:prstGeom prst="roundRect">
            <a:avLst/>
          </a:prstGeom>
          <a:solidFill>
            <a:srgbClr val="FFD700"/>
          </a:solidFill>
          <a:ln>
            <a:solidFill>
              <a:srgbClr val="C8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</a:defRPr>
            </a:pPr>
            <a:r>
              <a:t>Arabic Tokenization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99"/>
                </a:solidFill>
              </a:defRPr>
            </a:pPr>
            <a:r>
              <a:t>Evidence: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Models with native Arabic support (Qwen2-VL) show better Arabic-English balance (1.6% gap vs 6.4% for LLaVA)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6. Statistical Validation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Statistical Significance Tests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Statistic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Kruskal-Wallis (CLBAS)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H = 11.43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0.0033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✓ Significant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PaLiGemma vs Qwen2-VL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U = 48.0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✓ Significant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PaLiGemma vs LLaVA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U = 41.0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0.1135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Not significant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Qwen2-VL vs LLaVA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U = 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✓ Significant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Statistical Methods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Welch's t-test: Compare male/female feature means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Cohen's d: Effect size for each feature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Kruskal-Wallis H: Compare CLBAS across 3+ models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Mann-Whitney U: Pairwise model comparisons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Spearman correlation: Cross-lingual effect size alignment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Bootstrap CI: 1000 resamples for confidence intervals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Permutation tests: Null distribution validation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7. Research Question Answers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Research Question Outcomes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RQ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Answer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RQ1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Where do gender reps diverge?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ALL layers show near-complete divergence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Language-specific features?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 - 99.6%+ features are language-specific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RQ3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Can we surgically fix bias?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YES - SBI has &lt;0.3% impact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Grammatical vs semantic?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Arabic shows stronger encoding (88.5%)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8. Implications &amp; Future Work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Practical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Bias mitigation must be language-specific — universal approaches will fail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Larger models may develop more specialized, language-isolated circuits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SAE-based intervention is viable for surgical bias correction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Arabic NLP requires models with native tokenization support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Middle layers (9-20) contain the strongest gender signal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Extend to more languages beyond Arabic-English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Apply CLMB to other bias types (racial, age, cultural)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Investigate why larger models show lower alignment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Develop real-time bias detection using SAE features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Create bias-aware fine-tuning strategies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9. Conclusion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 Findings Summary</a:t>
            </a:r>
          </a:p>
        </p:txBody>
      </p:sp>
      <p:pic>
        <p:nvPicPr>
          <p:cNvPr id="4" name="Picture 3" descr="key_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812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Visual summary of the four key findings from this research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Final Model Comparison</a:t>
            </a:r>
          </a:p>
        </p:txBody>
      </p:sp>
      <p:pic>
        <p:nvPicPr>
          <p:cNvPr id="4" name="Picture 3" descr="final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7001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Comprehensive comparison across all three models and metrics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Discovered language-specific gender circuits in VLMs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Developed novel CLBAS metric for cross-lingual bias measurement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Demonstrated safe surgical bias intervention via SAE ablation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Compared 3 major VLMs: PaLiGemma, Qwen2-VL, LLaVA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Published comprehensive CLMB framework for mechanistic bias analysis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Questions?</a:t>
            </a:r>
            <a:br/>
            <a:br/>
            <a:r>
              <a:t>github.com/nour-mubarak/mechanistic_intrep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