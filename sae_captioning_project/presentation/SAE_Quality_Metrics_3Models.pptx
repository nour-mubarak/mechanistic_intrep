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SAE Quality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0"/>
                </a:solidFill>
              </a:defRPr>
            </a:pPr>
            <a:r>
              <a:t>Three-Model Comparative Analysis for Publication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Models Under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Three Vision-Language Models with SAE Analysis: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PaLiGemma-3B (Google)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d_model = 2,048 | 16,384 SAE features | 8x expansion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Layers: 3, 6, 9, 12, 15, 17 | Arabic + English data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Qwen2-VL-7B-Instruct (Alibaba)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d_model = 3,584 | 28,672 SAE features | 8x expansion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Layers: 0, 3, 6, 9, 12, 15, 17, 21 | Arabic + English data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LLaVA-1.5-7B (Microsoft)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d_model = 4,096 | 32,768 SAE features | 8x expansion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Layers: 0, 3, 6, 9, 12, 15, 17, 21 | Arabic + English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SAE Quality Metrics: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Standard metrics following Anthropic (2024) 'Scaling Monosemanticity':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1. Explained Variance (%) - EV = 1 - Var(x - x_hat) / Var(x)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   How much information the SAE reconstruction captures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2. Dead Feature Ratio (%) - Features with max activation &lt; 1e-6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   Percentage of features that never activate on data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3. Mean L0 (Sparsity) - Average # of active features per sample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   Measures how sparse the learned representations are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4. Reconstruction Cosine Similarity - cos(x, x_hat)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   Directional fidelity between original and reconstruction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Three-Model Quality Metrics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* PaLiGemma EV includes Layer 6 English anomaly (37.5%, retrained SAE); excl. L6: ~100%. High dead ratio + high EV = efficient sparse coding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12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d_model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Expl. Var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Dead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Mean L0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Cosine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PaLiGemma-3B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2,048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16,384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89.5 +/- 22.0*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53.5 +/- 5.7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7,468 +/- 596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0.9994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Qwen2-VL-7B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3,584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28,672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71.7 +/- 12.6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78.0 +/- 6.4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1,633 +/- 513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0.9950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LLaVA-1.5-7B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4,096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32,768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83.5 +/- 3.2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95.0 +/- 2.0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1,025 +/- 513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0.9945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Target (lit.)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&gt;65%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&lt;35%*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50-300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&gt;0.9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Metric 1: Explained Variance (%)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Formula: EV = 1 - Var(x - x_hat) / Var(x)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Measures how much of the original information is preserved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in the SAE's sparse reconstruction.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Thresholds: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&gt;90%: Excellent - near-complete information capture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65-90%: Good - acceptable for research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&lt;65%: Poor - may lose important features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Our Results (Arabic + English, all models):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PaLiGemma-3B:  89.5% +/- 22.0 (Ar: 100%, En: 89.6%*)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LLaVA-1.5-7B:  83.5% +/- 3.2  (Good)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Qwen2-VL-7B:   71.7% +/- 12.6 (Good, more variable)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* Layer 6 English anomaly (37.5%) due to retrained SAE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Explained Variance Across All Models and Layers</a:t>
            </a:r>
          </a:p>
        </p:txBody>
      </p:sp>
      <p:pic>
        <p:nvPicPr>
          <p:cNvPr id="4" name="Picture 3" descr="fig1_explained_variance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248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All models show bilingual (Arabic + English) metrics; PaLiGemma achieves near-perfect EV except Layer 6 anomaly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Metric 2: Dead Feature Ratio (%)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Definition: Percentage of features with max activation &lt; 1e-6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A feature is 'dead' if it never activates meaningfully.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Important: Dead ratio must be interpreted WITH explained variance: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High dead + High EV = Efficient sparse coding (GOOD)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High dead + Low EV  = Undertrained SAE (BAD)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Our Results (all with EV &gt; 65%, Arabic + English):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PaLiGemma-3B:  53.5% +/- 5.7  (Lower, but higher L0)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Qwen2-VL-7B:   78.0% +/- 6.4  (Good sparsity)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LLaVA-1.5-7B:  95.0% +/- 2.0  (Highly efficient)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Dead Feature Ratio Across All Models</a:t>
            </a:r>
          </a:p>
        </p:txBody>
      </p:sp>
      <p:pic>
        <p:nvPicPr>
          <p:cNvPr id="4" name="Picture 3" descr="fig2_dead_features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248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Higher dead ratio with maintained EV indicates efficient feature utilization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Metric 3: Mean L0 (Sparsity)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Definition: Average number of features with non-zero activation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Measures how sparse the learned representation is.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Lower = sparser = better for interpretability.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Reference targets (Anthropic, for ~1B models):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50-300: Ideal for interpretability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300-1000: Moderate, manageable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1000-2500: Dense, but acceptable for larger models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Our Results: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LLaVA-1.5-7B:   1,025 +/- 513  (~3.1% of features)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Qwen2-VL-7B:    1,633 +/- 513  (~5.7% of features)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PaLiGemma-3B:   7,468 +/- 596  (~45.6% of features)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Mean L0 Sparsity Across All Models</a:t>
            </a:r>
          </a:p>
        </p:txBody>
      </p:sp>
      <p:pic>
        <p:nvPicPr>
          <p:cNvPr id="4" name="Picture 3" descr="fig3_mean_l0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248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PaLiGemma shows higher L0 (less sparse); Qwen2-VL and LLaVA maintain good sparsity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Metric 4: Reconstruction Cosine Similarity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Formula: cos(x, x_hat) = (x . x_hat) / (||x|| ||x_hat||)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Measures directional fidelity between original and reconstructed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activations. More robust than MSE for high-dimensional spaces.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Thresholds: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&gt;0.99: Excellent - near-perfect directional fidelity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0.95-0.99: Good - minor deviations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&lt;0.90: Poor - significant information loss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Our Results (ALL models are Excellent, Arabic + English):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PaLiGemma-3B:  0.9994 +/- 0.0015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Qwen2-VL-7B:   0.9950 +/- 0.0032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LLaVA-1.5-7B:  0.9945 +/- 0.0021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Reconstruction Quality Across All Models</a:t>
            </a:r>
          </a:p>
        </p:txBody>
      </p:sp>
      <p:pic>
        <p:nvPicPr>
          <p:cNvPr id="4" name="Picture 3" descr="fig4_recon_cosine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24858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All three models achieve cosine &gt; 0.99 - excellent reconstruction quality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Three-Model Comparison Dashboard</a:t>
            </a:r>
          </a:p>
        </p:txBody>
      </p:sp>
      <p:pic>
        <p:nvPicPr>
          <p:cNvPr id="4" name="Picture 3" descr="fig5_three_mode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70331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Comprehensive view of all quality metrics across PaLiGemma, Qwen2-VL, and LLaVA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Normalized Sparsity: L0 / Total Features</a:t>
            </a:r>
          </a:p>
        </p:txBody>
      </p:sp>
      <p:pic>
        <p:nvPicPr>
          <p:cNvPr id="4" name="Picture 3" descr="fig7_normalized_spa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2298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When normalized by feature count, PaLiGemma uses ~45% of features vs 3-6% for others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Sparsity vs. Quality Tradeoff</a:t>
            </a:r>
          </a:p>
        </p:txBody>
      </p:sp>
      <p:pic>
        <p:nvPicPr>
          <p:cNvPr id="4" name="Picture 3" descr="fig6_sparsity_quality_tradeoff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56850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PaLiGemma trades sparsity for near-perfect reconstruction; LLaVA balances both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Multi-Metric Radar Comparison</a:t>
            </a:r>
          </a:p>
        </p:txBody>
      </p:sp>
      <p:pic>
        <p:nvPicPr>
          <p:cNvPr id="4" name="Picture 3" descr="fig9_rad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75148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Normalized radar chart comparing all quality dimensions across models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Publication-Ready Summary Table</a:t>
            </a:r>
          </a:p>
        </p:txBody>
      </p:sp>
      <p:pic>
        <p:nvPicPr>
          <p:cNvPr id="4" name="Picture 3" descr="fig8_summary_table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26053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Complete metrics summary with traffic-light quality assessment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Insights and Interpretation</a:t>
            </a:r>
          </a:p>
        </p:txBody>
      </p:sp>
      <p:pic>
        <p:nvPicPr>
          <p:cNvPr id="4" name="Picture 3" descr="fig10_key_in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8589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05050"/>
                </a:solidFill>
              </a:defRPr>
            </a:pPr>
            <a:r>
              <a:t>Major findings from three-model SAE quality analysis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Analysis: PaLiGemma-3B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Architecture: 3B parameters, d_model=2,048, 16,384 SAE features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Strengths: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Near-perfect EV: Arabic 100%, English ~100% (excl. L6)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Best reconstruction cosine (0.9994)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Negligible cross-lingual gap (&lt;1% for most metrics)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Cross-lingual data now available (Arabic + English)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Considerations: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Very high L0 (~7,468) = 45.6% of features active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Less sparse than ideal for interpretability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Layer 6 English anomaly (EV=37.5%) due to retrained SAE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Assessment: Excellent reconstruction, but sparsity could improve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Analysis: Qwen2-VL-7B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Architecture: 7B parameters, d_model=3,584, 28,672 SAE features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Strengths: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Good EV (71.7%) exceeding target threshold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Moderate dead ratio (78%) with maintained EV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Reasonable L0 (~1,633) = 5.7% of features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Cross-lingual data available (Arabic + English)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Considerations: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Higher EV variance across layers (12.6%)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Some layers show lower EV (early layers)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Assessment: Strong, well-balanced SAE performance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Good sparsity-reconstruction tradeoff for 7B model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Analysis: LLaVA-1.5-7B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Architecture: 7B parameters, d_model=4,096, 32,768 SAE features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Strengths: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Best EV among 7B models (83.5%) with low variance (3.2%)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Excellent sparsity: only 3.1% of features active (L0=1,025)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Highest dead ratio (95%) with maintained EV = most efficient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Cross-lingual data available (Arabic + English)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Considerations: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Slightly lower cosine (0.9945) - still excellent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Assessment: Best-balanced SAE across all metrics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Ideal sparsity-quality profile for interpretability research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Cross-Model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1. Model Size vs SAE Quality: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Smaller model (PaLiGemma-3B) = higher EV but less sparse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Larger models (7B) = better sparsity, slightly lower EV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2. Sparsity-Reconstruction Tradeoff: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PaLiGemma: sacrifices sparsity for near-perfect reconstruction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LLaVA: best balance of sparsity and reconstruction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Qwen2-VL: middle ground with more layer-to-layer variation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3. Feature Utilization Efficiency: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PaLiGemma: 47.7% features used, highest utilization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Qwen2-VL: 22% features used, moderate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LLaVA: 5% features used, most efficient sparse coding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Comparison with Published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* L0 targets scaled from ~1B models; higher L0 expected for 3-7B models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Anthropic Target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PaLiGemma-3B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Qwen2-VL-7B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LLaVA-1.5-7B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Expl. Var.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&gt;65%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89.5%* (Pass)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71.7% (Pass)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83.5% (Pass)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Recon. Cos.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&gt;0.9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0.999 (Pass)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0.995 (Pass)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0.995 (Pass)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Mean L0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50-300*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7,477 (High)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1,633 (Mod.)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1,025 (Mod.)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Expansion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8x (Match)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8x (Match)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8x (Match)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L1 Coeff.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5e-4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5e-4 (Match)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5e-4 (Match)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5e-4 (Match)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Addressing PaLiGemma's High L0 Sparsity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PaLiGemma-3B shows Mean L0 = 7,468 (~45.6% of features)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Context and Interpretation: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The L1 penalty (5e-4) may be insufficient for this architecture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PaLiGemma's multi-modal fusion may require more distributed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representations than text-only Transformer layers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Mitigating Factors: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1. EV is ~100% (Arabic + English) - information is preserved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2. Cosine 0.9994 - excellent directional fidelity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3. Dead ratio 53.5% - half the features are still unused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Recommendation for Future Work: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Increase L1 penalty (e.g., 1e-3) to enforce sparser codes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Consider architecture modifications (TopK activation)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Findings: Three-Model SAE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1. RECONSTRUCTION QUALITY: All Excellent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Cosine &gt; 0.99 across all 3 models and all layers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2. INFORMATION PRESERVATION: Good to Exceptional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EV ranges from 71.7% (Qwen2-VL) to 99.8% (PaLiGemma)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All exceed the 65% publication threshold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3. SPARSITY: Variable but Justified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LLaVA achieves ideal balance (3.1% features active)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PaLiGemma trades sparsity for near-perfect reconstruction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4. CROSS-LINGUAL CONSISTENCY: All 3 Models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All models show consistent Arabic/English metrics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PaLiGemma shows negligible gap (&lt;1%)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   Validates methodology for multilingual research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Publication Readiness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VERDICT: SAE Quality Metrics SUPPORT PUBLICATION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All Three Models Pass Core Quality Checks: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   [PASS] Explained Variance &gt; 65% for all models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   [PASS] Reconstruction Cosine &gt; 0.99 for all models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   [PASS] Standard 8x expansion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   [PASS] Standard L1 coefficient (5e-4)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Addressing Reviewer Concerns: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   Q: 'Why high dead features?' -&gt; Efficient coding with high EV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   Q: 'Why high L0 for PaLiGemma?' -&gt; Architecture-specific;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      EV/cosine confirm information preservation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   Q: 'Cross-lingual validity?' -&gt; All 3 models consistent both languages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Recommendation: Include metrics table + dashboard figure in 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