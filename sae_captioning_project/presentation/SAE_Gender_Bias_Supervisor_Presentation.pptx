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Sparse Autoencoders Reveal and Control</a:t>
            </a:r>
            <a:br/>
            <a:r>
              <a:t>Gender Bias in Vision-Language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C8D2DC"/>
                </a:solidFill>
              </a:defRPr>
            </a:pPr>
            <a:r>
              <a:t>A Cross-Lingual Mechanistic Interpretability Study</a:t>
            </a:r>
            <a:br/>
            <a:br/>
            <a:r>
              <a:t>Nour Mubarak</a:t>
            </a:r>
            <a:br/>
            <a:r>
              <a:t>Durham University | Supervisor Meeting</a:t>
            </a:r>
            <a:br/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1: Research Context &amp; Motivation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Gender bias in VLMs, limitations of prior work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Why mechanistic interpretability?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2: Methodology &amp; Technical Approach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SAE architecture, training, feature identification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Intervention experiment design with full justifications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3: Experimental Results (3 Models)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PaLiGemma-3B, Qwen2-VL-7B, Llama-3.2-11B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Statistical analysis with 25 random control runs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4: Key Novel Findings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Excitatory vs inhibitory gender encoding mechanisms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Cross-lingual feature analysis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5: Implications,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Research Context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Understanding the problem and why mechanistic interpretability is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Problem: Gender Bias in Vision-Language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VLMs exhibit systematic gender bias in image captioning: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Example: Same activity, different gendered subjects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Man on skateboard → 'a man performing impressive tricks'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Woman on skateboard → 'a person standing on a board'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Models systematically: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Use gendered language more for certain groups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Associate activities/appearances with specific genders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Propagate societal stereotypes from training data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This bias has real-world consequences: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Automated captioning systems, assistive technologies, search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Perpetuates harmful stereotypes at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Prior Work: Gender Bias in VLMs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[Hendricks et al., 2018] - Women Also Snowboard (ECCV)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Documented systematic bias: men described with activities,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women with appearance. Proposed caption-level mitigation.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[Zhao et al., 2017] - Men Also Like Shopping (EMNLP)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Data augmentation to reduce bias in visual semantic role labeling.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Output-level intervention; does not explain mechanisms.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[Hirota et al., 2022] - Gender and Racial Bias in VLMs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Developed quantification metrics for VLM bias.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Measurement only; no intervention or explanation.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We explain HOW bias is encoded internally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Causal intervention on identified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Mechanistic Interpretability?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2626"/>
                </a:solidFill>
              </a:defRPr>
            </a:pPr>
            <a:r>
              <a:t>Prior Approaches (Black Box)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Measure bias at output level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Data augmentation for debiasing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Constrained decoding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Post-processing filters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Cannot explain WHY bias occurs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No insight into internal mechanisms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Interventions may have unintended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6A34A"/>
                </a:solidFill>
              </a:defRPr>
            </a:pPr>
            <a:r>
              <a:t>Our Approach (Mechanistic)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Open the black box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Identify specific bias-encoding features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Test causal hypotheses via ablation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Understand internal representations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Enable surgical, targeted interventions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Predict effects across architectures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Inform principled debiasing strategies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Prior Work: Sparse Autoencoders for 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[Cunningham et al., 2023] - SAEs for GPT-2 (ICLR)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First demonstration that SAEs decompose activations into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interpretable, monosemantic features in text LLMs.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[Bricken et al., 2023] - Monosemanticity at Scale (Anthropic)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Scaled SAEs to larger models; showed individual features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correspond to semantically meaningful concepts.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[Templeton et al., 2024] - 34M Features on Claude (Anthropic)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Massive SAE with 34M features; identified safety-relevant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concepts (bias, deception, manipulation).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All prior SAE work is on TEXT-ONLY language models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FIRST application of SAEs to multimodal VLMs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Focus on gender bias features specifically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RQ1: Can SAEs identify interpretable gender features in VLMs?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 sparse autoencoders decompose VLM activations into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that correspond to gender-related concepts?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RQ2: Do identified features have CAUSAL influence on output?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Does ablating gender features actually change gendered language?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Is the effect specific (vs random feature ablation)?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RQ3: How does gender encoding differ across architectures?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 different model types encode gender the same way?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RQ4: Are gender features shared across languages?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 debiasing in English automatically help Arabic (and vice versa)?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Methodology &amp;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SAE architecture, training procedures, and intervention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Vision-Language Models Studied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Range from 2.9B to 10.6B parameters; both captioning and instruction-tuned architectures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1463039"/>
                <a:gridCol w="1463039"/>
                <a:gridCol w="1463039"/>
                <a:gridCol w="1463039"/>
                <a:gridCol w="1463039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d_model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SAE Features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PaLiGemma-3B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2.9B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2,048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16,384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Captioning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3,584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28,672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LLaVA-1.5-7B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4,096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32,768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Llama-3.2-11B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10.6B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4,096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Layer Selection: Justification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Intervention layers selected at ~50th percentile of model depth: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PaLiGemma-3B: Layer 9 (50%), Layer 17 as negative control</a:t>
            </a: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Qwen2-VL-7B: Layer 12 (43%)</a:t>
            </a: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Llama-3.2-11B: Layer 20 (50%)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Justification from literature: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Cunningham et al. (2023): Mid-layers encode richest semantic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Templeton et al. (2024): Early layers = low-level, late = output formatting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50th percentile balances feature richness vs output proximity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L17 (PaLiGemma) serves as negative control: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Penultimate layer should not carry semantic gender content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If it shows no effect, confirms layer specificity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Dataset: Flickr8K Bilingual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Flickr8K (Hodosh et al., 2013)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8,092 images with bilingual English-Arabic caption pairs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Established benchmark for image captioning research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Gender labels from caption content (keyword matching)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Male samples: 5,562 | Female samples: 2,047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2.7:1 (reflects inherent dataset bias)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Flickr8K is SUFFICIENT for this work: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We analyze INTERNAL ACTIVATIONS, not train new models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8,092 images → up to 10,000 activation samples per model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SAEs reconstruct activation distribution, not generalize to new images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Consistent with Cunningham et al. (2023), Bricken et al.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Gender terms: he, she, him, her, his, hers, man, woman, boy, girl, men, women, boys, girls, male, female (16 total)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Four-Stage Pipeline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Each stage has rigorous methodological justification</a:t>
            </a:r>
          </a:p>
        </p:txBody>
      </p:sp>
      <p:pic>
        <p:nvPicPr>
          <p:cNvPr id="5" name="Picture 4" descr="fig1_pipeline_overview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613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Complete pipeline: Data → Extraction → SAE Training → Feature ID → Causal Intervention → Cross-lingual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Architecture: Mathematical Formulation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19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h = ReLU(W_enc · x + b_enc)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Encoder: Map d_model → n_features (8× expansion). ReLU enforces sparsity.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x̂ = W_dec · h + b_dec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Decoder: Reconstruct original activations from sparse representation.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L = MSE(x, x̂) + λ · ||h||₁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Loss: Reconstruction fidelity + L1 sparsity penalty (λ = 10⁻⁴ for PaLiGemma, 5×10⁻⁴ for Qwen)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Training: Hyperparameters &amp; Justifications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Architecture choices: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Expansion factor: 8× (standard in SAE literature)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Activation: Vanilla ReLU (baseline; TopK/JumpReLU for future work)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Training hyperparameters: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Learning rate: 10⁻⁴ with AdamW optimizer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Batch size: 256 (fits GPU memory, sufficient gradient estimation)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Epochs: 50 with early stopping (patience=10, min_delta=10⁻⁵)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Train/Val split: 90% / 10%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Critical design decision: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Activations are MEAN-POOLED across sequence positions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One [d_model] vector per image-caption pair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Trade-off: Simpler training vs. mismatch with per-token intervention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Activation Extraction: Per-Model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Sample counts vary due to extraction failures; activations from LANGUAGE MODEL DECODER (not visual encoder)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 Samples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PaLiGemma-3B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0,3,6,9,12,15,17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[10K, 2048]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Flickr8K subset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7,609 EN / 6,413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0,4,8,...,27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[7.6K, 3584]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LLaVA-1.5-7B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5,249 EN / 4,449 AR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0,4,8,...,31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[5.2K, 4096]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Llama-3.2-11B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5,249 EN / ~5K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0,5,10,...,39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[5.2K, 4096]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Gender Feature Identification: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Goal: Identify SAE features that distinguish male vs female samples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Method: Differential activation analysis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1. Extract activations for all gender-labeled samples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2. Pass through trained SAE encoder → feature activations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3. Compute mean activation per feature for male vs female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4. Rank by |mean_male - mean_female| (absolute differential)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5. Select top-k features (k = 100)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k = 100?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100 / 16,384 = 0.6% of features → maximally surgical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Original tests (k=200,500,1000): diminishing returns beyond k=200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k=100 provides clean, conservative signal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Intervention Experiment: Three-Phase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500 images, seed=42, deterministic greedy decoding</a:t>
            </a:r>
          </a:p>
        </p:txBody>
      </p:sp>
      <p:pic>
        <p:nvPicPr>
          <p:cNvPr id="5" name="Picture 4" descr="fig_intervention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48851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Phase 1: Baseline → Phase 2: Targeted Ablation (k=100) → Phase 3: Random Control (×25) → Statistical Comparison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Intervention Experiment: Parameters &amp;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Experimental parameters (improved from original):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 images: 500 (up from 100; 5× increase for tighter CIs)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 control runs: 25 (up from 3; stable variance estimation)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Features ablated: k = 100 (0.6% of total)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Controls for confounds: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Length normalization: rate = gender_terms / total_tokens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Paired statistics: Per-image deltas with bootstrap CI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Deterministic generation: greedy decoding, no sampling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seed (42) for image selection across all runs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Statistical tests: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Bootstrap 95% CI (10,000 resamples)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Wilcoxon signed-rank test (non-parametric, paired)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Effect ratio: targeted_change / random_change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vs Random Ablation: Core Causal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Core question: Are SAE gender features CAUSAL or merely correlated?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Targeted-only evidence is insufficient: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Ablating any 100 features might also change output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Treatment vs control design: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TREATMENT = targeted ablation of top-100 gender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CONTROL = random ablation of 100 features (25 runs)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Formal hypotheses: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H0: targeted effect ≈ random effect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H1: targeted effect differs from random (specific mechanism)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Causal claim is supported only if targeted differs significantly from random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Ablation: Step-by-Step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1) Offline feature identification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Compute Δ_j = |mean_male(j) - mean_female(j)| for each feature j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Rank features by Δ_j and select top k=100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2) Baseline generation (no hook)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captions for 500 images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Count gender terms per image and in total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3) Targeted intervention generation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Register forward hook at selected decoder layer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Remove contribution of the selected top-100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captions with modified activations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Compare targeted counts vs baseline counts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Random Ablation (Control): Step-by-Step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 each run r = 1...25: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Randomly sample k=100 feature indices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Apply the same hook structure and generation settings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500 captions and count gender terms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Aggregate across runs: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 mean effect (μ) and standard deviation (σ)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Empirical null distribution for non-specific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Why 25 runs?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Single random run can be lucky/unlucky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25 runs stabilize μ±σ and enable robust comparison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Lets us test whether targeted lies outside random distribution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vs Random: Quantitative Specificity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Bootstrap CI(targeted-random) excludes zero for all models → causal specificity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1463039"/>
                <a:gridCol w="1463039"/>
                <a:gridCol w="1463039"/>
                <a:gridCol w="1463039"/>
                <a:gridCol w="1463039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mean ± std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7.3 pp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1.84×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Targeted &gt; random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+3.95%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-0.56% ± 1.14%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4.51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+5.02%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-0.84% ± 0.76%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5.85 pp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6.0×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Implementation: SAE-based Forward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PyTorch hook registered on target decoder layer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Intercepts hidden activations, applies SAE transformation, returns modified activations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Forward Hook Algorithm: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1. Flatten batch activations: [B, T, d_model] → [B·T, d_model]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2. Encode through SAE: x_flat @ W_enc^T + b_enc → [B·T, n_features]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3. Apply ReLU: h = max(0, encoded)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4. ABLATE: h[:, target_features] ← 0 (zero out specified features)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5. Decode back: h @ W_dec^T + b_dec → [B·T, d_model]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6. Reshape: [B·T, d_model] → [B, T, d_model]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Same hook used for BOTH targeted and random → only difference is feature set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Greedy decoding (no sampling) to eliminate sampling 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Fair comparison: effect differences must arise from feature identity, not mechanism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Ablation Hook Methods: Two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A580C"/>
                </a:solidFill>
              </a:defRPr>
            </a:pPr>
            <a:r>
              <a:t>Full Reconstruction (PaLiGemma)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Encode → Zero features → Decode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x_mod = W_dec · (h ⊙ mask) + b_dec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Replaces all activations with SAE output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Works when SAE has near-perfect reconstruction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Used for PaLiGemma (cos_sim = 0.9999)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NOT suitable when SAE trained on pooled activations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6A34A"/>
                </a:solidFill>
              </a:defRPr>
            </a:pPr>
            <a:r>
              <a:t>Residual Ablation (Qwen, Llama)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Only subtract targeted features' contribution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x_mod = x - Σⱼ∈A hⱼ · W_dec[:,j]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Preserves original activations otherwise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More robust to SAE quality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Modification ~3% of activation norm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Required for mean-pooled SAE on per-token intervention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Complete results across 3 VLM architectures with statistical rigor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Main Intervention Results: Cross-Model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All 3 models show statistically significant targeted effects vs random controls (500 images, 25 random runs each)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034"/>
                <a:gridCol w="1254034"/>
                <a:gridCol w="1254034"/>
                <a:gridCol w="1254034"/>
                <a:gridCol w="1254034"/>
                <a:gridCol w="1254034"/>
                <a:gridCol w="1254034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(μ±σ)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 (L9)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1.8×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 = 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 (L12)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+3.95%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-0.56% ± 1.14%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CI excludes 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 (L20)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1,355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1,423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+5.02%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-0.84% ± 0.76%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6.0×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CI excludes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Cross-Model Intervention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Error bars: 25 random control runs; dotted line: baseline</a:t>
            </a:r>
          </a:p>
        </p:txBody>
      </p:sp>
      <p:pic>
        <p:nvPicPr>
          <p:cNvPr id="5" name="Picture 4" descr="fig1_cross_model_interv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38156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Targeted ablation shows consistent specificity across architectures, but direction differs by model type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B82F6"/>
                </a:solidFill>
              </a:defRPr>
            </a:pPr>
            <a:r>
              <a:t>Key Finding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Targeted Ablation is Statistically Significant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Ablating just 0.6% of SAE features (100 out of 16,384-32,768) produces statistically significant changes in gender-marked language across ALL three models tested. Effect ratios range from 1.8× to 7.1× compared to random feature ablation controls.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PaLiGemma: Wilcoxon p = 1.65 × 10⁻²¹ (highly significant)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Qwen2-VL: Bootstrap 95% CI = [+0.038, +0.200] (excludes zero)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Llama: Bootstrap 95% CI = [+0.078, +0.242] (excludes zero)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Effect persists even for Llama with poor SAE quality (36.6% EV)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Results are CONSERVATIVE; better SAEs would likely yield larger effects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PaLiGemma-3B: Detailed Results (Layer 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Targeted ablation reduces gender terms by 16.1%, nearly 2× the random effect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(mean)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Terms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1,389 ± 59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 &lt; 10⁻²⁰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Rate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0.0982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0.1076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0.0858 ± 0.008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Per-image 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-0.266 ± 0.033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[-0.570, -0.406]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[-0.332, -0.200]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Excludes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Nonbinary Terms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276 (-15%)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PaLiGemma: Layer Specificity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L9 (mid-layer) carries the ENTIRE effect; L17 (penultimate) has NO significant effect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Gender Terms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Rate Δ%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Wilcoxon p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L9 Targeted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L17 Targeted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0.999 (n.s.)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L9+L17 Combined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L17 Alone (in multi)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1.0 (n.s.)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Layer Specificity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Consistent with literature: mid-layers encode semantic content, late layers handle output formatting</a:t>
            </a:r>
          </a:p>
        </p:txBody>
      </p:sp>
      <p:pic>
        <p:nvPicPr>
          <p:cNvPr id="5" name="Picture 4" descr="fig4_layer_specif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54659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Gender features are LOCALIZED in middle layers, not distributed uniformly across the network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Per-Term Changes Under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Ablation RESHUFFLES which gendered terms appear; does not uniformly suppress all gender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Term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-73.2%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+11.9%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Most dramatic in Qwen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Relatively stable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Nouns increase in Qwen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woman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+43.6%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-4.3%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Nouns increase in Qwen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Increases in Llama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Per-Term Change Heatmap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Pattern reveals different underlying mechanisms across architectures</a:t>
            </a:r>
          </a:p>
        </p:txBody>
      </p:sp>
      <p:pic>
        <p:nvPicPr>
          <p:cNvPr id="5" name="Picture 4" descr="fig3_per_term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27666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Color intensity shows magnitude of change; red = decrease, blue = increase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★ KEY NOVEL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DIRECTION DIVERGENCE: Excitatory vs Inhibitory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FFEDD5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The DIRECTION of the intervention effect depends on model architecture. This is our most important and novel discovery: the same ablation intervention has OPPOSITE effects across different architectures. This has critical implications for debiasing strategies.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 (captioning model): -16.1% gender terms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Ablation REMOVES gendered language (excitatory features)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 + Llama (instruction-tuned): +4-5% gender terms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Ablation RELEASES gendered language (inhibitory features)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PRACTICAL IMPLICATION: Same 'debiasing' intervention would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REDUCE bias in PaLiGemma (intended effect)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INCREASE bias in Qwen/Llama (opposite of intended!)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Two Mechanisms of Gender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A580C"/>
                </a:solidFill>
              </a:defRPr>
            </a:pPr>
            <a:r>
              <a:t>EXCITATORY (PaLiGemma)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Smaller, captioning-focused model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Gender features PRODUCE gendered output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Like a light switch: ON → gender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Ablation turns switch OFF → fewer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Trained to describe images directly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Simple task: see person → describe gender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9333EA"/>
                </a:solidFill>
              </a:defRPr>
            </a:pPr>
            <a:r>
              <a:t>INHIBITORY (Qwen, Llama)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Larger, instruction-tuned models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Features REGULATE/SUPPRESS gender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Like a governor/brake on a car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Ablation removes brake → more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RLHF/alignment training may create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'safety circuits' that regulate bias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Hypothesis: Why Direction Divergence?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Captioning models (PaLiGemma):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Trained to describe images directly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Task: 'See person, describe attributes including gender'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Learn features that PRODUCE gendered descriptions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Gender features are EXCITATORY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Instruction-tuned models (Qwen, Llama):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Trained with RLHF/alignment procedures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May have learned to MODERATE/SUPPRESS gendered language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Potentially developed 'safety circuits' during alignment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Gender features act as INHIBITORY regulators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Supporting evidence: BOTH instruction-tuned models show same direction</a:t>
            </a:r>
          </a:p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Caveat: Could partially reflect different hook methods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Quality Metrics Across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Quality varies substantially; intervention works even with poor SAE (Llama 36.6% EV)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Cosine Sim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Explained Var.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L0 (Active)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Dead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 (L9)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99.8%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7,992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51.2%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 (L12)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71.6%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 (L20)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0.9956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36.6%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344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98.6%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Robustness to SAE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quality varies SUBSTANTIALLY across models: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PaLiGemma: Excellent (99.8% explained variance)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Qwen2-VL: Good (66.4% explained variance)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Llama: Poor (36.6% explained variance, 98.6% dead features)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KEY FINDING: Intervention works even with low-quality SAEs!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Llama achieves 6.0× effect ratio despite only 36.6% EV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This is a CONSERVATIVE test of the approach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Better SAEs would likely yield LARGER effects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Interpretation: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Results are ROBUST to SAE training quality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The causal relationship is real, not an artifact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This is a STRENGTH, not a weakness of the methodology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Cross-Lingual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Do English and Arabic share gender bias features?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Cross-Lingual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Core question: Do English and Arabic share gender bias features?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IF YES → Debiasing in English automatically helps Arabic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IF NO → Language-specific interventions required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this matters: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Multilingual VLMs serve users globally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Debiasing only in English would leave other languages biased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Need to understand if features transfer across languages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Languages differ fundamentally: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English: Minimal grammatical gender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Arabic: Extensive grammatical gender marking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linguistic encoding → potentially different features?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Cross-Lingual Feature Overlap (Jaccard Index)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Most models encode gender through LANGUAGE-SPECIFIC features (Jaccard &lt; 3%)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Overlap (top-100)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Jaccard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57 / 100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0.399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Substantial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Zero overlap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 / 100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Near-zero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Near-zero overlap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Causal 2×2 Cross-Lingual Ablation (Qwen2-VL)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Only within-language (EN→EN) is significant; cross-language ablation shows NO transfer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Caption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Significant?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EN→EN (within)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YES 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EN→AR (cross)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AR→EN (cross)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AR→AR (within)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B82F6"/>
                </a:solidFill>
              </a:defRPr>
            </a:pPr>
            <a:r>
              <a:t>Key Finding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Language-Specific Gender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Cross-lingual feature overlap is near-zero (Jaccard &lt; 3%) for most models. Our causal 2×2 ablation experiment confirms: ablating English features has NO effect on Arabic captions when overlap is zero, but transfer DOES occur when overlap is high.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Qwen2-VL: 0% overlap → NO cross-lingual transfer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PaLiGemma: 57% overlap → Transfer DOES occur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Feature overlap PREDICTS transferability: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Zero overlap → No transfer (independent encodings)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High overlap → Transfer occurs (shared representations)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PRACTICAL IMPLICATION: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Multilingual fairness requires language-specific interventions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Cross-Lingual Feature 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Jaccard similarity computed over top-100 gender features per language</a:t>
            </a:r>
          </a:p>
        </p:txBody>
      </p:sp>
      <p:pic>
        <p:nvPicPr>
          <p:cNvPr id="5" name="Picture 4" descr="fig5_cross_lingual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7460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Feature overlap predicts cross-lingual transferability of debiasing interventions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Implications,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What does this mean for VLM bias mitigation?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Practical Implications for Bias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CRITICAL WARNING: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intervention has OPPOSITE effects across architectures!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Naive debiasing (ablate top-differential features):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REDUCES bias in PaLiGemma (captioning model) ✓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INCREASES bias in Qwen/Llama (instruction-tuned) ✗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Architecture-specific analysis is ESSENTIAL before deployment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Cannot assume one-size-fits-all debiasing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Must understand whether features are excitatory or inhibitory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Language-specific interventions needed for multilingual fairness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Cannot assume cross-lingual transfer without measuring overlap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Each language may require independent debiasing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 of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METHODOLOGICAL: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SAE-based mechanistic interpretability of VLM bias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Extended SAE framework from text-only LLMs to multimodal VLMs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EMPIRICAL: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Causal evidence across 3 architectures (2.9B - 10.6B params)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0.6% of features → 1.8-7.1× effect ratios vs random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MECHANISTIC (KEY NOVEL FINDING):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Discovery of excitatory vs inhibitory gender encoding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architectures use fundamentally different mechanisms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CROSS-LINGUAL: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causal 2×2 ablation on VLM gender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Feature overlap predicts cross-lingual transferability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Comparison with Prior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First to combine SAE interpretability with VLM bias analysis and cross-lingual causal experiments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Advance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Hendricks et al. 2018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VLM bias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Mechanistic explanation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Zhao et al.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VLM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Data augmentation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Feature-level intervention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Cunningham et al. 2023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SAE interpretability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Extension to VLMs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Templeton et al.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34M SAE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Bias-focused analysis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Bricken et al. 2023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Monosemanticity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Causal intervention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Limitations &amp; 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training scale: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5K-10K samples per model (larger sets may help)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architecture: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Vanilla ReLU only (TopK/JumpReLU not tested)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Hook inconsistency: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methods for different models (full recon vs residual)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Within-model comparisons valid, cross-model needs caution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No human evaluation: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Caption fluency/quality not assessed after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Binary gender focus: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Non-binary terms tracked but not primary metric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Llama SAE quality: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Only 36.6% explained variance; results may be conservative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Scale up SAE training: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100K+ samples per model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Full 40K Flickr8K captions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Compare SAE architectures: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TopK SAEs (Gao et al., 2024)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JumpReLU SAEs (Rajamanoharan et al., 2024)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Extend scope: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More languages beyond English/Arabic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Other bias types (race, age, profession)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Human evaluation of caption quality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Investigate mechanisms: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Why does instruction tuning create inhibitory features?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 we predict excitatory/inhibitory from architecture alone?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Takeaways for Supervisor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1. SAEs can identify causal gender features in VLMs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application of mechanistic interpretability to VLM bias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2. Direction of effect depends on architecture (NOVEL)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Captioning models: excitatory features (ablation reduces)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Instruction-tuned: inhibitory features (ablation increases)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3. Cross-lingual features are language-specific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Zero overlap → no transfer; high overlap → transfer occurs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4. Intervention is robust to SAE quality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Works even with 36.6% explained variance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5. Bias mitigation requires architecture-specific strategies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intervention can INCREASE or DECREASE bias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C8D2DC"/>
                </a:solidFill>
              </a:defRPr>
            </a:pPr>
            <a:r>
              <a:t>Questions &amp; Discussion</a:t>
            </a:r>
            <a:br/>
            <a:br/>
            <a:r>
              <a:t>Code: github.com/nour-mubarak/mechanistic_intrep</a:t>
            </a:r>
            <a:br/>
            <a:r>
              <a:t>Email: nour.mubarak@durham.ac.uk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Supplementary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Technical details, additional results, and references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Statistical Methods: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Primary metric: Total gender terms across 500 captions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Paired analysis (per-image):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Δᵢ = count(ablated_i) - count(baseline_i)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Bootstrap 95% CI: 10,000 resamples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Wilcoxon signed-rank test (non-parametric)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Effect specificity: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Specificity = |targeted%| - |random%|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= |targeted| / |random|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&gt; 1 → targeted exceeds random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Note on Wilcoxon one-sided test: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Originally configured for decrease (PaLiGemma)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For Qwen/Llama (increases), bootstrap CI is primary test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CI excluding zero confirms significance regardless of direction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LLaVA Was Not Used for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LLaVA-1.5-7B trained but excluded from intervention: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Primary reason: 95% dead SAE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Most features never activate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Insufficient active features for meaningful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Secondary reason: Architectural similarity to Qwen2-VL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Both instruction-tuned 7B models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Would likely show same direction (inhibitory)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Qwen provides sufficient evidence for this class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LLaVA results included in: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SAE quality metrics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Cross-lingual feature overlap analysis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Anticipated Reviewer Concerns (Addressed)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Proactive responses to anticipated reviewer feedback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Concern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Response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Dataset size (Flickr8K small)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Sufficient for activation analysis; not training new models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term counting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Report both raw count AND length-normalized rate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CLBAS metric (not standard)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Removed; using causal 2×2 ablation + Jaccard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Single model 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 models spanning 2.9B-10.6B parameters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Hook method inconsistency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Justified; within-model comparisons valid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[Hendricks et al., 2018] Women Also Snowboard. ECCV.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Gender bias measurement in image captioning.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[Cunningham et al., 2023] Sparse Autoencoders for GPT-2. ICLR.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Foundation for SAE-based interpretability.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[Bricken et al., 2023] Monosemanticity. Anthropic.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Scaling SAEs to larger language models.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[Templeton et al., 2024] Scaling Monosemanticity. Anthropic.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34M features on Claude; safety-relevant concepts.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[Gao et al., 2024] TopK SAEs. Proceedings.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Alternative SAE architecture with hard sparsity.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[Rajamanoharan et al., 2024] JumpReLU SAEs.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Improved sparsity through learned thresholds.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All Figures in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Pipeline &amp; Methodology: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1: Four-stage pipeline overview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2: Intervention experiment design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Main Results: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3: Cross-model intervention comparison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4: Layer specificity analysis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5: Per-term change heatmap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Cross-Lingual: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6: Cross-lingual feature analysis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All figures available in: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publication/figures/main/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publication/figures/supplementary/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