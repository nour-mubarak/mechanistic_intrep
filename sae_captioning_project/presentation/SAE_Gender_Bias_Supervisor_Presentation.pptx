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  <p:sldId id="294" r:id="rId45"/>
    <p:sldId id="295" r:id="rId46"/>
    <p:sldId id="296" r:id="rId47"/>
    <p:sldId id="297" r:id="rId48"/>
    <p:sldId id="298" r:id="rId49"/>
    <p:sldId id="299" r:id="rId50"/>
    <p:sldId id="300" r:id="rId51"/>
    <p:sldId id="301" r:id="rId52"/>
    <p:sldId id="302" r:id="rId53"/>
    <p:sldId id="303" r:id="rId54"/>
    <p:sldId id="304" r:id="rId55"/>
    <p:sldId id="305" r:id="rId56"/>
    <p:sldId id="306" r:id="rId57"/>
    <p:sldId id="307" r:id="rId58"/>
    <p:sldId id="308" r:id="rId59"/>
    <p:sldId id="309" r:id="rId60"/>
    <p:sldId id="310" r:id="rId61"/>
    <p:sldId id="311" r:id="rId62"/>
    <p:sldId id="312" r:id="rId63"/>
    <p:sldId id="313" r:id="rId64"/>
    <p:sldId id="314" r:id="rId65"/>
    <p:sldId id="315" r:id="rId66"/>
    <p:sldId id="316" r:id="rId67"/>
    <p:sldId id="317" r:id="rId68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Relationship Id="rId45" Type="http://schemas.openxmlformats.org/officeDocument/2006/relationships/slide" Target="slides/slide39.xml"/><Relationship Id="rId46" Type="http://schemas.openxmlformats.org/officeDocument/2006/relationships/slide" Target="slides/slide40.xml"/><Relationship Id="rId47" Type="http://schemas.openxmlformats.org/officeDocument/2006/relationships/slide" Target="slides/slide41.xml"/><Relationship Id="rId48" Type="http://schemas.openxmlformats.org/officeDocument/2006/relationships/slide" Target="slides/slide42.xml"/><Relationship Id="rId49" Type="http://schemas.openxmlformats.org/officeDocument/2006/relationships/slide" Target="slides/slide43.xml"/><Relationship Id="rId50" Type="http://schemas.openxmlformats.org/officeDocument/2006/relationships/slide" Target="slides/slide44.xml"/><Relationship Id="rId51" Type="http://schemas.openxmlformats.org/officeDocument/2006/relationships/slide" Target="slides/slide45.xml"/><Relationship Id="rId52" Type="http://schemas.openxmlformats.org/officeDocument/2006/relationships/slide" Target="slides/slide46.xml"/><Relationship Id="rId53" Type="http://schemas.openxmlformats.org/officeDocument/2006/relationships/slide" Target="slides/slide47.xml"/><Relationship Id="rId54" Type="http://schemas.openxmlformats.org/officeDocument/2006/relationships/slide" Target="slides/slide48.xml"/><Relationship Id="rId55" Type="http://schemas.openxmlformats.org/officeDocument/2006/relationships/slide" Target="slides/slide49.xml"/><Relationship Id="rId56" Type="http://schemas.openxmlformats.org/officeDocument/2006/relationships/slide" Target="slides/slide50.xml"/><Relationship Id="rId57" Type="http://schemas.openxmlformats.org/officeDocument/2006/relationships/slide" Target="slides/slide51.xml"/><Relationship Id="rId58" Type="http://schemas.openxmlformats.org/officeDocument/2006/relationships/slide" Target="slides/slide52.xml"/><Relationship Id="rId59" Type="http://schemas.openxmlformats.org/officeDocument/2006/relationships/slide" Target="slides/slide53.xml"/><Relationship Id="rId60" Type="http://schemas.openxmlformats.org/officeDocument/2006/relationships/slide" Target="slides/slide54.xml"/><Relationship Id="rId61" Type="http://schemas.openxmlformats.org/officeDocument/2006/relationships/slide" Target="slides/slide55.xml"/><Relationship Id="rId62" Type="http://schemas.openxmlformats.org/officeDocument/2006/relationships/slide" Target="slides/slide56.xml"/><Relationship Id="rId63" Type="http://schemas.openxmlformats.org/officeDocument/2006/relationships/slide" Target="slides/slide57.xml"/><Relationship Id="rId64" Type="http://schemas.openxmlformats.org/officeDocument/2006/relationships/slide" Target="slides/slide58.xml"/><Relationship Id="rId65" Type="http://schemas.openxmlformats.org/officeDocument/2006/relationships/slide" Target="slides/slide59.xml"/><Relationship Id="rId66" Type="http://schemas.openxmlformats.org/officeDocument/2006/relationships/slide" Target="slides/slide60.xml"/><Relationship Id="rId67" Type="http://schemas.openxmlformats.org/officeDocument/2006/relationships/slide" Target="slides/slide61.xml"/><Relationship Id="rId68" Type="http://schemas.openxmlformats.org/officeDocument/2006/relationships/slide" Target="slides/slide6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jpg"/><Relationship Id="rId3" Type="http://schemas.openxmlformats.org/officeDocument/2006/relationships/image" Target="../media/image5.jpg"/><Relationship Id="rId4" Type="http://schemas.openxmlformats.org/officeDocument/2006/relationships/image" Target="../media/image6.jpg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9375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011680"/>
            <a:ext cx="822960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000" b="1">
                <a:solidFill>
                  <a:srgbClr val="FFFFFF"/>
                </a:solidFill>
              </a:defRPr>
            </a:pPr>
            <a:r>
              <a:t>Sparse Autoencoders Reveal and Control</a:t>
            </a:r>
            <a:br/>
            <a:r>
              <a:t>Gender Bias in Vision-Language Models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38404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>
                <a:solidFill>
                  <a:srgbClr val="C8D2DC"/>
                </a:solidFill>
              </a:defRPr>
            </a:pPr>
            <a:r>
              <a:t>A Cross-Lingual Mechanistic Interpretability Study</a:t>
            </a:r>
            <a:br/>
            <a:br/>
            <a:r>
              <a:t>Nour Mubarak</a:t>
            </a:r>
            <a:br/>
            <a:r>
              <a:t>Durham University | Supervisor Meeting</a:t>
            </a:r>
            <a:br/>
            <a:r>
              <a:t>March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9FA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005840"/>
          </a:xfrm>
          <a:prstGeom prst="rect">
            <a:avLst/>
          </a:prstGeom>
          <a:solidFill>
            <a:srgbClr val="1937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228600"/>
            <a:ext cx="841248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FFFFFF"/>
                </a:solidFill>
              </a:defRPr>
            </a:pPr>
            <a:r>
              <a:t>Presentation Outline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1234440"/>
            <a:ext cx="841248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700">
                <a:solidFill>
                  <a:srgbClr val="1F2937"/>
                </a:solidFill>
              </a:defRPr>
            </a:pPr>
            <a:r>
              <a:t>• Part 1: Research Context &amp; Motivation</a:t>
            </a:r>
          </a:p>
          <a:p>
            <a:pPr lvl="1">
              <a:spcAft>
                <a:spcPts val="600"/>
              </a:spcAft>
              <a:defRPr sz="1600">
                <a:solidFill>
                  <a:srgbClr val="1F2937"/>
                </a:solidFill>
              </a:defRPr>
            </a:pPr>
            <a:r>
              <a:t>   • Gender bias in VLMs, limitations of prior work</a:t>
            </a:r>
          </a:p>
          <a:p>
            <a:pPr lvl="1">
              <a:spcAft>
                <a:spcPts val="600"/>
              </a:spcAft>
              <a:defRPr sz="1600">
                <a:solidFill>
                  <a:srgbClr val="1F2937"/>
                </a:solidFill>
              </a:defRPr>
            </a:pPr>
            <a:r>
              <a:t>   • Why mechanistic interpretability?</a:t>
            </a:r>
          </a:p>
          <a:p>
            <a:pPr>
              <a:spcAft>
                <a:spcPts val="600"/>
              </a:spcAft>
              <a:defRPr sz="1700">
                <a:solidFill>
                  <a:srgbClr val="1F2937"/>
                </a:solidFill>
              </a:defRPr>
            </a:pPr>
            <a:r>
              <a:t>• Part 2: Methodology &amp; Technical Approach</a:t>
            </a:r>
          </a:p>
          <a:p>
            <a:pPr lvl="1">
              <a:spcAft>
                <a:spcPts val="600"/>
              </a:spcAft>
              <a:defRPr sz="1600">
                <a:solidFill>
                  <a:srgbClr val="1F2937"/>
                </a:solidFill>
              </a:defRPr>
            </a:pPr>
            <a:r>
              <a:t>   • SAE architecture, training, feature identification</a:t>
            </a:r>
          </a:p>
          <a:p>
            <a:pPr lvl="1">
              <a:spcAft>
                <a:spcPts val="600"/>
              </a:spcAft>
              <a:defRPr sz="1600">
                <a:solidFill>
                  <a:srgbClr val="1F2937"/>
                </a:solidFill>
              </a:defRPr>
            </a:pPr>
            <a:r>
              <a:t>   • Intervention experiment design with full justifications</a:t>
            </a:r>
          </a:p>
          <a:p>
            <a:pPr>
              <a:spcAft>
                <a:spcPts val="600"/>
              </a:spcAft>
              <a:defRPr sz="1700">
                <a:solidFill>
                  <a:srgbClr val="1F2937"/>
                </a:solidFill>
              </a:defRPr>
            </a:pPr>
            <a:r>
              <a:t>• Part 3: Experimental Results (3 Models)</a:t>
            </a:r>
          </a:p>
          <a:p>
            <a:pPr lvl="1">
              <a:spcAft>
                <a:spcPts val="600"/>
              </a:spcAft>
              <a:defRPr sz="1600">
                <a:solidFill>
                  <a:srgbClr val="1F2937"/>
                </a:solidFill>
              </a:defRPr>
            </a:pPr>
            <a:r>
              <a:t>   • PaLiGemma-3B, Qwen2-VL-7B, Llama-3.2-11B</a:t>
            </a:r>
          </a:p>
          <a:p>
            <a:pPr lvl="1">
              <a:spcAft>
                <a:spcPts val="600"/>
              </a:spcAft>
              <a:defRPr sz="1600">
                <a:solidFill>
                  <a:srgbClr val="1F2937"/>
                </a:solidFill>
              </a:defRPr>
            </a:pPr>
            <a:r>
              <a:t>   • Statistical analysis with 25 random control runs</a:t>
            </a:r>
          </a:p>
          <a:p>
            <a:pPr>
              <a:spcAft>
                <a:spcPts val="600"/>
              </a:spcAft>
              <a:defRPr sz="1700">
                <a:solidFill>
                  <a:srgbClr val="1F2937"/>
                </a:solidFill>
              </a:defRPr>
            </a:pPr>
            <a:r>
              <a:t>• Part 4: Key Novel Findings</a:t>
            </a:r>
          </a:p>
          <a:p>
            <a:pPr lvl="1">
              <a:spcAft>
                <a:spcPts val="600"/>
              </a:spcAft>
              <a:defRPr sz="1600">
                <a:solidFill>
                  <a:srgbClr val="1F2937"/>
                </a:solidFill>
              </a:defRPr>
            </a:pPr>
            <a:r>
              <a:t>   • Excitatory vs inhibitory gender encoding mechanisms</a:t>
            </a:r>
          </a:p>
          <a:p>
            <a:pPr lvl="1">
              <a:spcAft>
                <a:spcPts val="600"/>
              </a:spcAft>
              <a:defRPr sz="1600">
                <a:solidFill>
                  <a:srgbClr val="1F2937"/>
                </a:solidFill>
              </a:defRPr>
            </a:pPr>
            <a:r>
              <a:t>   • Cross-lingual feature analysis</a:t>
            </a:r>
          </a:p>
          <a:p>
            <a:pPr>
              <a:spcAft>
                <a:spcPts val="600"/>
              </a:spcAft>
              <a:defRPr sz="1700">
                <a:solidFill>
                  <a:srgbClr val="1F2937"/>
                </a:solidFill>
              </a:defRPr>
            </a:pPr>
            <a:r>
              <a:t>• Part 5: Implications, Limitations &amp; Future Work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D558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828800"/>
            <a:ext cx="8229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200">
                <a:solidFill>
                  <a:srgbClr val="B4C8E6"/>
                </a:solidFill>
              </a:defRPr>
            </a:pPr>
            <a:r>
              <a:t>Part 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256032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800" b="1">
                <a:solidFill>
                  <a:srgbClr val="FFFFFF"/>
                </a:solidFill>
              </a:defRPr>
            </a:pPr>
            <a:r>
              <a:t>Research Context &amp; Motivation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023360"/>
            <a:ext cx="8229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800" i="1">
                <a:solidFill>
                  <a:srgbClr val="C8D2DC"/>
                </a:solidFill>
              </a:defRPr>
            </a:pPr>
            <a:r>
              <a:t>Understanding the problem and why mechanistic interpretability is needed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9FA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005840"/>
          </a:xfrm>
          <a:prstGeom prst="rect">
            <a:avLst/>
          </a:prstGeom>
          <a:solidFill>
            <a:srgbClr val="1937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228600"/>
            <a:ext cx="841248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FFFFFF"/>
                </a:solidFill>
              </a:defRPr>
            </a:pPr>
            <a:r>
              <a:t>The Problem: Gender Bias in Vision-Language Models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1234440"/>
            <a:ext cx="841248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700">
                <a:solidFill>
                  <a:srgbClr val="1F2937"/>
                </a:solidFill>
              </a:defRPr>
            </a:pPr>
            <a:r>
              <a:t>• VLMs exhibit systematic gender bias in image captioning:</a:t>
            </a:r>
          </a:p>
          <a:p>
            <a:pPr>
              <a:spcAft>
                <a:spcPts val="600"/>
              </a:spcAft>
              <a:defRPr sz="800">
                <a:solidFill>
                  <a:srgbClr val="1F2937"/>
                </a:solidFill>
              </a:defRPr>
            </a:pPr>
          </a:p>
          <a:p>
            <a:pPr>
              <a:spcAft>
                <a:spcPts val="600"/>
              </a:spcAft>
              <a:defRPr sz="1800" b="1">
                <a:solidFill>
                  <a:srgbClr val="EA580C"/>
                </a:solidFill>
              </a:defRPr>
            </a:pPr>
            <a:r>
              <a:t>★ Example: Same activity, different gendered subjects</a:t>
            </a:r>
          </a:p>
          <a:p>
            <a:pPr lvl="1">
              <a:spcAft>
                <a:spcPts val="600"/>
              </a:spcAft>
              <a:defRPr sz="1600">
                <a:solidFill>
                  <a:srgbClr val="1F2937"/>
                </a:solidFill>
              </a:defRPr>
            </a:pPr>
            <a:r>
              <a:t>   Man on skateboard → 'a man performing impressive tricks'</a:t>
            </a:r>
          </a:p>
          <a:p>
            <a:pPr lvl="1">
              <a:spcAft>
                <a:spcPts val="600"/>
              </a:spcAft>
              <a:defRPr sz="1600">
                <a:solidFill>
                  <a:srgbClr val="1F2937"/>
                </a:solidFill>
              </a:defRPr>
            </a:pPr>
            <a:r>
              <a:t>   Woman on skateboard → 'a person standing on a board'</a:t>
            </a:r>
          </a:p>
          <a:p>
            <a:pPr>
              <a:spcAft>
                <a:spcPts val="600"/>
              </a:spcAft>
              <a:defRPr sz="800">
                <a:solidFill>
                  <a:srgbClr val="1F2937"/>
                </a:solidFill>
              </a:defRPr>
            </a:pPr>
          </a:p>
          <a:p>
            <a:pPr>
              <a:spcAft>
                <a:spcPts val="600"/>
              </a:spcAft>
              <a:defRPr sz="1700">
                <a:solidFill>
                  <a:srgbClr val="1F2937"/>
                </a:solidFill>
              </a:defRPr>
            </a:pPr>
            <a:r>
              <a:t>• Models systematically:</a:t>
            </a:r>
          </a:p>
          <a:p>
            <a:pPr lvl="1">
              <a:spcAft>
                <a:spcPts val="600"/>
              </a:spcAft>
              <a:defRPr sz="1600">
                <a:solidFill>
                  <a:srgbClr val="1F2937"/>
                </a:solidFill>
              </a:defRPr>
            </a:pPr>
            <a:r>
              <a:t>   Use gendered language more for certain groups</a:t>
            </a:r>
          </a:p>
          <a:p>
            <a:pPr lvl="1">
              <a:spcAft>
                <a:spcPts val="600"/>
              </a:spcAft>
              <a:defRPr sz="1600">
                <a:solidFill>
                  <a:srgbClr val="1F2937"/>
                </a:solidFill>
              </a:defRPr>
            </a:pPr>
            <a:r>
              <a:t>   Associate activities/appearances with specific genders</a:t>
            </a:r>
          </a:p>
          <a:p>
            <a:pPr lvl="1">
              <a:spcAft>
                <a:spcPts val="600"/>
              </a:spcAft>
              <a:defRPr sz="1600">
                <a:solidFill>
                  <a:srgbClr val="1F2937"/>
                </a:solidFill>
              </a:defRPr>
            </a:pPr>
            <a:r>
              <a:t>   Propagate societal stereotypes from training data</a:t>
            </a:r>
          </a:p>
          <a:p>
            <a:pPr>
              <a:spcAft>
                <a:spcPts val="600"/>
              </a:spcAft>
              <a:defRPr sz="800">
                <a:solidFill>
                  <a:srgbClr val="1F2937"/>
                </a:solidFill>
              </a:defRPr>
            </a:pPr>
          </a:p>
          <a:p>
            <a:pPr>
              <a:spcAft>
                <a:spcPts val="600"/>
              </a:spcAft>
              <a:defRPr sz="1700">
                <a:solidFill>
                  <a:srgbClr val="DC2626"/>
                </a:solidFill>
              </a:defRPr>
            </a:pPr>
            <a:r>
              <a:t>⚠ This bias has real-world consequences:</a:t>
            </a:r>
          </a:p>
          <a:p>
            <a:pPr lvl="1">
              <a:spcAft>
                <a:spcPts val="600"/>
              </a:spcAft>
              <a:defRPr sz="1600">
                <a:solidFill>
                  <a:srgbClr val="1F2937"/>
                </a:solidFill>
              </a:defRPr>
            </a:pPr>
            <a:r>
              <a:t>   Automated captioning systems, assistive technologies, search</a:t>
            </a:r>
          </a:p>
          <a:p>
            <a:pPr lvl="1">
              <a:spcAft>
                <a:spcPts val="600"/>
              </a:spcAft>
              <a:defRPr sz="1600">
                <a:solidFill>
                  <a:srgbClr val="1F2937"/>
                </a:solidFill>
              </a:defRPr>
            </a:pPr>
            <a:r>
              <a:t>   Perpetuates harmful stereotypes at scale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DF7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005840"/>
          </a:xfrm>
          <a:prstGeom prst="rect">
            <a:avLst/>
          </a:prstGeom>
          <a:solidFill>
            <a:srgbClr val="1937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228600"/>
            <a:ext cx="841248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FFFFFF"/>
                </a:solidFill>
              </a:defRPr>
            </a:pPr>
            <a:r>
              <a:t>Prior Work: Gender Bias in VLMs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1188720"/>
            <a:ext cx="841248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  <a:defRPr sz="1500" b="1">
                <a:solidFill>
                  <a:srgbClr val="3B82F6"/>
                </a:solidFill>
              </a:defRPr>
            </a:pPr>
            <a:r>
              <a:t>[Hendricks et al., 2018] - Women Also Snowboard (ECCV)</a:t>
            </a:r>
          </a:p>
          <a:p>
            <a:pPr>
              <a:spcAft>
                <a:spcPts val="300"/>
              </a:spcAft>
              <a:defRPr sz="1400">
                <a:solidFill>
                  <a:srgbClr val="1F2937"/>
                </a:solidFill>
              </a:defRPr>
            </a:pPr>
            <a:r>
              <a:t>      Documented systematic bias: men described with activities,</a:t>
            </a:r>
          </a:p>
          <a:p>
            <a:pPr>
              <a:spcAft>
                <a:spcPts val="300"/>
              </a:spcAft>
              <a:defRPr sz="1400">
                <a:solidFill>
                  <a:srgbClr val="1F2937"/>
                </a:solidFill>
              </a:defRPr>
            </a:pPr>
            <a:r>
              <a:t>      women with appearance. Proposed caption-level mitigation.</a:t>
            </a:r>
          </a:p>
          <a:p>
            <a:pPr>
              <a:spcAft>
                <a:spcPts val="300"/>
              </a:spcAft>
              <a:defRPr sz="600"/>
            </a:pPr>
          </a:p>
          <a:p>
            <a:pPr>
              <a:spcAft>
                <a:spcPts val="300"/>
              </a:spcAft>
              <a:defRPr sz="1500" b="1">
                <a:solidFill>
                  <a:srgbClr val="3B82F6"/>
                </a:solidFill>
              </a:defRPr>
            </a:pPr>
            <a:r>
              <a:t>[Zhao et al., 2017] - Men Also Like Shopping (EMNLP)</a:t>
            </a:r>
          </a:p>
          <a:p>
            <a:pPr>
              <a:spcAft>
                <a:spcPts val="300"/>
              </a:spcAft>
              <a:defRPr sz="1400">
                <a:solidFill>
                  <a:srgbClr val="1F2937"/>
                </a:solidFill>
              </a:defRPr>
            </a:pPr>
            <a:r>
              <a:t>      Data augmentation to reduce bias in visual semantic role labeling.</a:t>
            </a:r>
          </a:p>
          <a:p>
            <a:pPr>
              <a:spcAft>
                <a:spcPts val="300"/>
              </a:spcAft>
              <a:defRPr sz="1400">
                <a:solidFill>
                  <a:srgbClr val="1F2937"/>
                </a:solidFill>
              </a:defRPr>
            </a:pPr>
            <a:r>
              <a:t>      Output-level intervention; does not explain mechanisms.</a:t>
            </a:r>
          </a:p>
          <a:p>
            <a:pPr>
              <a:spcAft>
                <a:spcPts val="300"/>
              </a:spcAft>
              <a:defRPr sz="600"/>
            </a:pPr>
          </a:p>
          <a:p>
            <a:pPr>
              <a:spcAft>
                <a:spcPts val="300"/>
              </a:spcAft>
              <a:defRPr sz="1500" b="1">
                <a:solidFill>
                  <a:srgbClr val="3B82F6"/>
                </a:solidFill>
              </a:defRPr>
            </a:pPr>
            <a:r>
              <a:t>[Hirota et al., 2022] - Gender and Racial Bias in VLMs</a:t>
            </a:r>
          </a:p>
          <a:p>
            <a:pPr>
              <a:spcAft>
                <a:spcPts val="300"/>
              </a:spcAft>
              <a:defRPr sz="1400">
                <a:solidFill>
                  <a:srgbClr val="1F2937"/>
                </a:solidFill>
              </a:defRPr>
            </a:pPr>
            <a:r>
              <a:t>      Developed quantification metrics for VLM bias.</a:t>
            </a:r>
          </a:p>
          <a:p>
            <a:pPr>
              <a:spcAft>
                <a:spcPts val="300"/>
              </a:spcAft>
              <a:defRPr sz="1400">
                <a:solidFill>
                  <a:srgbClr val="1F2937"/>
                </a:solidFill>
              </a:defRPr>
            </a:pPr>
            <a:r>
              <a:t>      Measurement only; no intervention or explanation.</a:t>
            </a:r>
          </a:p>
          <a:p>
            <a:pPr>
              <a:spcAft>
                <a:spcPts val="300"/>
              </a:spcAft>
              <a:defRPr sz="600"/>
            </a:pPr>
          </a:p>
          <a:p>
            <a:pPr>
              <a:spcAft>
                <a:spcPts val="300"/>
              </a:spcAft>
              <a:defRPr sz="1400" b="1">
                <a:solidFill>
                  <a:srgbClr val="EA580C"/>
                </a:solidFill>
              </a:defRPr>
            </a:pPr>
            <a:r>
              <a:t>→ Our advance: We explain HOW bias is encoded internally</a:t>
            </a:r>
          </a:p>
          <a:p>
            <a:pPr>
              <a:spcAft>
                <a:spcPts val="300"/>
              </a:spcAft>
              <a:defRPr sz="1400" b="1">
                <a:solidFill>
                  <a:srgbClr val="EA580C"/>
                </a:solidFill>
              </a:defRPr>
            </a:pPr>
            <a:r>
              <a:t>→ Our advance: Causal intervention on identified features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9FA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005840"/>
          </a:xfrm>
          <a:prstGeom prst="rect">
            <a:avLst/>
          </a:prstGeom>
          <a:solidFill>
            <a:srgbClr val="1937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228600"/>
            <a:ext cx="841248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FFFFFF"/>
                </a:solidFill>
              </a:defRPr>
            </a:pPr>
            <a:r>
              <a:t>Why Mechanistic Interpretability?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" y="1188720"/>
            <a:ext cx="41148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>
                <a:solidFill>
                  <a:srgbClr val="DC2626"/>
                </a:solidFill>
              </a:defRPr>
            </a:pPr>
            <a:r>
              <a:t>Prior Approaches (Black Box)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74320" y="1645920"/>
            <a:ext cx="411480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  <a:defRPr sz="1500">
                <a:solidFill>
                  <a:srgbClr val="1F2937"/>
                </a:solidFill>
              </a:defRPr>
            </a:pPr>
            <a:r>
              <a:t>• Measure bias at output level</a:t>
            </a:r>
          </a:p>
          <a:p>
            <a:pPr>
              <a:spcAft>
                <a:spcPts val="500"/>
              </a:spcAft>
              <a:defRPr sz="1500">
                <a:solidFill>
                  <a:srgbClr val="1F2937"/>
                </a:solidFill>
              </a:defRPr>
            </a:pPr>
            <a:r>
              <a:t>• Data augmentation for debiasing</a:t>
            </a:r>
          </a:p>
          <a:p>
            <a:pPr>
              <a:spcAft>
                <a:spcPts val="500"/>
              </a:spcAft>
              <a:defRPr sz="1500">
                <a:solidFill>
                  <a:srgbClr val="1F2937"/>
                </a:solidFill>
              </a:defRPr>
            </a:pPr>
            <a:r>
              <a:t>• Constrained decoding</a:t>
            </a:r>
          </a:p>
          <a:p>
            <a:pPr>
              <a:spcAft>
                <a:spcPts val="500"/>
              </a:spcAft>
              <a:defRPr sz="1500">
                <a:solidFill>
                  <a:srgbClr val="1F2937"/>
                </a:solidFill>
              </a:defRPr>
            </a:pPr>
            <a:r>
              <a:t>• Post-processing filters</a:t>
            </a:r>
          </a:p>
          <a:p>
            <a:pPr>
              <a:spcAft>
                <a:spcPts val="500"/>
              </a:spcAft>
              <a:defRPr sz="1500">
                <a:solidFill>
                  <a:srgbClr val="1F2937"/>
                </a:solidFill>
              </a:defRPr>
            </a:pPr>
            <a:r>
              <a:t>• Cannot explain WHY bias occurs</a:t>
            </a:r>
          </a:p>
          <a:p>
            <a:pPr>
              <a:spcAft>
                <a:spcPts val="500"/>
              </a:spcAft>
              <a:defRPr sz="1500">
                <a:solidFill>
                  <a:srgbClr val="1F2937"/>
                </a:solidFill>
              </a:defRPr>
            </a:pPr>
            <a:r>
              <a:t>• No insight into internal mechanisms</a:t>
            </a:r>
          </a:p>
          <a:p>
            <a:pPr>
              <a:spcAft>
                <a:spcPts val="500"/>
              </a:spcAft>
              <a:defRPr sz="1500">
                <a:solidFill>
                  <a:srgbClr val="1F2937"/>
                </a:solidFill>
              </a:defRPr>
            </a:pPr>
            <a:r>
              <a:t>• Interventions may have unintended effects</a:t>
            </a:r>
          </a:p>
        </p:txBody>
      </p:sp>
      <p:sp>
        <p:nvSpPr>
          <p:cNvPr id="6" name="Rectangle 5"/>
          <p:cNvSpPr/>
          <p:nvPr/>
        </p:nvSpPr>
        <p:spPr>
          <a:xfrm>
            <a:off x="4526280" y="1188720"/>
            <a:ext cx="18288" cy="4846320"/>
          </a:xfrm>
          <a:prstGeom prst="rect">
            <a:avLst/>
          </a:prstGeom>
          <a:solidFill>
            <a:srgbClr val="C8C8C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754880" y="1188720"/>
            <a:ext cx="41148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>
                <a:solidFill>
                  <a:srgbClr val="16A34A"/>
                </a:solidFill>
              </a:defRPr>
            </a:pPr>
            <a:r>
              <a:t>Our Approach (Mechanistic)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754880" y="1645920"/>
            <a:ext cx="411480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  <a:defRPr sz="1500">
                <a:solidFill>
                  <a:srgbClr val="1F2937"/>
                </a:solidFill>
              </a:defRPr>
            </a:pPr>
            <a:r>
              <a:t>• Open the black box</a:t>
            </a:r>
          </a:p>
          <a:p>
            <a:pPr>
              <a:spcAft>
                <a:spcPts val="500"/>
              </a:spcAft>
              <a:defRPr sz="1500">
                <a:solidFill>
                  <a:srgbClr val="1F2937"/>
                </a:solidFill>
              </a:defRPr>
            </a:pPr>
            <a:r>
              <a:t>• Identify specific bias-encoding features</a:t>
            </a:r>
          </a:p>
          <a:p>
            <a:pPr>
              <a:spcAft>
                <a:spcPts val="500"/>
              </a:spcAft>
              <a:defRPr sz="1500">
                <a:solidFill>
                  <a:srgbClr val="1F2937"/>
                </a:solidFill>
              </a:defRPr>
            </a:pPr>
            <a:r>
              <a:t>• Test causal hypotheses via ablation</a:t>
            </a:r>
          </a:p>
          <a:p>
            <a:pPr>
              <a:spcAft>
                <a:spcPts val="500"/>
              </a:spcAft>
              <a:defRPr sz="1500">
                <a:solidFill>
                  <a:srgbClr val="1F2937"/>
                </a:solidFill>
              </a:defRPr>
            </a:pPr>
            <a:r>
              <a:t>• Understand internal representations</a:t>
            </a:r>
          </a:p>
          <a:p>
            <a:pPr>
              <a:spcAft>
                <a:spcPts val="500"/>
              </a:spcAft>
              <a:defRPr sz="1500">
                <a:solidFill>
                  <a:srgbClr val="1F2937"/>
                </a:solidFill>
              </a:defRPr>
            </a:pPr>
            <a:r>
              <a:t>• Enable surgical, targeted interventions</a:t>
            </a:r>
          </a:p>
          <a:p>
            <a:pPr>
              <a:spcAft>
                <a:spcPts val="500"/>
              </a:spcAft>
              <a:defRPr sz="1500">
                <a:solidFill>
                  <a:srgbClr val="1F2937"/>
                </a:solidFill>
              </a:defRPr>
            </a:pPr>
            <a:r>
              <a:t>• Predict effects across architectures</a:t>
            </a:r>
          </a:p>
          <a:p>
            <a:pPr>
              <a:spcAft>
                <a:spcPts val="500"/>
              </a:spcAft>
              <a:defRPr sz="1500">
                <a:solidFill>
                  <a:srgbClr val="1F2937"/>
                </a:solidFill>
              </a:defRPr>
            </a:pPr>
            <a:r>
              <a:t>• Inform principled debiasing strategies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DF7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005840"/>
          </a:xfrm>
          <a:prstGeom prst="rect">
            <a:avLst/>
          </a:prstGeom>
          <a:solidFill>
            <a:srgbClr val="1937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228600"/>
            <a:ext cx="841248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FFFFFF"/>
                </a:solidFill>
              </a:defRPr>
            </a:pPr>
            <a:r>
              <a:t>Prior Work: Sparse Autoencoders for Interpretability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1188720"/>
            <a:ext cx="841248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  <a:defRPr sz="1500" b="1">
                <a:solidFill>
                  <a:srgbClr val="3B82F6"/>
                </a:solidFill>
              </a:defRPr>
            </a:pPr>
            <a:r>
              <a:t>[Cunningham et al., 2023] - SAEs for GPT-2 (ICLR)</a:t>
            </a:r>
          </a:p>
          <a:p>
            <a:pPr>
              <a:spcAft>
                <a:spcPts val="300"/>
              </a:spcAft>
              <a:defRPr sz="1400">
                <a:solidFill>
                  <a:srgbClr val="1F2937"/>
                </a:solidFill>
              </a:defRPr>
            </a:pPr>
            <a:r>
              <a:t>      First demonstration that SAEs decompose activations into</a:t>
            </a:r>
          </a:p>
          <a:p>
            <a:pPr>
              <a:spcAft>
                <a:spcPts val="300"/>
              </a:spcAft>
              <a:defRPr sz="1400">
                <a:solidFill>
                  <a:srgbClr val="1F2937"/>
                </a:solidFill>
              </a:defRPr>
            </a:pPr>
            <a:r>
              <a:t>      interpretable, monosemantic features in text LLMs.</a:t>
            </a:r>
          </a:p>
          <a:p>
            <a:pPr>
              <a:spcAft>
                <a:spcPts val="300"/>
              </a:spcAft>
              <a:defRPr sz="600"/>
            </a:pPr>
          </a:p>
          <a:p>
            <a:pPr>
              <a:spcAft>
                <a:spcPts val="300"/>
              </a:spcAft>
              <a:defRPr sz="1500" b="1">
                <a:solidFill>
                  <a:srgbClr val="3B82F6"/>
                </a:solidFill>
              </a:defRPr>
            </a:pPr>
            <a:r>
              <a:t>[Bricken et al., 2023] - Monosemanticity at Scale (Anthropic)</a:t>
            </a:r>
          </a:p>
          <a:p>
            <a:pPr>
              <a:spcAft>
                <a:spcPts val="300"/>
              </a:spcAft>
              <a:defRPr sz="1400">
                <a:solidFill>
                  <a:srgbClr val="1F2937"/>
                </a:solidFill>
              </a:defRPr>
            </a:pPr>
            <a:r>
              <a:t>      Scaled SAEs to larger models; showed individual features</a:t>
            </a:r>
          </a:p>
          <a:p>
            <a:pPr>
              <a:spcAft>
                <a:spcPts val="300"/>
              </a:spcAft>
              <a:defRPr sz="1400">
                <a:solidFill>
                  <a:srgbClr val="1F2937"/>
                </a:solidFill>
              </a:defRPr>
            </a:pPr>
            <a:r>
              <a:t>      correspond to semantically meaningful concepts.</a:t>
            </a:r>
          </a:p>
          <a:p>
            <a:pPr>
              <a:spcAft>
                <a:spcPts val="300"/>
              </a:spcAft>
              <a:defRPr sz="600"/>
            </a:pPr>
          </a:p>
          <a:p>
            <a:pPr>
              <a:spcAft>
                <a:spcPts val="300"/>
              </a:spcAft>
              <a:defRPr sz="1500" b="1">
                <a:solidFill>
                  <a:srgbClr val="3B82F6"/>
                </a:solidFill>
              </a:defRPr>
            </a:pPr>
            <a:r>
              <a:t>[Templeton et al., 2024] - 34M Features on Claude (Anthropic)</a:t>
            </a:r>
          </a:p>
          <a:p>
            <a:pPr>
              <a:spcAft>
                <a:spcPts val="300"/>
              </a:spcAft>
              <a:defRPr sz="1400">
                <a:solidFill>
                  <a:srgbClr val="1F2937"/>
                </a:solidFill>
              </a:defRPr>
            </a:pPr>
            <a:r>
              <a:t>      Massive SAE with 34M features; identified safety-relevant</a:t>
            </a:r>
          </a:p>
          <a:p>
            <a:pPr>
              <a:spcAft>
                <a:spcPts val="300"/>
              </a:spcAft>
              <a:defRPr sz="1400">
                <a:solidFill>
                  <a:srgbClr val="1F2937"/>
                </a:solidFill>
              </a:defRPr>
            </a:pPr>
            <a:r>
              <a:t>      concepts (bias, deception, manipulation).</a:t>
            </a:r>
          </a:p>
          <a:p>
            <a:pPr>
              <a:spcAft>
                <a:spcPts val="300"/>
              </a:spcAft>
              <a:defRPr sz="600"/>
            </a:pPr>
          </a:p>
          <a:p>
            <a:pPr>
              <a:spcAft>
                <a:spcPts val="300"/>
              </a:spcAft>
              <a:defRPr sz="1400" b="1">
                <a:solidFill>
                  <a:srgbClr val="EA580C"/>
                </a:solidFill>
              </a:defRPr>
            </a:pPr>
            <a:r>
              <a:t>→ All prior SAE work is on TEXT-ONLY language models</a:t>
            </a:r>
          </a:p>
          <a:p>
            <a:pPr>
              <a:spcAft>
                <a:spcPts val="300"/>
              </a:spcAft>
              <a:defRPr sz="1400" b="1">
                <a:solidFill>
                  <a:srgbClr val="EA580C"/>
                </a:solidFill>
              </a:defRPr>
            </a:pPr>
            <a:r>
              <a:t>→ Our advance: FIRST application of SAEs to multimodal VLMs</a:t>
            </a:r>
          </a:p>
          <a:p>
            <a:pPr>
              <a:spcAft>
                <a:spcPts val="300"/>
              </a:spcAft>
              <a:defRPr sz="1400" b="1">
                <a:solidFill>
                  <a:srgbClr val="EA580C"/>
                </a:solidFill>
              </a:defRPr>
            </a:pPr>
            <a:r>
              <a:t>→ Our advance: Focus on gender bias features specifically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9FA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005840"/>
          </a:xfrm>
          <a:prstGeom prst="rect">
            <a:avLst/>
          </a:prstGeom>
          <a:solidFill>
            <a:srgbClr val="1937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228600"/>
            <a:ext cx="841248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FFFFFF"/>
                </a:solidFill>
              </a:defRPr>
            </a:pPr>
            <a:r>
              <a:t>Research Questions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1234440"/>
            <a:ext cx="841248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800" b="1">
                <a:solidFill>
                  <a:srgbClr val="EA580C"/>
                </a:solidFill>
              </a:defRPr>
            </a:pPr>
            <a:r>
              <a:t>★ RQ1: Can SAEs identify interpretable gender features in VLMs?</a:t>
            </a:r>
          </a:p>
          <a:p>
            <a:pPr lvl="1">
              <a:spcAft>
                <a:spcPts val="600"/>
              </a:spcAft>
              <a:defRPr sz="1600">
                <a:solidFill>
                  <a:srgbClr val="1F2937"/>
                </a:solidFill>
              </a:defRPr>
            </a:pPr>
            <a:r>
              <a:t>   Do sparse autoencoders decompose VLM activations into features</a:t>
            </a:r>
          </a:p>
          <a:p>
            <a:pPr lvl="1">
              <a:spcAft>
                <a:spcPts val="600"/>
              </a:spcAft>
              <a:defRPr sz="1600">
                <a:solidFill>
                  <a:srgbClr val="1F2937"/>
                </a:solidFill>
              </a:defRPr>
            </a:pPr>
            <a:r>
              <a:t>   that correspond to gender-related concepts?</a:t>
            </a:r>
          </a:p>
          <a:p>
            <a:pPr>
              <a:spcAft>
                <a:spcPts val="600"/>
              </a:spcAft>
              <a:defRPr sz="800">
                <a:solidFill>
                  <a:srgbClr val="1F2937"/>
                </a:solidFill>
              </a:defRPr>
            </a:pPr>
          </a:p>
          <a:p>
            <a:pPr>
              <a:spcAft>
                <a:spcPts val="600"/>
              </a:spcAft>
              <a:defRPr sz="1800" b="1">
                <a:solidFill>
                  <a:srgbClr val="EA580C"/>
                </a:solidFill>
              </a:defRPr>
            </a:pPr>
            <a:r>
              <a:t>★ RQ2: Do identified features have CAUSAL influence on output?</a:t>
            </a:r>
          </a:p>
          <a:p>
            <a:pPr lvl="1">
              <a:spcAft>
                <a:spcPts val="600"/>
              </a:spcAft>
              <a:defRPr sz="1600">
                <a:solidFill>
                  <a:srgbClr val="1F2937"/>
                </a:solidFill>
              </a:defRPr>
            </a:pPr>
            <a:r>
              <a:t>   Does ablating gender features actually change gendered language?</a:t>
            </a:r>
          </a:p>
          <a:p>
            <a:pPr lvl="1">
              <a:spcAft>
                <a:spcPts val="600"/>
              </a:spcAft>
              <a:defRPr sz="1600">
                <a:solidFill>
                  <a:srgbClr val="1F2937"/>
                </a:solidFill>
              </a:defRPr>
            </a:pPr>
            <a:r>
              <a:t>   Is the effect specific (vs random feature ablation)?</a:t>
            </a:r>
          </a:p>
          <a:p>
            <a:pPr>
              <a:spcAft>
                <a:spcPts val="600"/>
              </a:spcAft>
              <a:defRPr sz="800">
                <a:solidFill>
                  <a:srgbClr val="1F2937"/>
                </a:solidFill>
              </a:defRPr>
            </a:pPr>
          </a:p>
          <a:p>
            <a:pPr>
              <a:spcAft>
                <a:spcPts val="600"/>
              </a:spcAft>
              <a:defRPr sz="1800" b="1">
                <a:solidFill>
                  <a:srgbClr val="EA580C"/>
                </a:solidFill>
              </a:defRPr>
            </a:pPr>
            <a:r>
              <a:t>★ RQ3: How does gender encoding differ across architectures?</a:t>
            </a:r>
          </a:p>
          <a:p>
            <a:pPr lvl="1">
              <a:spcAft>
                <a:spcPts val="600"/>
              </a:spcAft>
              <a:defRPr sz="1600">
                <a:solidFill>
                  <a:srgbClr val="1F2937"/>
                </a:solidFill>
              </a:defRPr>
            </a:pPr>
            <a:r>
              <a:t>   Do different model types encode gender the same way?</a:t>
            </a:r>
          </a:p>
          <a:p>
            <a:pPr>
              <a:spcAft>
                <a:spcPts val="600"/>
              </a:spcAft>
              <a:defRPr sz="800">
                <a:solidFill>
                  <a:srgbClr val="1F2937"/>
                </a:solidFill>
              </a:defRPr>
            </a:pPr>
          </a:p>
          <a:p>
            <a:pPr>
              <a:spcAft>
                <a:spcPts val="600"/>
              </a:spcAft>
              <a:defRPr sz="1800" b="1">
                <a:solidFill>
                  <a:srgbClr val="EA580C"/>
                </a:solidFill>
              </a:defRPr>
            </a:pPr>
            <a:r>
              <a:t>★ RQ4: Are gender features shared across languages?</a:t>
            </a:r>
          </a:p>
          <a:p>
            <a:pPr lvl="1">
              <a:spcAft>
                <a:spcPts val="600"/>
              </a:spcAft>
              <a:defRPr sz="1600">
                <a:solidFill>
                  <a:srgbClr val="1F2937"/>
                </a:solidFill>
              </a:defRPr>
            </a:pPr>
            <a:r>
              <a:t>   Can debiasing in English automatically help Arabic (and vice versa)?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D558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828800"/>
            <a:ext cx="8229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200">
                <a:solidFill>
                  <a:srgbClr val="B4C8E6"/>
                </a:solidFill>
              </a:defRPr>
            </a:pPr>
            <a:r>
              <a:t>Part 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256032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800" b="1">
                <a:solidFill>
                  <a:srgbClr val="FFFFFF"/>
                </a:solidFill>
              </a:defRPr>
            </a:pPr>
            <a:r>
              <a:t>Methodology &amp; Technical Approach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023360"/>
            <a:ext cx="8229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800" i="1">
                <a:solidFill>
                  <a:srgbClr val="C8D2DC"/>
                </a:solidFill>
              </a:defRPr>
            </a:pPr>
            <a:r>
              <a:t>SAE architecture, training procedures, and intervention design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9FA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005840"/>
          </a:xfrm>
          <a:prstGeom prst="rect">
            <a:avLst/>
          </a:prstGeom>
          <a:solidFill>
            <a:srgbClr val="1937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228600"/>
            <a:ext cx="841248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FFFFFF"/>
                </a:solidFill>
              </a:defRPr>
            </a:pPr>
            <a:r>
              <a:t>Vision-Language Models Studied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" y="1097280"/>
            <a:ext cx="859536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 i="1">
                <a:solidFill>
                  <a:srgbClr val="1F2937"/>
                </a:solidFill>
              </a:defRPr>
            </a:pPr>
            <a:r>
              <a:t>Range from 2.9B to 10.6B parameters; both captioning and instruction-tuned architectures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182880" y="1463040"/>
          <a:ext cx="8778234" cy="2057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63039"/>
                <a:gridCol w="1463039"/>
                <a:gridCol w="1463039"/>
                <a:gridCol w="1463039"/>
                <a:gridCol w="1463039"/>
                <a:gridCol w="1463039"/>
              </a:tblGrid>
              <a:tr h="411480"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FFFFF"/>
                          </a:solidFill>
                        </a:defRPr>
                      </a:pPr>
                      <a:r>
                        <a:t>Model</a:t>
                      </a:r>
                    </a:p>
                  </a:txBody>
                  <a:tcPr>
                    <a:solidFill>
                      <a:srgbClr val="19375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FFFFF"/>
                          </a:solidFill>
                        </a:defRPr>
                      </a:pPr>
                      <a:r>
                        <a:t>Parameters</a:t>
                      </a:r>
                    </a:p>
                  </a:txBody>
                  <a:tcPr>
                    <a:solidFill>
                      <a:srgbClr val="19375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FFFFF"/>
                          </a:solidFill>
                        </a:defRPr>
                      </a:pPr>
                      <a:r>
                        <a:t>d_model</a:t>
                      </a:r>
                    </a:p>
                  </a:txBody>
                  <a:tcPr>
                    <a:solidFill>
                      <a:srgbClr val="19375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FFFFF"/>
                          </a:solidFill>
                        </a:defRPr>
                      </a:pPr>
                      <a:r>
                        <a:t>Layers</a:t>
                      </a:r>
                    </a:p>
                  </a:txBody>
                  <a:tcPr>
                    <a:solidFill>
                      <a:srgbClr val="19375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FFFFF"/>
                          </a:solidFill>
                        </a:defRPr>
                      </a:pPr>
                      <a:r>
                        <a:t>SAE Features</a:t>
                      </a:r>
                    </a:p>
                  </a:txBody>
                  <a:tcPr>
                    <a:solidFill>
                      <a:srgbClr val="19375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FFFFF"/>
                          </a:solidFill>
                        </a:defRPr>
                      </a:pPr>
                      <a:r>
                        <a:t>Type</a:t>
                      </a:r>
                    </a:p>
                  </a:txBody>
                  <a:tcPr>
                    <a:solidFill>
                      <a:srgbClr val="19375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1F2937"/>
                          </a:solidFill>
                        </a:defRPr>
                      </a:pPr>
                      <a:r>
                        <a:t>PaLiGemma-3B</a:t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1F2937"/>
                          </a:solidFill>
                        </a:defRPr>
                      </a:pPr>
                      <a:r>
                        <a:t>2.9B</a:t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1F2937"/>
                          </a:solidFill>
                        </a:defRPr>
                      </a:pPr>
                      <a:r>
                        <a:t>2,048</a:t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1F2937"/>
                          </a:solidFill>
                        </a:defRPr>
                      </a:pPr>
                      <a:r>
                        <a:t>18</a:t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1F2937"/>
                          </a:solidFill>
                        </a:defRPr>
                      </a:pPr>
                      <a:r>
                        <a:t>16,384</a:t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1F2937"/>
                          </a:solidFill>
                        </a:defRPr>
                      </a:pPr>
                      <a:r>
                        <a:t>Captioning</a:t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1F2937"/>
                          </a:solidFill>
                        </a:defRPr>
                      </a:pPr>
                      <a:r>
                        <a:t>Qwen2-VL-7B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1F2937"/>
                          </a:solidFill>
                        </a:defRPr>
                      </a:pPr>
                      <a:r>
                        <a:t>7.6B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1F2937"/>
                          </a:solidFill>
                        </a:defRPr>
                      </a:pPr>
                      <a:r>
                        <a:t>3,584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1F2937"/>
                          </a:solidFill>
                        </a:defRPr>
                      </a:pPr>
                      <a:r>
                        <a:t>28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1F2937"/>
                          </a:solidFill>
                        </a:defRPr>
                      </a:pPr>
                      <a:r>
                        <a:t>28,672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1F2937"/>
                          </a:solidFill>
                        </a:defRPr>
                      </a:pPr>
                      <a:r>
                        <a:t>Instruction-tuned</a:t>
                      </a:r>
                    </a:p>
                  </a:txBody>
                  <a:tcPr/>
                </a:tc>
              </a:tr>
              <a:tr h="411480"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1F2937"/>
                          </a:solidFill>
                        </a:defRPr>
                      </a:pPr>
                      <a:r>
                        <a:t>LLaVA-1.5-7B</a:t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1F2937"/>
                          </a:solidFill>
                        </a:defRPr>
                      </a:pPr>
                      <a:r>
                        <a:t>7.1B</a:t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1F2937"/>
                          </a:solidFill>
                        </a:defRPr>
                      </a:pPr>
                      <a:r>
                        <a:t>4,096</a:t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1F2937"/>
                          </a:solidFill>
                        </a:defRPr>
                      </a:pPr>
                      <a:r>
                        <a:t>32</a:t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1F2937"/>
                          </a:solidFill>
                        </a:defRPr>
                      </a:pPr>
                      <a:r>
                        <a:t>32,768</a:t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1F2937"/>
                          </a:solidFill>
                        </a:defRPr>
                      </a:pPr>
                      <a:r>
                        <a:t>Instruction-tuned</a:t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1F2937"/>
                          </a:solidFill>
                        </a:defRPr>
                      </a:pPr>
                      <a:r>
                        <a:t>Llama-3.2-11B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1F2937"/>
                          </a:solidFill>
                        </a:defRPr>
                      </a:pPr>
                      <a:r>
                        <a:t>10.6B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1F2937"/>
                          </a:solidFill>
                        </a:defRPr>
                      </a:pPr>
                      <a:r>
                        <a:t>4,096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1F2937"/>
                          </a:solidFill>
                        </a:defRPr>
                      </a:pPr>
                      <a:r>
                        <a:t>40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1F2937"/>
                          </a:solidFill>
                        </a:defRPr>
                      </a:pPr>
                      <a:r>
                        <a:t>32,768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1F2937"/>
                          </a:solidFill>
                        </a:defRPr>
                      </a:pPr>
                      <a:r>
                        <a:t>Instruction-tuned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9FA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005840"/>
          </a:xfrm>
          <a:prstGeom prst="rect">
            <a:avLst/>
          </a:prstGeom>
          <a:solidFill>
            <a:srgbClr val="1937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228600"/>
            <a:ext cx="841248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FFFFFF"/>
                </a:solidFill>
              </a:defRPr>
            </a:pPr>
            <a:r>
              <a:t>Layer Selection: Justification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1234440"/>
            <a:ext cx="841248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700">
                <a:solidFill>
                  <a:srgbClr val="1F2937"/>
                </a:solidFill>
              </a:defRPr>
            </a:pPr>
            <a:r>
              <a:t>• Intervention layers selected at ~50th percentile of model depth:</a:t>
            </a:r>
          </a:p>
          <a:p>
            <a:pPr>
              <a:spcAft>
                <a:spcPts val="600"/>
              </a:spcAft>
              <a:defRPr sz="800">
                <a:solidFill>
                  <a:srgbClr val="1F2937"/>
                </a:solidFill>
              </a:defRPr>
            </a:pPr>
          </a:p>
          <a:p>
            <a:pPr>
              <a:spcAft>
                <a:spcPts val="600"/>
              </a:spcAft>
              <a:defRPr sz="1800" b="1">
                <a:solidFill>
                  <a:srgbClr val="EA580C"/>
                </a:solidFill>
              </a:defRPr>
            </a:pPr>
            <a:r>
              <a:t>★ PaLiGemma-3B: Layer 9 (50%), Layer 17 as negative control</a:t>
            </a:r>
          </a:p>
          <a:p>
            <a:pPr>
              <a:spcAft>
                <a:spcPts val="600"/>
              </a:spcAft>
              <a:defRPr sz="1800" b="1">
                <a:solidFill>
                  <a:srgbClr val="EA580C"/>
                </a:solidFill>
              </a:defRPr>
            </a:pPr>
            <a:r>
              <a:t>★ Qwen2-VL-7B: Layer 12 (43%)</a:t>
            </a:r>
          </a:p>
          <a:p>
            <a:pPr>
              <a:spcAft>
                <a:spcPts val="600"/>
              </a:spcAft>
              <a:defRPr sz="1800" b="1">
                <a:solidFill>
                  <a:srgbClr val="EA580C"/>
                </a:solidFill>
              </a:defRPr>
            </a:pPr>
            <a:r>
              <a:t>★ Llama-3.2-11B: Layer 20 (50%)</a:t>
            </a:r>
          </a:p>
          <a:p>
            <a:pPr>
              <a:spcAft>
                <a:spcPts val="600"/>
              </a:spcAft>
              <a:defRPr sz="800">
                <a:solidFill>
                  <a:srgbClr val="1F2937"/>
                </a:solidFill>
              </a:defRPr>
            </a:pPr>
          </a:p>
          <a:p>
            <a:pPr>
              <a:spcAft>
                <a:spcPts val="600"/>
              </a:spcAft>
              <a:defRPr sz="1700">
                <a:solidFill>
                  <a:srgbClr val="16A34A"/>
                </a:solidFill>
              </a:defRPr>
            </a:pPr>
            <a:r>
              <a:t>✓ Justification from literature:</a:t>
            </a:r>
          </a:p>
          <a:p>
            <a:pPr lvl="1">
              <a:spcAft>
                <a:spcPts val="600"/>
              </a:spcAft>
              <a:defRPr sz="1600">
                <a:solidFill>
                  <a:srgbClr val="1F2937"/>
                </a:solidFill>
              </a:defRPr>
            </a:pPr>
            <a:r>
              <a:t>   Cunningham et al. (2023): Mid-layers encode richest semantic features</a:t>
            </a:r>
          </a:p>
          <a:p>
            <a:pPr lvl="1">
              <a:spcAft>
                <a:spcPts val="600"/>
              </a:spcAft>
              <a:defRPr sz="1600">
                <a:solidFill>
                  <a:srgbClr val="1F2937"/>
                </a:solidFill>
              </a:defRPr>
            </a:pPr>
            <a:r>
              <a:t>   Templeton et al. (2024): Early layers = low-level, late = output formatting</a:t>
            </a:r>
          </a:p>
          <a:p>
            <a:pPr lvl="1">
              <a:spcAft>
                <a:spcPts val="600"/>
              </a:spcAft>
              <a:defRPr sz="1600">
                <a:solidFill>
                  <a:srgbClr val="1F2937"/>
                </a:solidFill>
              </a:defRPr>
            </a:pPr>
            <a:r>
              <a:t>   50th percentile balances feature richness vs output proximity</a:t>
            </a:r>
          </a:p>
          <a:p>
            <a:pPr>
              <a:spcAft>
                <a:spcPts val="600"/>
              </a:spcAft>
              <a:defRPr sz="800">
                <a:solidFill>
                  <a:srgbClr val="1F2937"/>
                </a:solidFill>
              </a:defRPr>
            </a:pPr>
          </a:p>
          <a:p>
            <a:pPr>
              <a:spcAft>
                <a:spcPts val="600"/>
              </a:spcAft>
              <a:defRPr sz="1700">
                <a:solidFill>
                  <a:srgbClr val="16A34A"/>
                </a:solidFill>
              </a:defRPr>
            </a:pPr>
            <a:r>
              <a:t>✓ L17 (PaLiGemma) serves as negative control:</a:t>
            </a:r>
          </a:p>
          <a:p>
            <a:pPr lvl="1">
              <a:spcAft>
                <a:spcPts val="600"/>
              </a:spcAft>
              <a:defRPr sz="1600">
                <a:solidFill>
                  <a:srgbClr val="1F2937"/>
                </a:solidFill>
              </a:defRPr>
            </a:pPr>
            <a:r>
              <a:t>   Penultimate layer should not carry semantic gender content</a:t>
            </a:r>
          </a:p>
          <a:p>
            <a:pPr lvl="1">
              <a:spcAft>
                <a:spcPts val="600"/>
              </a:spcAft>
              <a:defRPr sz="1600">
                <a:solidFill>
                  <a:srgbClr val="1F2937"/>
                </a:solidFill>
              </a:defRPr>
            </a:pPr>
            <a:r>
              <a:t>   If it shows no effect, confirms layer specificity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9FA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005840"/>
          </a:xfrm>
          <a:prstGeom prst="rect">
            <a:avLst/>
          </a:prstGeom>
          <a:solidFill>
            <a:srgbClr val="1937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228600"/>
            <a:ext cx="841248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FFFFFF"/>
                </a:solidFill>
              </a:defRPr>
            </a:pPr>
            <a:r>
              <a:t>Dataset: Flickr8K Bilingual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1234440"/>
            <a:ext cx="841248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800" b="1">
                <a:solidFill>
                  <a:srgbClr val="EA580C"/>
                </a:solidFill>
              </a:defRPr>
            </a:pPr>
            <a:r>
              <a:t>★ Flickr8K (Hodosh et al., 2013)</a:t>
            </a:r>
          </a:p>
          <a:p>
            <a:pPr lvl="1">
              <a:spcAft>
                <a:spcPts val="600"/>
              </a:spcAft>
              <a:defRPr sz="1600">
                <a:solidFill>
                  <a:srgbClr val="1F2937"/>
                </a:solidFill>
              </a:defRPr>
            </a:pPr>
            <a:r>
              <a:t>   8,092 images with bilingual English-Arabic caption pairs</a:t>
            </a:r>
          </a:p>
          <a:p>
            <a:pPr lvl="1">
              <a:spcAft>
                <a:spcPts val="600"/>
              </a:spcAft>
              <a:defRPr sz="1600">
                <a:solidFill>
                  <a:srgbClr val="1F2937"/>
                </a:solidFill>
              </a:defRPr>
            </a:pPr>
            <a:r>
              <a:t>   Established benchmark for image captioning research</a:t>
            </a:r>
          </a:p>
          <a:p>
            <a:pPr>
              <a:spcAft>
                <a:spcPts val="600"/>
              </a:spcAft>
              <a:defRPr sz="800">
                <a:solidFill>
                  <a:srgbClr val="1F2937"/>
                </a:solidFill>
              </a:defRPr>
            </a:pPr>
          </a:p>
          <a:p>
            <a:pPr>
              <a:spcAft>
                <a:spcPts val="600"/>
              </a:spcAft>
              <a:defRPr sz="1800" b="1">
                <a:solidFill>
                  <a:srgbClr val="EA580C"/>
                </a:solidFill>
              </a:defRPr>
            </a:pPr>
            <a:r>
              <a:t>★ Gender labels from caption content (keyword matching)</a:t>
            </a:r>
          </a:p>
          <a:p>
            <a:pPr lvl="1">
              <a:spcAft>
                <a:spcPts val="600"/>
              </a:spcAft>
              <a:defRPr sz="1600">
                <a:solidFill>
                  <a:srgbClr val="1F2937"/>
                </a:solidFill>
              </a:defRPr>
            </a:pPr>
            <a:r>
              <a:t>   Male samples: 5,562 | Female samples: 2,047</a:t>
            </a:r>
          </a:p>
          <a:p>
            <a:pPr lvl="1">
              <a:spcAft>
                <a:spcPts val="600"/>
              </a:spcAft>
              <a:defRPr sz="1600">
                <a:solidFill>
                  <a:srgbClr val="1F2937"/>
                </a:solidFill>
              </a:defRPr>
            </a:pPr>
            <a:r>
              <a:t>   Ratio 2.7:1 (reflects inherent dataset bias)</a:t>
            </a:r>
          </a:p>
          <a:p>
            <a:pPr>
              <a:spcAft>
                <a:spcPts val="600"/>
              </a:spcAft>
              <a:defRPr sz="800">
                <a:solidFill>
                  <a:srgbClr val="1F2937"/>
                </a:solidFill>
              </a:defRPr>
            </a:pPr>
          </a:p>
          <a:p>
            <a:pPr>
              <a:spcAft>
                <a:spcPts val="600"/>
              </a:spcAft>
              <a:defRPr sz="1800" b="1">
                <a:solidFill>
                  <a:srgbClr val="EA580C"/>
                </a:solidFill>
              </a:defRPr>
            </a:pPr>
            <a:r>
              <a:t>★ Why Flickr8K is SUFFICIENT for this work:</a:t>
            </a:r>
          </a:p>
          <a:p>
            <a:pPr lvl="1">
              <a:spcAft>
                <a:spcPts val="600"/>
              </a:spcAft>
              <a:defRPr sz="1600">
                <a:solidFill>
                  <a:srgbClr val="1F2937"/>
                </a:solidFill>
              </a:defRPr>
            </a:pPr>
            <a:r>
              <a:t>   We analyze INTERNAL ACTIVATIONS, not train new models</a:t>
            </a:r>
          </a:p>
          <a:p>
            <a:pPr lvl="1">
              <a:spcAft>
                <a:spcPts val="600"/>
              </a:spcAft>
              <a:defRPr sz="1600">
                <a:solidFill>
                  <a:srgbClr val="1F2937"/>
                </a:solidFill>
              </a:defRPr>
            </a:pPr>
            <a:r>
              <a:t>   8,092 images → up to 10,000 activation samples per model</a:t>
            </a:r>
          </a:p>
          <a:p>
            <a:pPr lvl="1">
              <a:spcAft>
                <a:spcPts val="600"/>
              </a:spcAft>
              <a:defRPr sz="1600">
                <a:solidFill>
                  <a:srgbClr val="1F2937"/>
                </a:solidFill>
              </a:defRPr>
            </a:pPr>
            <a:r>
              <a:t>   SAEs reconstruct activation distribution, not generalize to new images</a:t>
            </a:r>
          </a:p>
          <a:p>
            <a:pPr lvl="1">
              <a:spcAft>
                <a:spcPts val="600"/>
              </a:spcAft>
              <a:defRPr sz="1600">
                <a:solidFill>
                  <a:srgbClr val="1F2937"/>
                </a:solidFill>
              </a:defRPr>
            </a:pPr>
            <a:r>
              <a:t>   Consistent with Cunningham et al. (2023), Bricken et al. (2023)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309360"/>
            <a:ext cx="84124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i="1">
                <a:solidFill>
                  <a:srgbClr val="646464"/>
                </a:solidFill>
              </a:defRPr>
            </a:pPr>
            <a:r>
              <a:t>Gender terms: he, she, him, her, his, hers, man, woman, boy, girl, men, women, boys, girls, male, female (16 total)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9FA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937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64592"/>
            <a:ext cx="841248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FFFFFF"/>
                </a:solidFill>
              </a:defRPr>
            </a:pPr>
            <a:r>
              <a:t>Four-Stage Pipeline Overview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86868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 i="1">
                <a:solidFill>
                  <a:srgbClr val="1F2937"/>
                </a:solidFill>
              </a:defRPr>
            </a:pPr>
            <a:r>
              <a:t>Each stage has rigorous methodological justification</a:t>
            </a:r>
          </a:p>
        </p:txBody>
      </p:sp>
      <p:pic>
        <p:nvPicPr>
          <p:cNvPr id="5" name="Picture 4" descr="fig1_pipeline_overview_ne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234440"/>
            <a:ext cx="8595360" cy="613012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274320" y="6172200"/>
            <a:ext cx="859536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100" i="1">
                <a:solidFill>
                  <a:srgbClr val="505050"/>
                </a:solidFill>
              </a:defRPr>
            </a:pPr>
            <a:r>
              <a:t>Complete pipeline: Data → Extraction → SAE Training → Feature ID → Causal Intervention → Cross-lingual Analysis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9FA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005840"/>
          </a:xfrm>
          <a:prstGeom prst="rect">
            <a:avLst/>
          </a:prstGeom>
          <a:solidFill>
            <a:srgbClr val="1937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228600"/>
            <a:ext cx="841248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FFFFFF"/>
                </a:solidFill>
              </a:defRPr>
            </a:pPr>
            <a:r>
              <a:t>SAE Architecture: Mathematical Formulation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1280160"/>
            <a:ext cx="8229600" cy="640080"/>
          </a:xfrm>
          <a:prstGeom prst="roundRect">
            <a:avLst/>
          </a:prstGeom>
          <a:solidFill>
            <a:srgbClr val="F8FAFC"/>
          </a:solidFill>
          <a:ln>
            <a:solidFill>
              <a:srgbClr val="3B82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417319"/>
            <a:ext cx="786384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800">
                <a:solidFill>
                  <a:srgbClr val="1F2937"/>
                </a:solidFill>
                <a:latin typeface="Consolas"/>
              </a:defRPr>
            </a:pPr>
            <a:r>
              <a:t>h = ReLU(W_enc · x + b_enc)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965960"/>
            <a:ext cx="78638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>
                <a:solidFill>
                  <a:srgbClr val="505050"/>
                </a:solidFill>
              </a:defRPr>
            </a:pPr>
            <a:r>
              <a:t>Encoder: Map d_model → n_features (8× expansion). ReLU enforces sparsity.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8229600" cy="640080"/>
          </a:xfrm>
          <a:prstGeom prst="roundRect">
            <a:avLst/>
          </a:prstGeom>
          <a:solidFill>
            <a:srgbClr val="F8FAFC"/>
          </a:solidFill>
          <a:ln>
            <a:solidFill>
              <a:srgbClr val="3B82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2788920"/>
            <a:ext cx="786384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800">
                <a:solidFill>
                  <a:srgbClr val="1F2937"/>
                </a:solidFill>
                <a:latin typeface="Consolas"/>
              </a:defRPr>
            </a:pPr>
            <a:r>
              <a:t>x̂ = W_dec · h + b_dec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3337560"/>
            <a:ext cx="78638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>
                <a:solidFill>
                  <a:srgbClr val="505050"/>
                </a:solidFill>
              </a:defRPr>
            </a:pPr>
            <a:r>
              <a:t>Decoder: Reconstruct original activations from sparse representation.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57200" y="4023360"/>
            <a:ext cx="8229600" cy="640080"/>
          </a:xfrm>
          <a:prstGeom prst="roundRect">
            <a:avLst/>
          </a:prstGeom>
          <a:solidFill>
            <a:srgbClr val="F8FAFC"/>
          </a:solidFill>
          <a:ln>
            <a:solidFill>
              <a:srgbClr val="3B82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0080" y="4160520"/>
            <a:ext cx="786384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800">
                <a:solidFill>
                  <a:srgbClr val="1F2937"/>
                </a:solidFill>
                <a:latin typeface="Consolas"/>
              </a:defRPr>
            </a:pPr>
            <a:r>
              <a:t>L = MSE(x, x̂) + λ · ||h||₁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4709160"/>
            <a:ext cx="78638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>
                <a:solidFill>
                  <a:srgbClr val="505050"/>
                </a:solidFill>
              </a:defRPr>
            </a:pPr>
            <a:r>
              <a:t>Loss: Reconstruction fidelity + L1 sparsity penalty (λ = 10⁻⁴ for PaLiGemma, 5×10⁻⁴ for Qwen)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9FA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005840"/>
          </a:xfrm>
          <a:prstGeom prst="rect">
            <a:avLst/>
          </a:prstGeom>
          <a:solidFill>
            <a:srgbClr val="1937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228600"/>
            <a:ext cx="841248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FFFFFF"/>
                </a:solidFill>
              </a:defRPr>
            </a:pPr>
            <a:r>
              <a:t>SAE Training: Hyperparameters &amp; Justifications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1234440"/>
            <a:ext cx="841248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800" b="1">
                <a:solidFill>
                  <a:srgbClr val="EA580C"/>
                </a:solidFill>
              </a:defRPr>
            </a:pPr>
            <a:r>
              <a:t>★ Architecture choices:</a:t>
            </a:r>
          </a:p>
          <a:p>
            <a:pPr lvl="1">
              <a:spcAft>
                <a:spcPts val="600"/>
              </a:spcAft>
              <a:defRPr sz="1600">
                <a:solidFill>
                  <a:srgbClr val="1F2937"/>
                </a:solidFill>
              </a:defRPr>
            </a:pPr>
            <a:r>
              <a:t>   Expansion factor: 8× (standard in SAE literature)</a:t>
            </a:r>
          </a:p>
          <a:p>
            <a:pPr lvl="1">
              <a:spcAft>
                <a:spcPts val="600"/>
              </a:spcAft>
              <a:defRPr sz="1600">
                <a:solidFill>
                  <a:srgbClr val="1F2937"/>
                </a:solidFill>
              </a:defRPr>
            </a:pPr>
            <a:r>
              <a:t>   Activation: Vanilla ReLU (baseline; TopK/JumpReLU for future work)</a:t>
            </a:r>
          </a:p>
          <a:p>
            <a:pPr>
              <a:spcAft>
                <a:spcPts val="600"/>
              </a:spcAft>
              <a:defRPr sz="800">
                <a:solidFill>
                  <a:srgbClr val="1F2937"/>
                </a:solidFill>
              </a:defRPr>
            </a:pPr>
          </a:p>
          <a:p>
            <a:pPr>
              <a:spcAft>
                <a:spcPts val="600"/>
              </a:spcAft>
              <a:defRPr sz="1800" b="1">
                <a:solidFill>
                  <a:srgbClr val="EA580C"/>
                </a:solidFill>
              </a:defRPr>
            </a:pPr>
            <a:r>
              <a:t>★ Training hyperparameters:</a:t>
            </a:r>
          </a:p>
          <a:p>
            <a:pPr lvl="1">
              <a:spcAft>
                <a:spcPts val="600"/>
              </a:spcAft>
              <a:defRPr sz="1600">
                <a:solidFill>
                  <a:srgbClr val="1F2937"/>
                </a:solidFill>
              </a:defRPr>
            </a:pPr>
            <a:r>
              <a:t>   Learning rate: 10⁻⁴ with AdamW optimizer</a:t>
            </a:r>
          </a:p>
          <a:p>
            <a:pPr lvl="1">
              <a:spcAft>
                <a:spcPts val="600"/>
              </a:spcAft>
              <a:defRPr sz="1600">
                <a:solidFill>
                  <a:srgbClr val="1F2937"/>
                </a:solidFill>
              </a:defRPr>
            </a:pPr>
            <a:r>
              <a:t>   Batch size: 256 (fits GPU memory, sufficient gradient estimation)</a:t>
            </a:r>
          </a:p>
          <a:p>
            <a:pPr lvl="1">
              <a:spcAft>
                <a:spcPts val="600"/>
              </a:spcAft>
              <a:defRPr sz="1600">
                <a:solidFill>
                  <a:srgbClr val="1F2937"/>
                </a:solidFill>
              </a:defRPr>
            </a:pPr>
            <a:r>
              <a:t>   Epochs: 50 with early stopping (patience=10, min_delta=10⁻⁵)</a:t>
            </a:r>
          </a:p>
          <a:p>
            <a:pPr lvl="1">
              <a:spcAft>
                <a:spcPts val="600"/>
              </a:spcAft>
              <a:defRPr sz="1600">
                <a:solidFill>
                  <a:srgbClr val="1F2937"/>
                </a:solidFill>
              </a:defRPr>
            </a:pPr>
            <a:r>
              <a:t>   Train/Val split: 90% / 10%</a:t>
            </a:r>
          </a:p>
          <a:p>
            <a:pPr>
              <a:spcAft>
                <a:spcPts val="600"/>
              </a:spcAft>
              <a:defRPr sz="800">
                <a:solidFill>
                  <a:srgbClr val="1F2937"/>
                </a:solidFill>
              </a:defRPr>
            </a:pPr>
          </a:p>
          <a:p>
            <a:pPr>
              <a:spcAft>
                <a:spcPts val="600"/>
              </a:spcAft>
              <a:defRPr sz="1800" b="1">
                <a:solidFill>
                  <a:srgbClr val="EA580C"/>
                </a:solidFill>
              </a:defRPr>
            </a:pPr>
            <a:r>
              <a:t>★ Critical design decision:</a:t>
            </a:r>
          </a:p>
          <a:p>
            <a:pPr lvl="1">
              <a:spcAft>
                <a:spcPts val="600"/>
              </a:spcAft>
              <a:defRPr sz="1600">
                <a:solidFill>
                  <a:srgbClr val="1F2937"/>
                </a:solidFill>
              </a:defRPr>
            </a:pPr>
            <a:r>
              <a:t>   Activations are MEAN-POOLED across sequence positions</a:t>
            </a:r>
          </a:p>
          <a:p>
            <a:pPr lvl="1">
              <a:spcAft>
                <a:spcPts val="600"/>
              </a:spcAft>
              <a:defRPr sz="1600">
                <a:solidFill>
                  <a:srgbClr val="1F2937"/>
                </a:solidFill>
              </a:defRPr>
            </a:pPr>
            <a:r>
              <a:t>   One [d_model] vector per image-caption pair</a:t>
            </a:r>
          </a:p>
          <a:p>
            <a:pPr lvl="1">
              <a:spcAft>
                <a:spcPts val="600"/>
              </a:spcAft>
              <a:defRPr sz="1600">
                <a:solidFill>
                  <a:srgbClr val="1F2937"/>
                </a:solidFill>
              </a:defRPr>
            </a:pPr>
            <a:r>
              <a:t>   Trade-off: Simpler training vs. mismatch with per-token intervention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9FA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005840"/>
          </a:xfrm>
          <a:prstGeom prst="rect">
            <a:avLst/>
          </a:prstGeom>
          <a:solidFill>
            <a:srgbClr val="1937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228600"/>
            <a:ext cx="841248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FFFFFF"/>
                </a:solidFill>
              </a:defRPr>
            </a:pPr>
            <a:r>
              <a:t>Activation Extraction: Per-Model Details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" y="1097280"/>
            <a:ext cx="859536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 i="1">
                <a:solidFill>
                  <a:srgbClr val="1F2937"/>
                </a:solidFill>
              </a:defRPr>
            </a:pPr>
            <a:r>
              <a:t>Sample counts vary due to extraction failures; activations from LANGUAGE MODEL DECODER (not visual encoder)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182880" y="1463040"/>
          <a:ext cx="8778240" cy="2057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55648"/>
                <a:gridCol w="1755648"/>
                <a:gridCol w="1755648"/>
                <a:gridCol w="1755648"/>
                <a:gridCol w="1755648"/>
              </a:tblGrid>
              <a:tr h="411480"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FFFFF"/>
                          </a:solidFill>
                        </a:defRPr>
                      </a:pPr>
                      <a:r>
                        <a:t>Model</a:t>
                      </a:r>
                    </a:p>
                  </a:txBody>
                  <a:tcPr>
                    <a:solidFill>
                      <a:srgbClr val="19375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FFFFF"/>
                          </a:solidFill>
                        </a:defRPr>
                      </a:pPr>
                      <a:r>
                        <a:t>N Samples</a:t>
                      </a:r>
                    </a:p>
                  </a:txBody>
                  <a:tcPr>
                    <a:solidFill>
                      <a:srgbClr val="19375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FFFFF"/>
                          </a:solidFill>
                        </a:defRPr>
                      </a:pPr>
                      <a:r>
                        <a:t>Layers</a:t>
                      </a:r>
                    </a:p>
                  </a:txBody>
                  <a:tcPr>
                    <a:solidFill>
                      <a:srgbClr val="19375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FFFFF"/>
                          </a:solidFill>
                        </a:defRPr>
                      </a:pPr>
                      <a:r>
                        <a:t>Shape</a:t>
                      </a:r>
                    </a:p>
                  </a:txBody>
                  <a:tcPr>
                    <a:solidFill>
                      <a:srgbClr val="19375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FFFFF"/>
                          </a:solidFill>
                        </a:defRPr>
                      </a:pPr>
                      <a:r>
                        <a:t>Source</a:t>
                      </a:r>
                    </a:p>
                  </a:txBody>
                  <a:tcPr>
                    <a:solidFill>
                      <a:srgbClr val="19375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1F2937"/>
                          </a:solidFill>
                        </a:defRPr>
                      </a:pPr>
                      <a:r>
                        <a:t>PaLiGemma-3B</a:t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1F2937"/>
                          </a:solidFill>
                        </a:defRPr>
                      </a:pPr>
                      <a:r>
                        <a:t>10,000</a:t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1F2937"/>
                          </a:solidFill>
                        </a:defRPr>
                      </a:pPr>
                      <a:r>
                        <a:t>0,3,6,9,12,15,17</a:t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1F2937"/>
                          </a:solidFill>
                        </a:defRPr>
                      </a:pPr>
                      <a:r>
                        <a:t>[10K, 2048]</a:t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1F2937"/>
                          </a:solidFill>
                        </a:defRPr>
                      </a:pPr>
                      <a:r>
                        <a:t>Flickr8K subset</a:t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1F2937"/>
                          </a:solidFill>
                        </a:defRPr>
                      </a:pPr>
                      <a:r>
                        <a:t>Qwen2-VL-7B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1F2937"/>
                          </a:solidFill>
                        </a:defRPr>
                      </a:pPr>
                      <a:r>
                        <a:t>7,609 EN / 6,413 AR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1F2937"/>
                          </a:solidFill>
                        </a:defRPr>
                      </a:pPr>
                      <a:r>
                        <a:t>0,4,8,...,27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1F2937"/>
                          </a:solidFill>
                        </a:defRPr>
                      </a:pPr>
                      <a:r>
                        <a:t>[7.6K, 3584]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1F2937"/>
                          </a:solidFill>
                        </a:defRPr>
                      </a:pPr>
                      <a:r>
                        <a:t>Gender-labeled</a:t>
                      </a:r>
                    </a:p>
                  </a:txBody>
                  <a:tcPr/>
                </a:tc>
              </a:tr>
              <a:tr h="411480"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1F2937"/>
                          </a:solidFill>
                        </a:defRPr>
                      </a:pPr>
                      <a:r>
                        <a:t>LLaVA-1.5-7B</a:t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1F2937"/>
                          </a:solidFill>
                        </a:defRPr>
                      </a:pPr>
                      <a:r>
                        <a:t>5,249 EN / 4,449 AR</a:t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1F2937"/>
                          </a:solidFill>
                        </a:defRPr>
                      </a:pPr>
                      <a:r>
                        <a:t>0,4,8,...,31</a:t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1F2937"/>
                          </a:solidFill>
                        </a:defRPr>
                      </a:pPr>
                      <a:r>
                        <a:t>[5.2K, 4096]</a:t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1F2937"/>
                          </a:solidFill>
                        </a:defRPr>
                      </a:pPr>
                      <a:r>
                        <a:t>Gender-labeled</a:t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1F2937"/>
                          </a:solidFill>
                        </a:defRPr>
                      </a:pPr>
                      <a:r>
                        <a:t>Llama-3.2-11B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1F2937"/>
                          </a:solidFill>
                        </a:defRPr>
                      </a:pPr>
                      <a:r>
                        <a:t>5,249 EN / ~5K AR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1F2937"/>
                          </a:solidFill>
                        </a:defRPr>
                      </a:pPr>
                      <a:r>
                        <a:t>0,5,10,...,39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1F2937"/>
                          </a:solidFill>
                        </a:defRPr>
                      </a:pPr>
                      <a:r>
                        <a:t>[5.2K, 4096]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1F2937"/>
                          </a:solidFill>
                        </a:defRPr>
                      </a:pPr>
                      <a:r>
                        <a:t>Gender-labeled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9FA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005840"/>
          </a:xfrm>
          <a:prstGeom prst="rect">
            <a:avLst/>
          </a:prstGeom>
          <a:solidFill>
            <a:srgbClr val="1937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228600"/>
            <a:ext cx="841248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FFFFFF"/>
                </a:solidFill>
              </a:defRPr>
            </a:pPr>
            <a:r>
              <a:t>Gender Feature Identification: Method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1234440"/>
            <a:ext cx="841248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800" b="1">
                <a:solidFill>
                  <a:srgbClr val="EA580C"/>
                </a:solidFill>
              </a:defRPr>
            </a:pPr>
            <a:r>
              <a:t>★ Goal: Identify SAE features that distinguish male vs female samples</a:t>
            </a:r>
          </a:p>
          <a:p>
            <a:pPr>
              <a:spcAft>
                <a:spcPts val="600"/>
              </a:spcAft>
              <a:defRPr sz="800">
                <a:solidFill>
                  <a:srgbClr val="1F2937"/>
                </a:solidFill>
              </a:defRPr>
            </a:pPr>
          </a:p>
          <a:p>
            <a:pPr>
              <a:spcAft>
                <a:spcPts val="600"/>
              </a:spcAft>
              <a:defRPr sz="1800" b="1">
                <a:solidFill>
                  <a:srgbClr val="EA580C"/>
                </a:solidFill>
              </a:defRPr>
            </a:pPr>
            <a:r>
              <a:t>★ Method: Differential activation analysis</a:t>
            </a:r>
          </a:p>
          <a:p>
            <a:pPr lvl="1">
              <a:spcAft>
                <a:spcPts val="600"/>
              </a:spcAft>
              <a:defRPr sz="1600">
                <a:solidFill>
                  <a:srgbClr val="1F2937"/>
                </a:solidFill>
              </a:defRPr>
            </a:pPr>
            <a:r>
              <a:t>   1. Extract activations for all gender-labeled samples</a:t>
            </a:r>
          </a:p>
          <a:p>
            <a:pPr lvl="1">
              <a:spcAft>
                <a:spcPts val="600"/>
              </a:spcAft>
              <a:defRPr sz="1600">
                <a:solidFill>
                  <a:srgbClr val="1F2937"/>
                </a:solidFill>
              </a:defRPr>
            </a:pPr>
            <a:r>
              <a:t>   2. Pass through trained SAE encoder → feature activations</a:t>
            </a:r>
          </a:p>
          <a:p>
            <a:pPr lvl="1">
              <a:spcAft>
                <a:spcPts val="600"/>
              </a:spcAft>
              <a:defRPr sz="1600">
                <a:solidFill>
                  <a:srgbClr val="1F2937"/>
                </a:solidFill>
              </a:defRPr>
            </a:pPr>
            <a:r>
              <a:t>   3. Compute mean activation per feature for male vs female</a:t>
            </a:r>
          </a:p>
          <a:p>
            <a:pPr lvl="1">
              <a:spcAft>
                <a:spcPts val="600"/>
              </a:spcAft>
              <a:defRPr sz="1600">
                <a:solidFill>
                  <a:srgbClr val="1F2937"/>
                </a:solidFill>
              </a:defRPr>
            </a:pPr>
            <a:r>
              <a:t>   4. Rank by |mean_male - mean_female| (absolute differential)</a:t>
            </a:r>
          </a:p>
          <a:p>
            <a:pPr lvl="1">
              <a:spcAft>
                <a:spcPts val="600"/>
              </a:spcAft>
              <a:defRPr sz="1600">
                <a:solidFill>
                  <a:srgbClr val="1F2937"/>
                </a:solidFill>
              </a:defRPr>
            </a:pPr>
            <a:r>
              <a:t>   5. Select top-k features (k = 100)</a:t>
            </a:r>
          </a:p>
          <a:p>
            <a:pPr>
              <a:spcAft>
                <a:spcPts val="600"/>
              </a:spcAft>
              <a:defRPr sz="800">
                <a:solidFill>
                  <a:srgbClr val="1F2937"/>
                </a:solidFill>
              </a:defRPr>
            </a:pPr>
          </a:p>
          <a:p>
            <a:pPr>
              <a:spcAft>
                <a:spcPts val="600"/>
              </a:spcAft>
              <a:defRPr sz="1800" b="1">
                <a:solidFill>
                  <a:srgbClr val="EA580C"/>
                </a:solidFill>
              </a:defRPr>
            </a:pPr>
            <a:r>
              <a:t>★ Why k = 100?</a:t>
            </a:r>
          </a:p>
          <a:p>
            <a:pPr lvl="1">
              <a:spcAft>
                <a:spcPts val="600"/>
              </a:spcAft>
              <a:defRPr sz="1600">
                <a:solidFill>
                  <a:srgbClr val="1F2937"/>
                </a:solidFill>
              </a:defRPr>
            </a:pPr>
            <a:r>
              <a:t>   100 / 16,384 = 0.6% of features → maximally surgical</a:t>
            </a:r>
          </a:p>
          <a:p>
            <a:pPr lvl="1">
              <a:spcAft>
                <a:spcPts val="600"/>
              </a:spcAft>
              <a:defRPr sz="1600">
                <a:solidFill>
                  <a:srgbClr val="1F2937"/>
                </a:solidFill>
              </a:defRPr>
            </a:pPr>
            <a:r>
              <a:t>   Original tests (k=200,500,1000): diminishing returns beyond k=200</a:t>
            </a:r>
          </a:p>
          <a:p>
            <a:pPr lvl="1">
              <a:spcAft>
                <a:spcPts val="600"/>
              </a:spcAft>
              <a:defRPr sz="1600">
                <a:solidFill>
                  <a:srgbClr val="1F2937"/>
                </a:solidFill>
              </a:defRPr>
            </a:pPr>
            <a:r>
              <a:t>   k=100 provides clean, conservative signal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9FA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937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64592"/>
            <a:ext cx="841248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FFFFFF"/>
                </a:solidFill>
              </a:defRPr>
            </a:pPr>
            <a:r>
              <a:t>Intervention Experiment: Three-Phase Design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86868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 i="1">
                <a:solidFill>
                  <a:srgbClr val="1F2937"/>
                </a:solidFill>
              </a:defRPr>
            </a:pPr>
            <a:r>
              <a:t>500 images, seed=42, deterministic greedy decoding</a:t>
            </a:r>
          </a:p>
        </p:txBody>
      </p:sp>
      <p:pic>
        <p:nvPicPr>
          <p:cNvPr id="5" name="Picture 4" descr="fig_intervention_desig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234440"/>
            <a:ext cx="8595360" cy="4885133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274320" y="6172200"/>
            <a:ext cx="859536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100" i="1">
                <a:solidFill>
                  <a:srgbClr val="505050"/>
                </a:solidFill>
              </a:defRPr>
            </a:pPr>
            <a:r>
              <a:t>Phase 1: Baseline → Phase 2: Targeted Ablation (k=100) → Phase 3: Random Control (×25) → Statistical Comparison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9FA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005840"/>
          </a:xfrm>
          <a:prstGeom prst="rect">
            <a:avLst/>
          </a:prstGeom>
          <a:solidFill>
            <a:srgbClr val="1937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228600"/>
            <a:ext cx="841248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FFFFFF"/>
                </a:solidFill>
              </a:defRPr>
            </a:pPr>
            <a:r>
              <a:t>Intervention Experiment: Parameters &amp; Controls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1234440"/>
            <a:ext cx="841248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800" b="1">
                <a:solidFill>
                  <a:srgbClr val="EA580C"/>
                </a:solidFill>
              </a:defRPr>
            </a:pPr>
            <a:r>
              <a:t>★ Experimental parameters (improved from original):</a:t>
            </a:r>
          </a:p>
          <a:p>
            <a:pPr lvl="1">
              <a:spcAft>
                <a:spcPts val="600"/>
              </a:spcAft>
              <a:defRPr sz="1600">
                <a:solidFill>
                  <a:srgbClr val="1F2937"/>
                </a:solidFill>
              </a:defRPr>
            </a:pPr>
            <a:r>
              <a:t>   N images: 500 (up from 100; 5× increase for tighter CIs)</a:t>
            </a:r>
          </a:p>
          <a:p>
            <a:pPr lvl="1">
              <a:spcAft>
                <a:spcPts val="600"/>
              </a:spcAft>
              <a:defRPr sz="1600">
                <a:solidFill>
                  <a:srgbClr val="1F2937"/>
                </a:solidFill>
              </a:defRPr>
            </a:pPr>
            <a:r>
              <a:t>   Random control runs: 25 (up from 3; stable variance estimation)</a:t>
            </a:r>
          </a:p>
          <a:p>
            <a:pPr lvl="1">
              <a:spcAft>
                <a:spcPts val="600"/>
              </a:spcAft>
              <a:defRPr sz="1600">
                <a:solidFill>
                  <a:srgbClr val="1F2937"/>
                </a:solidFill>
              </a:defRPr>
            </a:pPr>
            <a:r>
              <a:t>   Features ablated: k = 100 (0.6% of total)</a:t>
            </a:r>
          </a:p>
          <a:p>
            <a:pPr>
              <a:spcAft>
                <a:spcPts val="600"/>
              </a:spcAft>
              <a:defRPr sz="800">
                <a:solidFill>
                  <a:srgbClr val="1F2937"/>
                </a:solidFill>
              </a:defRPr>
            </a:pPr>
          </a:p>
          <a:p>
            <a:pPr>
              <a:spcAft>
                <a:spcPts val="600"/>
              </a:spcAft>
              <a:defRPr sz="1800" b="1">
                <a:solidFill>
                  <a:srgbClr val="EA580C"/>
                </a:solidFill>
              </a:defRPr>
            </a:pPr>
            <a:r>
              <a:t>★ Controls for confounds:</a:t>
            </a:r>
          </a:p>
          <a:p>
            <a:pPr lvl="1">
              <a:spcAft>
                <a:spcPts val="600"/>
              </a:spcAft>
              <a:defRPr sz="1600">
                <a:solidFill>
                  <a:srgbClr val="1F2937"/>
                </a:solidFill>
              </a:defRPr>
            </a:pPr>
            <a:r>
              <a:t>   Length normalization: rate = gender_terms / total_tokens</a:t>
            </a:r>
          </a:p>
          <a:p>
            <a:pPr lvl="1">
              <a:spcAft>
                <a:spcPts val="600"/>
              </a:spcAft>
              <a:defRPr sz="1600">
                <a:solidFill>
                  <a:srgbClr val="1F2937"/>
                </a:solidFill>
              </a:defRPr>
            </a:pPr>
            <a:r>
              <a:t>   Paired statistics: Per-image deltas with bootstrap CI</a:t>
            </a:r>
          </a:p>
          <a:p>
            <a:pPr lvl="1">
              <a:spcAft>
                <a:spcPts val="600"/>
              </a:spcAft>
              <a:defRPr sz="1600">
                <a:solidFill>
                  <a:srgbClr val="1F2937"/>
                </a:solidFill>
              </a:defRPr>
            </a:pPr>
            <a:r>
              <a:t>   Deterministic generation: greedy decoding, no sampling</a:t>
            </a:r>
          </a:p>
          <a:p>
            <a:pPr lvl="1">
              <a:spcAft>
                <a:spcPts val="600"/>
              </a:spcAft>
              <a:defRPr sz="1600">
                <a:solidFill>
                  <a:srgbClr val="1F2937"/>
                </a:solidFill>
              </a:defRPr>
            </a:pPr>
            <a:r>
              <a:t>   Same seed (42) for image selection across all runs</a:t>
            </a:r>
          </a:p>
          <a:p>
            <a:pPr>
              <a:spcAft>
                <a:spcPts val="600"/>
              </a:spcAft>
              <a:defRPr sz="800">
                <a:solidFill>
                  <a:srgbClr val="1F2937"/>
                </a:solidFill>
              </a:defRPr>
            </a:pPr>
          </a:p>
          <a:p>
            <a:pPr>
              <a:spcAft>
                <a:spcPts val="600"/>
              </a:spcAft>
              <a:defRPr sz="1800" b="1">
                <a:solidFill>
                  <a:srgbClr val="EA580C"/>
                </a:solidFill>
              </a:defRPr>
            </a:pPr>
            <a:r>
              <a:t>★ Statistical tests:</a:t>
            </a:r>
          </a:p>
          <a:p>
            <a:pPr lvl="1">
              <a:spcAft>
                <a:spcPts val="600"/>
              </a:spcAft>
              <a:defRPr sz="1600">
                <a:solidFill>
                  <a:srgbClr val="1F2937"/>
                </a:solidFill>
              </a:defRPr>
            </a:pPr>
            <a:r>
              <a:t>   Bootstrap 95% CI (10,000 resamples)</a:t>
            </a:r>
          </a:p>
          <a:p>
            <a:pPr lvl="1">
              <a:spcAft>
                <a:spcPts val="600"/>
              </a:spcAft>
              <a:defRPr sz="1600">
                <a:solidFill>
                  <a:srgbClr val="1F2937"/>
                </a:solidFill>
              </a:defRPr>
            </a:pPr>
            <a:r>
              <a:t>   Wilcoxon signed-rank test (non-parametric, paired)</a:t>
            </a:r>
          </a:p>
          <a:p>
            <a:pPr lvl="1">
              <a:spcAft>
                <a:spcPts val="600"/>
              </a:spcAft>
              <a:defRPr sz="1600">
                <a:solidFill>
                  <a:srgbClr val="1F2937"/>
                </a:solidFill>
              </a:defRPr>
            </a:pPr>
            <a:r>
              <a:t>   Effect ratio: targeted_change / random_change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9FA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005840"/>
          </a:xfrm>
          <a:prstGeom prst="rect">
            <a:avLst/>
          </a:prstGeom>
          <a:solidFill>
            <a:srgbClr val="1937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228600"/>
            <a:ext cx="841248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FFFFFF"/>
                </a:solidFill>
              </a:defRPr>
            </a:pPr>
            <a:r>
              <a:t>Targeted vs Random Ablation: Core Causal Logic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1234440"/>
            <a:ext cx="841248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700">
                <a:solidFill>
                  <a:srgbClr val="1F2937"/>
                </a:solidFill>
              </a:defRPr>
            </a:pPr>
            <a:r>
              <a:t>• Core question: Are SAE gender features CAUSAL or merely correlated?</a:t>
            </a:r>
          </a:p>
          <a:p>
            <a:pPr>
              <a:spcAft>
                <a:spcPts val="600"/>
              </a:spcAft>
              <a:defRPr sz="800">
                <a:solidFill>
                  <a:srgbClr val="1F2937"/>
                </a:solidFill>
              </a:defRPr>
            </a:pPr>
          </a:p>
          <a:p>
            <a:pPr>
              <a:spcAft>
                <a:spcPts val="600"/>
              </a:spcAft>
              <a:defRPr sz="1700">
                <a:solidFill>
                  <a:srgbClr val="1F2937"/>
                </a:solidFill>
              </a:defRPr>
            </a:pPr>
            <a:r>
              <a:t>• Targeted-only evidence is insufficient:</a:t>
            </a:r>
          </a:p>
          <a:p>
            <a:pPr lvl="1">
              <a:spcAft>
                <a:spcPts val="600"/>
              </a:spcAft>
              <a:defRPr sz="1600">
                <a:solidFill>
                  <a:srgbClr val="1F2937"/>
                </a:solidFill>
              </a:defRPr>
            </a:pPr>
            <a:r>
              <a:t>   Ablating any 100 features might also change output</a:t>
            </a:r>
          </a:p>
          <a:p>
            <a:pPr>
              <a:spcAft>
                <a:spcPts val="600"/>
              </a:spcAft>
              <a:defRPr sz="800">
                <a:solidFill>
                  <a:srgbClr val="1F2937"/>
                </a:solidFill>
              </a:defRPr>
            </a:pPr>
          </a:p>
          <a:p>
            <a:pPr>
              <a:spcAft>
                <a:spcPts val="600"/>
              </a:spcAft>
              <a:defRPr sz="1700">
                <a:solidFill>
                  <a:srgbClr val="1F2937"/>
                </a:solidFill>
              </a:defRPr>
            </a:pPr>
            <a:r>
              <a:t>• Treatment vs control design:</a:t>
            </a:r>
          </a:p>
          <a:p>
            <a:pPr lvl="1">
              <a:spcAft>
                <a:spcPts val="600"/>
              </a:spcAft>
              <a:defRPr sz="1600">
                <a:solidFill>
                  <a:srgbClr val="1F2937"/>
                </a:solidFill>
              </a:defRPr>
            </a:pPr>
            <a:r>
              <a:t>   TREATMENT = targeted ablation of top-100 gender features</a:t>
            </a:r>
          </a:p>
          <a:p>
            <a:pPr lvl="1">
              <a:spcAft>
                <a:spcPts val="600"/>
              </a:spcAft>
              <a:defRPr sz="1600">
                <a:solidFill>
                  <a:srgbClr val="1F2937"/>
                </a:solidFill>
              </a:defRPr>
            </a:pPr>
            <a:r>
              <a:t>   CONTROL = random ablation of 100 features (25 runs)</a:t>
            </a:r>
          </a:p>
          <a:p>
            <a:pPr>
              <a:spcAft>
                <a:spcPts val="600"/>
              </a:spcAft>
              <a:defRPr sz="800">
                <a:solidFill>
                  <a:srgbClr val="1F2937"/>
                </a:solidFill>
              </a:defRPr>
            </a:pPr>
          </a:p>
          <a:p>
            <a:pPr>
              <a:spcAft>
                <a:spcPts val="600"/>
              </a:spcAft>
              <a:defRPr sz="1700">
                <a:solidFill>
                  <a:srgbClr val="1F2937"/>
                </a:solidFill>
              </a:defRPr>
            </a:pPr>
            <a:r>
              <a:t>• Formal hypotheses:</a:t>
            </a:r>
          </a:p>
          <a:p>
            <a:pPr lvl="1">
              <a:spcAft>
                <a:spcPts val="600"/>
              </a:spcAft>
              <a:defRPr sz="1600">
                <a:solidFill>
                  <a:srgbClr val="1F2937"/>
                </a:solidFill>
              </a:defRPr>
            </a:pPr>
            <a:r>
              <a:t>   H0: targeted effect ≈ random effect</a:t>
            </a:r>
          </a:p>
          <a:p>
            <a:pPr lvl="1">
              <a:spcAft>
                <a:spcPts val="600"/>
              </a:spcAft>
              <a:defRPr sz="1600">
                <a:solidFill>
                  <a:srgbClr val="1F2937"/>
                </a:solidFill>
              </a:defRPr>
            </a:pPr>
            <a:r>
              <a:t>   H1: targeted effect differs from random (specific mechanism)</a:t>
            </a:r>
          </a:p>
          <a:p>
            <a:pPr>
              <a:spcAft>
                <a:spcPts val="600"/>
              </a:spcAft>
              <a:defRPr sz="800">
                <a:solidFill>
                  <a:srgbClr val="1F2937"/>
                </a:solidFill>
              </a:defRPr>
            </a:pPr>
          </a:p>
          <a:p>
            <a:pPr>
              <a:spcAft>
                <a:spcPts val="600"/>
              </a:spcAft>
              <a:defRPr sz="1700">
                <a:solidFill>
                  <a:srgbClr val="1F2937"/>
                </a:solidFill>
              </a:defRPr>
            </a:pPr>
            <a:r>
              <a:t>• Causal claim is supported only if targeted differs significantly from random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9FA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005840"/>
          </a:xfrm>
          <a:prstGeom prst="rect">
            <a:avLst/>
          </a:prstGeom>
          <a:solidFill>
            <a:srgbClr val="1937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228600"/>
            <a:ext cx="841248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FFFFFF"/>
                </a:solidFill>
              </a:defRPr>
            </a:pPr>
            <a:r>
              <a:t>Targeted Ablation: Step-by-Step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1234440"/>
            <a:ext cx="841248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700">
                <a:solidFill>
                  <a:srgbClr val="1F2937"/>
                </a:solidFill>
              </a:defRPr>
            </a:pPr>
            <a:r>
              <a:t>• 1) Offline feature identification</a:t>
            </a:r>
          </a:p>
          <a:p>
            <a:pPr lvl="1">
              <a:spcAft>
                <a:spcPts val="600"/>
              </a:spcAft>
              <a:defRPr sz="1600">
                <a:solidFill>
                  <a:srgbClr val="1F2937"/>
                </a:solidFill>
              </a:defRPr>
            </a:pPr>
            <a:r>
              <a:t>   Compute Δ_j = |mean_male(j) - mean_female(j)| for each feature j</a:t>
            </a:r>
          </a:p>
          <a:p>
            <a:pPr lvl="1">
              <a:spcAft>
                <a:spcPts val="600"/>
              </a:spcAft>
              <a:defRPr sz="1600">
                <a:solidFill>
                  <a:srgbClr val="1F2937"/>
                </a:solidFill>
              </a:defRPr>
            </a:pPr>
            <a:r>
              <a:t>   Rank features by Δ_j and select top k=100</a:t>
            </a:r>
          </a:p>
          <a:p>
            <a:pPr>
              <a:spcAft>
                <a:spcPts val="600"/>
              </a:spcAft>
              <a:defRPr sz="800">
                <a:solidFill>
                  <a:srgbClr val="1F2937"/>
                </a:solidFill>
              </a:defRPr>
            </a:pPr>
          </a:p>
          <a:p>
            <a:pPr>
              <a:spcAft>
                <a:spcPts val="600"/>
              </a:spcAft>
              <a:defRPr sz="1700">
                <a:solidFill>
                  <a:srgbClr val="1F2937"/>
                </a:solidFill>
              </a:defRPr>
            </a:pPr>
            <a:r>
              <a:t>• 2) Baseline generation (no hook)</a:t>
            </a:r>
          </a:p>
          <a:p>
            <a:pPr lvl="1">
              <a:spcAft>
                <a:spcPts val="600"/>
              </a:spcAft>
              <a:defRPr sz="1600">
                <a:solidFill>
                  <a:srgbClr val="1F2937"/>
                </a:solidFill>
              </a:defRPr>
            </a:pPr>
            <a:r>
              <a:t>   Generate captions for 500 images</a:t>
            </a:r>
          </a:p>
          <a:p>
            <a:pPr lvl="1">
              <a:spcAft>
                <a:spcPts val="600"/>
              </a:spcAft>
              <a:defRPr sz="1600">
                <a:solidFill>
                  <a:srgbClr val="1F2937"/>
                </a:solidFill>
              </a:defRPr>
            </a:pPr>
            <a:r>
              <a:t>   Count gender terms per image and in total</a:t>
            </a:r>
          </a:p>
          <a:p>
            <a:pPr>
              <a:spcAft>
                <a:spcPts val="600"/>
              </a:spcAft>
              <a:defRPr sz="800">
                <a:solidFill>
                  <a:srgbClr val="1F2937"/>
                </a:solidFill>
              </a:defRPr>
            </a:pPr>
          </a:p>
          <a:p>
            <a:pPr>
              <a:spcAft>
                <a:spcPts val="600"/>
              </a:spcAft>
              <a:defRPr sz="1700">
                <a:solidFill>
                  <a:srgbClr val="1F2937"/>
                </a:solidFill>
              </a:defRPr>
            </a:pPr>
            <a:r>
              <a:t>• 3) Targeted intervention generation</a:t>
            </a:r>
          </a:p>
          <a:p>
            <a:pPr lvl="1">
              <a:spcAft>
                <a:spcPts val="600"/>
              </a:spcAft>
              <a:defRPr sz="1600">
                <a:solidFill>
                  <a:srgbClr val="1F2937"/>
                </a:solidFill>
              </a:defRPr>
            </a:pPr>
            <a:r>
              <a:t>   Register forward hook at selected decoder layer</a:t>
            </a:r>
          </a:p>
          <a:p>
            <a:pPr lvl="1">
              <a:spcAft>
                <a:spcPts val="600"/>
              </a:spcAft>
              <a:defRPr sz="1600">
                <a:solidFill>
                  <a:srgbClr val="1F2937"/>
                </a:solidFill>
              </a:defRPr>
            </a:pPr>
            <a:r>
              <a:t>   Remove contribution of the selected top-100 features</a:t>
            </a:r>
          </a:p>
          <a:p>
            <a:pPr lvl="1">
              <a:spcAft>
                <a:spcPts val="600"/>
              </a:spcAft>
              <a:defRPr sz="1600">
                <a:solidFill>
                  <a:srgbClr val="1F2937"/>
                </a:solidFill>
              </a:defRPr>
            </a:pPr>
            <a:r>
              <a:t>   Generate captions with modified activations</a:t>
            </a:r>
          </a:p>
          <a:p>
            <a:pPr lvl="1">
              <a:spcAft>
                <a:spcPts val="600"/>
              </a:spcAft>
              <a:defRPr sz="1600">
                <a:solidFill>
                  <a:srgbClr val="1F2937"/>
                </a:solidFill>
              </a:defRPr>
            </a:pPr>
            <a:r>
              <a:t>   Compare targeted counts vs baseline counts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9FA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005840"/>
          </a:xfrm>
          <a:prstGeom prst="rect">
            <a:avLst/>
          </a:prstGeom>
          <a:solidFill>
            <a:srgbClr val="1937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228600"/>
            <a:ext cx="841248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FFFFFF"/>
                </a:solidFill>
              </a:defRPr>
            </a:pPr>
            <a:r>
              <a:t>Random Ablation (Control): Step-by-Step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1234440"/>
            <a:ext cx="841248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700">
                <a:solidFill>
                  <a:srgbClr val="1F2937"/>
                </a:solidFill>
              </a:defRPr>
            </a:pPr>
            <a:r>
              <a:t>• For each run r = 1...25:</a:t>
            </a:r>
          </a:p>
          <a:p>
            <a:pPr lvl="1">
              <a:spcAft>
                <a:spcPts val="600"/>
              </a:spcAft>
              <a:defRPr sz="1600">
                <a:solidFill>
                  <a:srgbClr val="1F2937"/>
                </a:solidFill>
              </a:defRPr>
            </a:pPr>
            <a:r>
              <a:t>   Randomly sample k=100 feature indices</a:t>
            </a:r>
          </a:p>
          <a:p>
            <a:pPr lvl="1">
              <a:spcAft>
                <a:spcPts val="600"/>
              </a:spcAft>
              <a:defRPr sz="1600">
                <a:solidFill>
                  <a:srgbClr val="1F2937"/>
                </a:solidFill>
              </a:defRPr>
            </a:pPr>
            <a:r>
              <a:t>   Apply the same hook structure and generation settings</a:t>
            </a:r>
          </a:p>
          <a:p>
            <a:pPr lvl="1">
              <a:spcAft>
                <a:spcPts val="600"/>
              </a:spcAft>
              <a:defRPr sz="1600">
                <a:solidFill>
                  <a:srgbClr val="1F2937"/>
                </a:solidFill>
              </a:defRPr>
            </a:pPr>
            <a:r>
              <a:t>   Generate 500 captions and count gender terms</a:t>
            </a:r>
          </a:p>
          <a:p>
            <a:pPr>
              <a:spcAft>
                <a:spcPts val="600"/>
              </a:spcAft>
              <a:defRPr sz="800">
                <a:solidFill>
                  <a:srgbClr val="1F2937"/>
                </a:solidFill>
              </a:defRPr>
            </a:pPr>
          </a:p>
          <a:p>
            <a:pPr>
              <a:spcAft>
                <a:spcPts val="600"/>
              </a:spcAft>
              <a:defRPr sz="1700">
                <a:solidFill>
                  <a:srgbClr val="1F2937"/>
                </a:solidFill>
              </a:defRPr>
            </a:pPr>
            <a:r>
              <a:t>• Aggregate across runs:</a:t>
            </a:r>
          </a:p>
          <a:p>
            <a:pPr lvl="1">
              <a:spcAft>
                <a:spcPts val="600"/>
              </a:spcAft>
              <a:defRPr sz="1600">
                <a:solidFill>
                  <a:srgbClr val="1F2937"/>
                </a:solidFill>
              </a:defRPr>
            </a:pPr>
            <a:r>
              <a:t>   Random mean effect (μ) and standard deviation (σ)</a:t>
            </a:r>
          </a:p>
          <a:p>
            <a:pPr lvl="1">
              <a:spcAft>
                <a:spcPts val="600"/>
              </a:spcAft>
              <a:defRPr sz="1600">
                <a:solidFill>
                  <a:srgbClr val="1F2937"/>
                </a:solidFill>
              </a:defRPr>
            </a:pPr>
            <a:r>
              <a:t>   Empirical null distribution for non-specific ablation</a:t>
            </a:r>
          </a:p>
          <a:p>
            <a:pPr>
              <a:spcAft>
                <a:spcPts val="600"/>
              </a:spcAft>
              <a:defRPr sz="800">
                <a:solidFill>
                  <a:srgbClr val="1F2937"/>
                </a:solidFill>
              </a:defRPr>
            </a:pPr>
          </a:p>
          <a:p>
            <a:pPr>
              <a:spcAft>
                <a:spcPts val="600"/>
              </a:spcAft>
              <a:defRPr sz="1700">
                <a:solidFill>
                  <a:srgbClr val="1F2937"/>
                </a:solidFill>
              </a:defRPr>
            </a:pPr>
            <a:r>
              <a:t>• Why 25 runs?</a:t>
            </a:r>
          </a:p>
          <a:p>
            <a:pPr lvl="1">
              <a:spcAft>
                <a:spcPts val="600"/>
              </a:spcAft>
              <a:defRPr sz="1600">
                <a:solidFill>
                  <a:srgbClr val="1F2937"/>
                </a:solidFill>
              </a:defRPr>
            </a:pPr>
            <a:r>
              <a:t>   Single random run can be lucky/unlucky</a:t>
            </a:r>
          </a:p>
          <a:p>
            <a:pPr lvl="1">
              <a:spcAft>
                <a:spcPts val="600"/>
              </a:spcAft>
              <a:defRPr sz="1600">
                <a:solidFill>
                  <a:srgbClr val="1F2937"/>
                </a:solidFill>
              </a:defRPr>
            </a:pPr>
            <a:r>
              <a:t>   25 runs stabilize μ±σ and enable robust comparison</a:t>
            </a:r>
          </a:p>
          <a:p>
            <a:pPr lvl="1">
              <a:spcAft>
                <a:spcPts val="600"/>
              </a:spcAft>
              <a:defRPr sz="1600">
                <a:solidFill>
                  <a:srgbClr val="1F2937"/>
                </a:solidFill>
              </a:defRPr>
            </a:pPr>
            <a:r>
              <a:t>   Lets us test whether targeted lies outside random distribution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9FA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005840"/>
          </a:xfrm>
          <a:prstGeom prst="rect">
            <a:avLst/>
          </a:prstGeom>
          <a:solidFill>
            <a:srgbClr val="1937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228600"/>
            <a:ext cx="841248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FFFFFF"/>
                </a:solidFill>
              </a:defRPr>
            </a:pPr>
            <a:r>
              <a:t>Targeted vs Random: Quantitative Specificity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" y="1097280"/>
            <a:ext cx="859536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 i="1">
                <a:solidFill>
                  <a:srgbClr val="1F2937"/>
                </a:solidFill>
              </a:defRPr>
            </a:pPr>
            <a:r>
              <a:t>Bootstrap CI(targeted-random) excludes zero for all models → causal specificity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182880" y="1463040"/>
          <a:ext cx="8778234" cy="16459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63039"/>
                <a:gridCol w="1463039"/>
                <a:gridCol w="1463039"/>
                <a:gridCol w="1463039"/>
                <a:gridCol w="1463039"/>
                <a:gridCol w="1463039"/>
              </a:tblGrid>
              <a:tr h="411480"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FFFFF"/>
                          </a:solidFill>
                        </a:defRPr>
                      </a:pPr>
                      <a:r>
                        <a:t>Model</a:t>
                      </a:r>
                    </a:p>
                  </a:txBody>
                  <a:tcPr>
                    <a:solidFill>
                      <a:srgbClr val="19375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FFFFF"/>
                          </a:solidFill>
                        </a:defRPr>
                      </a:pPr>
                      <a:r>
                        <a:t>Targeted</a:t>
                      </a:r>
                    </a:p>
                  </a:txBody>
                  <a:tcPr>
                    <a:solidFill>
                      <a:srgbClr val="19375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FFFFF"/>
                          </a:solidFill>
                        </a:defRPr>
                      </a:pPr>
                      <a:r>
                        <a:t>Random mean ± std</a:t>
                      </a:r>
                    </a:p>
                  </a:txBody>
                  <a:tcPr>
                    <a:solidFill>
                      <a:srgbClr val="19375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FFFFF"/>
                          </a:solidFill>
                        </a:defRPr>
                      </a:pPr>
                      <a:r>
                        <a:t>Specificity</a:t>
                      </a:r>
                    </a:p>
                  </a:txBody>
                  <a:tcPr>
                    <a:solidFill>
                      <a:srgbClr val="19375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FFFFF"/>
                          </a:solidFill>
                        </a:defRPr>
                      </a:pPr>
                      <a:r>
                        <a:t>Ratio</a:t>
                      </a:r>
                    </a:p>
                  </a:txBody>
                  <a:tcPr>
                    <a:solidFill>
                      <a:srgbClr val="19375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FFFFF"/>
                          </a:solidFill>
                        </a:defRPr>
                      </a:pPr>
                      <a:r>
                        <a:t>Interpretation</a:t>
                      </a:r>
                    </a:p>
                  </a:txBody>
                  <a:tcPr>
                    <a:solidFill>
                      <a:srgbClr val="19375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1F2937"/>
                          </a:solidFill>
                        </a:defRPr>
                      </a:pPr>
                      <a:r>
                        <a:t>PaLiGemma</a:t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1F2937"/>
                          </a:solidFill>
                        </a:defRPr>
                      </a:pPr>
                      <a:r>
                        <a:t>-16.1%</a:t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1F2937"/>
                          </a:solidFill>
                        </a:defRPr>
                      </a:pPr>
                      <a:r>
                        <a:t>-8.7% ± 3.9%</a:t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1F2937"/>
                          </a:solidFill>
                        </a:defRPr>
                      </a:pPr>
                      <a:r>
                        <a:t>7.3 pp</a:t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1F2937"/>
                          </a:solidFill>
                        </a:defRPr>
                      </a:pPr>
                      <a:r>
                        <a:t>1.84×</a:t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1F2937"/>
                          </a:solidFill>
                        </a:defRPr>
                      </a:pPr>
                      <a:r>
                        <a:t>Targeted &gt; random</a:t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1F2937"/>
                          </a:solidFill>
                        </a:defRPr>
                      </a:pPr>
                      <a:r>
                        <a:t>Qwen2-VL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1F2937"/>
                          </a:solidFill>
                        </a:defRPr>
                      </a:pPr>
                      <a:r>
                        <a:t>+3.95%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1F2937"/>
                          </a:solidFill>
                        </a:defRPr>
                      </a:pPr>
                      <a:r>
                        <a:t>-0.56% ± 1.14%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1F2937"/>
                          </a:solidFill>
                        </a:defRPr>
                      </a:pPr>
                      <a:r>
                        <a:t>4.51 pp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1F2937"/>
                          </a:solidFill>
                        </a:defRPr>
                      </a:pPr>
                      <a:r>
                        <a:t>7.1×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1F2937"/>
                          </a:solidFill>
                        </a:defRPr>
                      </a:pPr>
                      <a:r>
                        <a:t>Opposite direction</a:t>
                      </a:r>
                    </a:p>
                  </a:txBody>
                  <a:tcPr/>
                </a:tc>
              </a:tr>
              <a:tr h="411480"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1F2937"/>
                          </a:solidFill>
                        </a:defRPr>
                      </a:pPr>
                      <a:r>
                        <a:t>Llama</a:t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1F2937"/>
                          </a:solidFill>
                        </a:defRPr>
                      </a:pPr>
                      <a:r>
                        <a:t>+5.02%</a:t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1F2937"/>
                          </a:solidFill>
                        </a:defRPr>
                      </a:pPr>
                      <a:r>
                        <a:t>-0.84% ± 0.76%</a:t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1F2937"/>
                          </a:solidFill>
                        </a:defRPr>
                      </a:pPr>
                      <a:r>
                        <a:t>5.85 pp</a:t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1F2937"/>
                          </a:solidFill>
                        </a:defRPr>
                      </a:pPr>
                      <a:r>
                        <a:t>6.0×</a:t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1F2937"/>
                          </a:solidFill>
                        </a:defRPr>
                      </a:pPr>
                      <a:r>
                        <a:t>Opposite direction</a:t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9FA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005840"/>
          </a:xfrm>
          <a:prstGeom prst="rect">
            <a:avLst/>
          </a:prstGeom>
          <a:solidFill>
            <a:srgbClr val="1937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228600"/>
            <a:ext cx="841248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FFFFFF"/>
                </a:solidFill>
              </a:defRPr>
            </a:pPr>
            <a:r>
              <a:t>Implementation: SAE-based Forward Hook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1234440"/>
            <a:ext cx="841248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700">
                <a:solidFill>
                  <a:srgbClr val="1F2937"/>
                </a:solidFill>
              </a:defRPr>
            </a:pPr>
            <a:r>
              <a:t>• PyTorch hook registered on target decoder layer</a:t>
            </a:r>
          </a:p>
          <a:p>
            <a:pPr>
              <a:spcAft>
                <a:spcPts val="600"/>
              </a:spcAft>
              <a:defRPr sz="1700">
                <a:solidFill>
                  <a:srgbClr val="1F2937"/>
                </a:solidFill>
              </a:defRPr>
            </a:pPr>
            <a:r>
              <a:t>• Intercepts hidden activations, applies SAE transformation, returns modified activations</a:t>
            </a:r>
          </a:p>
          <a:p>
            <a:pPr>
              <a:spcAft>
                <a:spcPts val="600"/>
              </a:spcAft>
              <a:defRPr sz="800">
                <a:solidFill>
                  <a:srgbClr val="1F2937"/>
                </a:solidFill>
              </a:defRPr>
            </a:pPr>
          </a:p>
          <a:p>
            <a:pPr>
              <a:spcAft>
                <a:spcPts val="600"/>
              </a:spcAft>
              <a:defRPr sz="1700">
                <a:solidFill>
                  <a:srgbClr val="1F2937"/>
                </a:solidFill>
              </a:defRPr>
            </a:pPr>
            <a:r>
              <a:t>• Forward Hook Algorithm:</a:t>
            </a:r>
          </a:p>
          <a:p>
            <a:pPr>
              <a:spcAft>
                <a:spcPts val="600"/>
              </a:spcAft>
              <a:defRPr sz="1700">
                <a:solidFill>
                  <a:srgbClr val="1F2937"/>
                </a:solidFill>
              </a:defRPr>
            </a:pPr>
            <a:r>
              <a:t>•   1. Flatten batch activations: [B, T, d_model] → [B·T, d_model]</a:t>
            </a:r>
          </a:p>
          <a:p>
            <a:pPr>
              <a:spcAft>
                <a:spcPts val="600"/>
              </a:spcAft>
              <a:defRPr sz="1700">
                <a:solidFill>
                  <a:srgbClr val="1F2937"/>
                </a:solidFill>
              </a:defRPr>
            </a:pPr>
            <a:r>
              <a:t>•   2. Encode through SAE: x_flat @ W_enc^T + b_enc → [B·T, n_features]</a:t>
            </a:r>
          </a:p>
          <a:p>
            <a:pPr>
              <a:spcAft>
                <a:spcPts val="600"/>
              </a:spcAft>
              <a:defRPr sz="1700">
                <a:solidFill>
                  <a:srgbClr val="1F2937"/>
                </a:solidFill>
              </a:defRPr>
            </a:pPr>
            <a:r>
              <a:t>•   3. Apply ReLU: h = max(0, encoded)</a:t>
            </a:r>
          </a:p>
          <a:p>
            <a:pPr>
              <a:spcAft>
                <a:spcPts val="600"/>
              </a:spcAft>
              <a:defRPr sz="1700">
                <a:solidFill>
                  <a:srgbClr val="1F2937"/>
                </a:solidFill>
              </a:defRPr>
            </a:pPr>
            <a:r>
              <a:t>•   4. ABLATE: h[:, target_features] ← 0 (zero out specified features)</a:t>
            </a:r>
          </a:p>
          <a:p>
            <a:pPr>
              <a:spcAft>
                <a:spcPts val="600"/>
              </a:spcAft>
              <a:defRPr sz="1700">
                <a:solidFill>
                  <a:srgbClr val="1F2937"/>
                </a:solidFill>
              </a:defRPr>
            </a:pPr>
            <a:r>
              <a:t>•   5. Decode back: h @ W_dec^T + b_dec → [B·T, d_model]</a:t>
            </a:r>
          </a:p>
          <a:p>
            <a:pPr>
              <a:spcAft>
                <a:spcPts val="600"/>
              </a:spcAft>
              <a:defRPr sz="1700">
                <a:solidFill>
                  <a:srgbClr val="1F2937"/>
                </a:solidFill>
              </a:defRPr>
            </a:pPr>
            <a:r>
              <a:t>•   6. Reshape: [B·T, d_model] → [B, T, d_model]</a:t>
            </a:r>
          </a:p>
          <a:p>
            <a:pPr>
              <a:spcAft>
                <a:spcPts val="600"/>
              </a:spcAft>
              <a:defRPr sz="800">
                <a:solidFill>
                  <a:srgbClr val="1F2937"/>
                </a:solidFill>
              </a:defRPr>
            </a:pPr>
          </a:p>
          <a:p>
            <a:pPr>
              <a:spcAft>
                <a:spcPts val="600"/>
              </a:spcAft>
              <a:defRPr sz="1700">
                <a:solidFill>
                  <a:srgbClr val="1F2937"/>
                </a:solidFill>
              </a:defRPr>
            </a:pPr>
            <a:r>
              <a:t>• Same hook used for BOTH targeted and random → only difference is feature set</a:t>
            </a:r>
          </a:p>
          <a:p>
            <a:pPr>
              <a:spcAft>
                <a:spcPts val="600"/>
              </a:spcAft>
              <a:defRPr sz="1700">
                <a:solidFill>
                  <a:srgbClr val="1F2937"/>
                </a:solidFill>
              </a:defRPr>
            </a:pPr>
            <a:r>
              <a:t>• Greedy decoding (no sampling) to eliminate sampling variance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309360"/>
            <a:ext cx="84124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i="1">
                <a:solidFill>
                  <a:srgbClr val="646464"/>
                </a:solidFill>
              </a:defRPr>
            </a:pPr>
            <a:r>
              <a:t>Fair comparison: effect differences must arise from feature identity, not mechanism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9FA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005840"/>
          </a:xfrm>
          <a:prstGeom prst="rect">
            <a:avLst/>
          </a:prstGeom>
          <a:solidFill>
            <a:srgbClr val="1937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228600"/>
            <a:ext cx="841248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FFFFFF"/>
                </a:solidFill>
              </a:defRPr>
            </a:pPr>
            <a:r>
              <a:t>Ablation Hook Methods: Two Approaches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" y="1188720"/>
            <a:ext cx="41148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>
                <a:solidFill>
                  <a:srgbClr val="EA580C"/>
                </a:solidFill>
              </a:defRPr>
            </a:pPr>
            <a:r>
              <a:t>Full Reconstruction (PaLiGemma)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74320" y="1645920"/>
            <a:ext cx="411480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  <a:defRPr sz="1500">
                <a:solidFill>
                  <a:srgbClr val="1F2937"/>
                </a:solidFill>
              </a:defRPr>
            </a:pPr>
            <a:r>
              <a:t>• Encode → Zero features → Decode</a:t>
            </a:r>
          </a:p>
          <a:p>
            <a:pPr>
              <a:spcAft>
                <a:spcPts val="500"/>
              </a:spcAft>
              <a:defRPr sz="1500">
                <a:solidFill>
                  <a:srgbClr val="1F2937"/>
                </a:solidFill>
              </a:defRPr>
            </a:pPr>
            <a:r>
              <a:t>• x_mod = W_dec · (h ⊙ mask) + b_dec</a:t>
            </a:r>
          </a:p>
          <a:p>
            <a:pPr>
              <a:spcAft>
                <a:spcPts val="500"/>
              </a:spcAft>
              <a:defRPr sz="1500">
                <a:solidFill>
                  <a:srgbClr val="1F2937"/>
                </a:solidFill>
              </a:defRPr>
            </a:pPr>
            <a:r>
              <a:t>• Replaces all activations with SAE output</a:t>
            </a:r>
          </a:p>
          <a:p>
            <a:pPr>
              <a:spcAft>
                <a:spcPts val="500"/>
              </a:spcAft>
              <a:defRPr sz="1500">
                <a:solidFill>
                  <a:srgbClr val="1F2937"/>
                </a:solidFill>
              </a:defRPr>
            </a:pPr>
            <a:r>
              <a:t>• Works when SAE has near-perfect reconstruction</a:t>
            </a:r>
          </a:p>
          <a:p>
            <a:pPr>
              <a:spcAft>
                <a:spcPts val="500"/>
              </a:spcAft>
              <a:defRPr sz="1500">
                <a:solidFill>
                  <a:srgbClr val="1F2937"/>
                </a:solidFill>
              </a:defRPr>
            </a:pPr>
            <a:r>
              <a:t>• Used for PaLiGemma (cos_sim = 0.9999)</a:t>
            </a:r>
          </a:p>
          <a:p>
            <a:pPr>
              <a:spcAft>
                <a:spcPts val="500"/>
              </a:spcAft>
              <a:defRPr sz="1500">
                <a:solidFill>
                  <a:srgbClr val="1F2937"/>
                </a:solidFill>
              </a:defRPr>
            </a:pPr>
            <a:r>
              <a:t>• NOT suitable when SAE trained on pooled activations</a:t>
            </a:r>
          </a:p>
        </p:txBody>
      </p:sp>
      <p:sp>
        <p:nvSpPr>
          <p:cNvPr id="6" name="Rectangle 5"/>
          <p:cNvSpPr/>
          <p:nvPr/>
        </p:nvSpPr>
        <p:spPr>
          <a:xfrm>
            <a:off x="4526280" y="1188720"/>
            <a:ext cx="18288" cy="4846320"/>
          </a:xfrm>
          <a:prstGeom prst="rect">
            <a:avLst/>
          </a:prstGeom>
          <a:solidFill>
            <a:srgbClr val="C8C8C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754880" y="1188720"/>
            <a:ext cx="41148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>
                <a:solidFill>
                  <a:srgbClr val="16A34A"/>
                </a:solidFill>
              </a:defRPr>
            </a:pPr>
            <a:r>
              <a:t>Residual Ablation (Qwen, Llama)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754880" y="1645920"/>
            <a:ext cx="411480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  <a:defRPr sz="1500">
                <a:solidFill>
                  <a:srgbClr val="1F2937"/>
                </a:solidFill>
              </a:defRPr>
            </a:pPr>
            <a:r>
              <a:t>• Only subtract targeted features' contribution</a:t>
            </a:r>
          </a:p>
          <a:p>
            <a:pPr>
              <a:spcAft>
                <a:spcPts val="500"/>
              </a:spcAft>
              <a:defRPr sz="1500">
                <a:solidFill>
                  <a:srgbClr val="1F2937"/>
                </a:solidFill>
              </a:defRPr>
            </a:pPr>
            <a:r>
              <a:t>• x_mod = x - Σⱼ∈A hⱼ · W_dec[:,j]</a:t>
            </a:r>
          </a:p>
          <a:p>
            <a:pPr>
              <a:spcAft>
                <a:spcPts val="500"/>
              </a:spcAft>
              <a:defRPr sz="1500">
                <a:solidFill>
                  <a:srgbClr val="1F2937"/>
                </a:solidFill>
              </a:defRPr>
            </a:pPr>
            <a:r>
              <a:t>• Preserves original activations otherwise</a:t>
            </a:r>
          </a:p>
          <a:p>
            <a:pPr>
              <a:spcAft>
                <a:spcPts val="500"/>
              </a:spcAft>
              <a:defRPr sz="1500">
                <a:solidFill>
                  <a:srgbClr val="1F2937"/>
                </a:solidFill>
              </a:defRPr>
            </a:pPr>
            <a:r>
              <a:t>• More robust to SAE quality</a:t>
            </a:r>
          </a:p>
          <a:p>
            <a:pPr>
              <a:spcAft>
                <a:spcPts val="500"/>
              </a:spcAft>
              <a:defRPr sz="1500">
                <a:solidFill>
                  <a:srgbClr val="1F2937"/>
                </a:solidFill>
              </a:defRPr>
            </a:pPr>
            <a:r>
              <a:t>• Modification ~3% of activation norm</a:t>
            </a:r>
          </a:p>
          <a:p>
            <a:pPr>
              <a:spcAft>
                <a:spcPts val="500"/>
              </a:spcAft>
              <a:defRPr sz="1500">
                <a:solidFill>
                  <a:srgbClr val="1F2937"/>
                </a:solidFill>
              </a:defRPr>
            </a:pPr>
            <a:r>
              <a:t>• Required for mean-pooled SAE on per-token intervention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D558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828800"/>
            <a:ext cx="8229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200">
                <a:solidFill>
                  <a:srgbClr val="B4C8E6"/>
                </a:solidFill>
              </a:defRPr>
            </a:pPr>
            <a:r>
              <a:t>Part 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256032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800" b="1">
                <a:solidFill>
                  <a:srgbClr val="FFFFFF"/>
                </a:solidFill>
              </a:defRPr>
            </a:pPr>
            <a:r>
              <a:t>Experimental Results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023360"/>
            <a:ext cx="8229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800" i="1">
                <a:solidFill>
                  <a:srgbClr val="C8D2DC"/>
                </a:solidFill>
              </a:defRPr>
            </a:pPr>
            <a:r>
              <a:t>Complete results across 3 VLM architectures with statistical rigor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9FA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005840"/>
          </a:xfrm>
          <a:prstGeom prst="rect">
            <a:avLst/>
          </a:prstGeom>
          <a:solidFill>
            <a:srgbClr val="1937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228600"/>
            <a:ext cx="841248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FFFFFF"/>
                </a:solidFill>
              </a:defRPr>
            </a:pPr>
            <a:r>
              <a:t>Main Intervention Results: Cross-Model Comparison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" y="1097280"/>
            <a:ext cx="859536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 i="1">
                <a:solidFill>
                  <a:srgbClr val="1F2937"/>
                </a:solidFill>
              </a:defRPr>
            </a:pPr>
            <a:r>
              <a:t>All 3 models show statistically significant targeted effects vs random controls (500 images, 25 random runs each)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182880" y="1463040"/>
          <a:ext cx="8778238" cy="16459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54034"/>
                <a:gridCol w="1254034"/>
                <a:gridCol w="1254034"/>
                <a:gridCol w="1254034"/>
                <a:gridCol w="1254034"/>
                <a:gridCol w="1254034"/>
                <a:gridCol w="1254034"/>
              </a:tblGrid>
              <a:tr h="411480"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FFFFF"/>
                          </a:solidFill>
                        </a:defRPr>
                      </a:pPr>
                      <a:r>
                        <a:t>Model</a:t>
                      </a:r>
                    </a:p>
                  </a:txBody>
                  <a:tcPr>
                    <a:solidFill>
                      <a:srgbClr val="19375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FFFFF"/>
                          </a:solidFill>
                        </a:defRPr>
                      </a:pPr>
                      <a:r>
                        <a:t>Baseline</a:t>
                      </a:r>
                    </a:p>
                  </a:txBody>
                  <a:tcPr>
                    <a:solidFill>
                      <a:srgbClr val="19375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FFFFF"/>
                          </a:solidFill>
                        </a:defRPr>
                      </a:pPr>
                      <a:r>
                        <a:t>Targeted</a:t>
                      </a:r>
                    </a:p>
                  </a:txBody>
                  <a:tcPr>
                    <a:solidFill>
                      <a:srgbClr val="19375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FFFFF"/>
                          </a:solidFill>
                        </a:defRPr>
                      </a:pPr>
                      <a:r>
                        <a:t>Change %</a:t>
                      </a:r>
                    </a:p>
                  </a:txBody>
                  <a:tcPr>
                    <a:solidFill>
                      <a:srgbClr val="19375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FFFFF"/>
                          </a:solidFill>
                        </a:defRPr>
                      </a:pPr>
                      <a:r>
                        <a:t>Random (μ±σ)</a:t>
                      </a:r>
                    </a:p>
                  </a:txBody>
                  <a:tcPr>
                    <a:solidFill>
                      <a:srgbClr val="19375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FFFFF"/>
                          </a:solidFill>
                        </a:defRPr>
                      </a:pPr>
                      <a:r>
                        <a:t>Ratio</a:t>
                      </a:r>
                    </a:p>
                  </a:txBody>
                  <a:tcPr>
                    <a:solidFill>
                      <a:srgbClr val="19375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FFFFF"/>
                          </a:solidFill>
                        </a:defRPr>
                      </a:pPr>
                      <a:r>
                        <a:t>Significance</a:t>
                      </a:r>
                    </a:p>
                  </a:txBody>
                  <a:tcPr>
                    <a:solidFill>
                      <a:srgbClr val="19375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1F2937"/>
                          </a:solidFill>
                        </a:defRPr>
                      </a:pPr>
                      <a:r>
                        <a:t>PaLiGemma (L9)</a:t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1F2937"/>
                          </a:solidFill>
                        </a:defRPr>
                      </a:pPr>
                      <a:r>
                        <a:t>1,522</a:t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1F2937"/>
                          </a:solidFill>
                        </a:defRPr>
                      </a:pPr>
                      <a:r>
                        <a:t>1,277</a:t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1F2937"/>
                          </a:solidFill>
                        </a:defRPr>
                      </a:pPr>
                      <a:r>
                        <a:t>-16.1%</a:t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1F2937"/>
                          </a:solidFill>
                        </a:defRPr>
                      </a:pPr>
                      <a:r>
                        <a:t>-8.7% ± 3.9%</a:t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1F2937"/>
                          </a:solidFill>
                        </a:defRPr>
                      </a:pPr>
                      <a:r>
                        <a:t>1.8×</a:t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1F2937"/>
                          </a:solidFill>
                        </a:defRPr>
                      </a:pPr>
                      <a:r>
                        <a:t>p = 1.65×10⁻²¹</a:t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1F2937"/>
                          </a:solidFill>
                        </a:defRPr>
                      </a:pPr>
                      <a:r>
                        <a:t>Qwen2-VL (L12)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1F2937"/>
                          </a:solidFill>
                        </a:defRPr>
                      </a:pPr>
                      <a:r>
                        <a:t>1,315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1F2937"/>
                          </a:solidFill>
                        </a:defRPr>
                      </a:pPr>
                      <a:r>
                        <a:t>1,367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1F2937"/>
                          </a:solidFill>
                        </a:defRPr>
                      </a:pPr>
                      <a:r>
                        <a:t>+3.95%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1F2937"/>
                          </a:solidFill>
                        </a:defRPr>
                      </a:pPr>
                      <a:r>
                        <a:t>-0.56% ± 1.14%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1F2937"/>
                          </a:solidFill>
                        </a:defRPr>
                      </a:pPr>
                      <a:r>
                        <a:t>7.1×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1F2937"/>
                          </a:solidFill>
                        </a:defRPr>
                      </a:pPr>
                      <a:r>
                        <a:t>CI excludes 0</a:t>
                      </a:r>
                    </a:p>
                  </a:txBody>
                  <a:tcPr/>
                </a:tc>
              </a:tr>
              <a:tr h="411480"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1F2937"/>
                          </a:solidFill>
                        </a:defRPr>
                      </a:pPr>
                      <a:r>
                        <a:t>Llama (L20)</a:t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1F2937"/>
                          </a:solidFill>
                        </a:defRPr>
                      </a:pPr>
                      <a:r>
                        <a:t>1,355</a:t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1F2937"/>
                          </a:solidFill>
                        </a:defRPr>
                      </a:pPr>
                      <a:r>
                        <a:t>1,423</a:t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1F2937"/>
                          </a:solidFill>
                        </a:defRPr>
                      </a:pPr>
                      <a:r>
                        <a:t>+5.02%</a:t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1F2937"/>
                          </a:solidFill>
                        </a:defRPr>
                      </a:pPr>
                      <a:r>
                        <a:t>-0.84% ± 0.76%</a:t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1F2937"/>
                          </a:solidFill>
                        </a:defRPr>
                      </a:pPr>
                      <a:r>
                        <a:t>6.0×</a:t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1F2937"/>
                          </a:solidFill>
                        </a:defRPr>
                      </a:pPr>
                      <a:r>
                        <a:t>CI excludes 0</a:t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9FA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937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64592"/>
            <a:ext cx="841248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FFFFFF"/>
                </a:solidFill>
              </a:defRPr>
            </a:pPr>
            <a:r>
              <a:t>Cross-Model Intervention Results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86868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 i="1">
                <a:solidFill>
                  <a:srgbClr val="1F2937"/>
                </a:solidFill>
              </a:defRPr>
            </a:pPr>
            <a:r>
              <a:t>Error bars: 25 random control runs; dotted line: baseline</a:t>
            </a:r>
          </a:p>
        </p:txBody>
      </p:sp>
      <p:pic>
        <p:nvPicPr>
          <p:cNvPr id="5" name="Picture 4" descr="fig1_cross_model_interven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234440"/>
            <a:ext cx="8595360" cy="3815629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274320" y="6172200"/>
            <a:ext cx="859536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100" i="1">
                <a:solidFill>
                  <a:srgbClr val="505050"/>
                </a:solidFill>
              </a:defRPr>
            </a:pPr>
            <a:r>
              <a:t>Targeted ablation shows consistent specificity across architectures, but direction differs by model type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9FA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005840"/>
          </a:xfrm>
          <a:prstGeom prst="rect">
            <a:avLst/>
          </a:prstGeom>
          <a:solidFill>
            <a:srgbClr val="1937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228600"/>
            <a:ext cx="841248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FFFFFF"/>
                </a:solidFill>
              </a:defRPr>
            </a:pPr>
            <a:r>
              <a:t>Cherry-Picked Qualitative Examples (EN): Before → After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1234440"/>
            <a:ext cx="841248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700">
                <a:solidFill>
                  <a:srgbClr val="1F2937"/>
                </a:solidFill>
              </a:defRPr>
            </a:pPr>
            <a:r>
              <a:t>• PaLiGemma (image 2312984882):</a:t>
            </a:r>
          </a:p>
          <a:p>
            <a:pPr>
              <a:spcAft>
                <a:spcPts val="600"/>
              </a:spcAft>
              <a:defRPr sz="1700">
                <a:solidFill>
                  <a:srgbClr val="1F2937"/>
                </a:solidFill>
              </a:defRPr>
            </a:pPr>
            <a:r>
              <a:t>•   Before: 'A group of men ... A man ... A man ...'</a:t>
            </a:r>
          </a:p>
          <a:p>
            <a:pPr>
              <a:spcAft>
                <a:spcPts val="600"/>
              </a:spcAft>
              <a:defRPr sz="1700">
                <a:solidFill>
                  <a:srgbClr val="1F2937"/>
                </a:solidFill>
              </a:defRPr>
            </a:pPr>
            <a:r>
              <a:t>•   After : 'A group of musicians ...' (explicit gender nouns removed)</a:t>
            </a:r>
          </a:p>
          <a:p>
            <a:pPr>
              <a:spcAft>
                <a:spcPts val="600"/>
              </a:spcAft>
              <a:defRPr sz="800">
                <a:solidFill>
                  <a:srgbClr val="1F2937"/>
                </a:solidFill>
              </a:defRPr>
            </a:pPr>
          </a:p>
          <a:p>
            <a:pPr>
              <a:spcAft>
                <a:spcPts val="600"/>
              </a:spcAft>
              <a:defRPr sz="1700">
                <a:solidFill>
                  <a:srgbClr val="1F2937"/>
                </a:solidFill>
              </a:defRPr>
            </a:pPr>
            <a:r>
              <a:t>• Qwen2-VL (image 2920305300):</a:t>
            </a:r>
          </a:p>
          <a:p>
            <a:pPr>
              <a:spcAft>
                <a:spcPts val="600"/>
              </a:spcAft>
              <a:defRPr sz="1700">
                <a:solidFill>
                  <a:srgbClr val="1F2937"/>
                </a:solidFill>
              </a:defRPr>
            </a:pPr>
            <a:r>
              <a:t>•   Before: 'The image depicts a cyclist riding a bicycle ...'</a:t>
            </a:r>
          </a:p>
          <a:p>
            <a:pPr>
              <a:spcAft>
                <a:spcPts val="600"/>
              </a:spcAft>
              <a:defRPr sz="1700">
                <a:solidFill>
                  <a:srgbClr val="1F2937"/>
                </a:solidFill>
              </a:defRPr>
            </a:pPr>
            <a:r>
              <a:t>•   After : 'The image depicts a man riding a bicycle ...' (neutral → male)</a:t>
            </a:r>
          </a:p>
          <a:p>
            <a:pPr>
              <a:spcAft>
                <a:spcPts val="600"/>
              </a:spcAft>
              <a:defRPr sz="800">
                <a:solidFill>
                  <a:srgbClr val="1F2937"/>
                </a:solidFill>
              </a:defRPr>
            </a:pPr>
          </a:p>
          <a:p>
            <a:pPr>
              <a:spcAft>
                <a:spcPts val="600"/>
              </a:spcAft>
              <a:defRPr sz="1700">
                <a:solidFill>
                  <a:srgbClr val="1F2937"/>
                </a:solidFill>
              </a:defRPr>
            </a:pPr>
            <a:r>
              <a:t>• Llama-3.2-Vision (image 3009383694):</a:t>
            </a:r>
          </a:p>
          <a:p>
            <a:pPr>
              <a:spcAft>
                <a:spcPts val="600"/>
              </a:spcAft>
              <a:defRPr sz="1700">
                <a:solidFill>
                  <a:srgbClr val="1F2937"/>
                </a:solidFill>
              </a:defRPr>
            </a:pPr>
            <a:r>
              <a:t>•   Before: 'The image depicts a person in mid-air ...'</a:t>
            </a:r>
          </a:p>
          <a:p>
            <a:pPr>
              <a:spcAft>
                <a:spcPts val="600"/>
              </a:spcAft>
              <a:defRPr sz="1700">
                <a:solidFill>
                  <a:srgbClr val="1F2937"/>
                </a:solidFill>
              </a:defRPr>
            </a:pPr>
            <a:r>
              <a:t>•   After : 'The image shows a man bungee jumping ...' (neutral → male)</a:t>
            </a:r>
          </a:p>
          <a:p>
            <a:pPr>
              <a:spcAft>
                <a:spcPts val="600"/>
              </a:spcAft>
              <a:defRPr sz="800">
                <a:solidFill>
                  <a:srgbClr val="1F2937"/>
                </a:solidFill>
              </a:defRPr>
            </a:pPr>
          </a:p>
          <a:p>
            <a:pPr>
              <a:spcAft>
                <a:spcPts val="600"/>
              </a:spcAft>
              <a:defRPr sz="1700">
                <a:solidFill>
                  <a:srgbClr val="1F2937"/>
                </a:solidFill>
              </a:defRPr>
            </a:pPr>
            <a:r>
              <a:t>• Random controls for these cases were typically closer to baseline wording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309360"/>
            <a:ext cx="84124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i="1">
                <a:solidFill>
                  <a:srgbClr val="646464"/>
                </a:solidFill>
              </a:defRPr>
            </a:pPr>
            <a:r>
              <a:t>Qualitative examples align with the model-specific direction effects from quantitative results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9FA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005840"/>
          </a:xfrm>
          <a:prstGeom prst="rect">
            <a:avLst/>
          </a:prstGeom>
          <a:solidFill>
            <a:srgbClr val="1937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228600"/>
            <a:ext cx="841248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FFFFFF"/>
                </a:solidFill>
              </a:defRPr>
            </a:pPr>
            <a:r>
              <a:t>Arabic Qualitative Evidence (Where Available)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1234440"/>
            <a:ext cx="841248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700">
                <a:solidFill>
                  <a:srgbClr val="1F2937"/>
                </a:solidFill>
              </a:defRPr>
            </a:pPr>
            <a:r>
              <a:t>• From cross-lingual ablation outputs (EN→AR / AR→AR conditions):</a:t>
            </a:r>
          </a:p>
          <a:p>
            <a:pPr>
              <a:spcAft>
                <a:spcPts val="600"/>
              </a:spcAft>
              <a:defRPr sz="800">
                <a:solidFill>
                  <a:srgbClr val="1F2937"/>
                </a:solidFill>
              </a:defRPr>
            </a:pPr>
          </a:p>
          <a:p>
            <a:pPr>
              <a:spcAft>
                <a:spcPts val="600"/>
              </a:spcAft>
              <a:defRPr sz="1700">
                <a:solidFill>
                  <a:srgbClr val="1F2937"/>
                </a:solidFill>
              </a:defRPr>
            </a:pPr>
            <a:r>
              <a:t>• Qwen2-VL AR→AR sample caption (transliteration):</a:t>
            </a:r>
          </a:p>
          <a:p>
            <a:pPr>
              <a:spcAft>
                <a:spcPts val="600"/>
              </a:spcAft>
              <a:defRPr sz="1700">
                <a:solidFill>
                  <a:srgbClr val="1F2937"/>
                </a:solidFill>
              </a:defRPr>
            </a:pPr>
            <a:r>
              <a:t>•   Before: 'fi al-sura, nara la'iba tenis ...' (female tennis player)</a:t>
            </a:r>
          </a:p>
          <a:p>
            <a:pPr>
              <a:spcAft>
                <a:spcPts val="600"/>
              </a:spcAft>
              <a:defRPr sz="1700">
                <a:solidFill>
                  <a:srgbClr val="1F2937"/>
                </a:solidFill>
              </a:defRPr>
            </a:pPr>
            <a:r>
              <a:t>•   After : 'fi al-sura, nara imra'a ...' (woman)</a:t>
            </a:r>
          </a:p>
          <a:p>
            <a:pPr>
              <a:spcAft>
                <a:spcPts val="600"/>
              </a:spcAft>
              <a:defRPr sz="800">
                <a:solidFill>
                  <a:srgbClr val="1F2937"/>
                </a:solidFill>
              </a:defRPr>
            </a:pPr>
          </a:p>
          <a:p>
            <a:pPr>
              <a:spcAft>
                <a:spcPts val="600"/>
              </a:spcAft>
              <a:defRPr sz="1700">
                <a:solidFill>
                  <a:srgbClr val="1F2937"/>
                </a:solidFill>
              </a:defRPr>
            </a:pPr>
            <a:r>
              <a:t>• Arabic per-term shifts (Qwen2-VL, AR→AR):</a:t>
            </a:r>
          </a:p>
          <a:p>
            <a:pPr>
              <a:spcAft>
                <a:spcPts val="600"/>
              </a:spcAft>
              <a:defRPr sz="1700">
                <a:solidFill>
                  <a:srgbClr val="1F2937"/>
                </a:solidFill>
              </a:defRPr>
            </a:pPr>
            <a:r>
              <a:t>•   rajul (man): 68 → 29</a:t>
            </a:r>
          </a:p>
          <a:p>
            <a:pPr>
              <a:spcAft>
                <a:spcPts val="600"/>
              </a:spcAft>
              <a:defRPr sz="1700">
                <a:solidFill>
                  <a:srgbClr val="1F2937"/>
                </a:solidFill>
              </a:defRPr>
            </a:pPr>
            <a:r>
              <a:t>•   ab (father): 75 → 84</a:t>
            </a:r>
          </a:p>
          <a:p>
            <a:pPr>
              <a:spcAft>
                <a:spcPts val="600"/>
              </a:spcAft>
              <a:defRPr sz="1700">
                <a:solidFill>
                  <a:srgbClr val="1F2937"/>
                </a:solidFill>
              </a:defRPr>
            </a:pPr>
            <a:r>
              <a:t>•   umm (mother): 34 → 41</a:t>
            </a:r>
          </a:p>
          <a:p>
            <a:pPr>
              <a:spcAft>
                <a:spcPts val="600"/>
              </a:spcAft>
              <a:defRPr sz="1700">
                <a:solidFill>
                  <a:srgbClr val="1F2937"/>
                </a:solidFill>
              </a:defRPr>
            </a:pPr>
            <a:r>
              <a:t>•   akh (brother): 34 → 45</a:t>
            </a:r>
          </a:p>
          <a:p>
            <a:pPr>
              <a:spcAft>
                <a:spcPts val="600"/>
              </a:spcAft>
              <a:defRPr sz="800">
                <a:solidFill>
                  <a:srgbClr val="1F2937"/>
                </a:solidFill>
              </a:defRPr>
            </a:pPr>
          </a:p>
          <a:p>
            <a:pPr>
              <a:spcAft>
                <a:spcPts val="600"/>
              </a:spcAft>
              <a:defRPr sz="1700">
                <a:solidFill>
                  <a:srgbClr val="1F2937"/>
                </a:solidFill>
              </a:defRPr>
            </a:pPr>
            <a:r>
              <a:t>• Interpretation: targeted ablation changes Arabic lexical gender realization, not only total counts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309360"/>
            <a:ext cx="84124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i="1">
                <a:solidFill>
                  <a:srgbClr val="646464"/>
                </a:solidFill>
              </a:defRPr>
            </a:pPr>
            <a:r>
              <a:t>Arabic examples are included from saved cross-lingual outputs where full paired captions are available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9FA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005840"/>
          </a:xfrm>
          <a:prstGeom prst="rect">
            <a:avLst/>
          </a:prstGeom>
          <a:solidFill>
            <a:srgbClr val="1937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228600"/>
            <a:ext cx="841248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FFFFFF"/>
                </a:solidFill>
              </a:defRPr>
            </a:pPr>
            <a:r>
              <a:t>Qualitative Examples (Cross-Lingual)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" y="1051560"/>
            <a:ext cx="859536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 i="1">
                <a:solidFill>
                  <a:srgbClr val="1F2937"/>
                </a:solidFill>
              </a:defRPr>
            </a:pPr>
            <a:r>
              <a:t>Configuration format: [Prompt Language] → [Caption Language]; Arabic shown in script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182880" y="1463040"/>
          <a:ext cx="8778237" cy="48280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53857"/>
                <a:gridCol w="1179166"/>
                <a:gridCol w="1266512"/>
                <a:gridCol w="1266512"/>
                <a:gridCol w="1266512"/>
                <a:gridCol w="1266512"/>
                <a:gridCol w="1179166"/>
              </a:tblGrid>
              <a:tr h="384048"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FFFFF"/>
                          </a:solidFill>
                        </a:defRPr>
                      </a:pPr>
                      <a:r>
                        <a:t>Image</a:t>
                      </a:r>
                    </a:p>
                  </a:txBody>
                  <a:tcPr>
                    <a:solidFill>
                      <a:srgbClr val="19375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FFFFF"/>
                          </a:solidFill>
                        </a:defRPr>
                      </a:pPr>
                      <a:r>
                        <a:t>Ground Truth</a:t>
                      </a:r>
                    </a:p>
                  </a:txBody>
                  <a:tcPr>
                    <a:solidFill>
                      <a:srgbClr val="19375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FFFFF"/>
                          </a:solidFill>
                        </a:defRPr>
                      </a:pPr>
                      <a:r>
                        <a:t>EN→EN</a:t>
                      </a:r>
                    </a:p>
                  </a:txBody>
                  <a:tcPr>
                    <a:solidFill>
                      <a:srgbClr val="19375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FFFFF"/>
                          </a:solidFill>
                        </a:defRPr>
                      </a:pPr>
                      <a:r>
                        <a:t>EN→AR</a:t>
                      </a:r>
                    </a:p>
                  </a:txBody>
                  <a:tcPr>
                    <a:solidFill>
                      <a:srgbClr val="19375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FFFFF"/>
                          </a:solidFill>
                        </a:defRPr>
                      </a:pPr>
                      <a:r>
                        <a:t>AR→EN</a:t>
                      </a:r>
                    </a:p>
                  </a:txBody>
                  <a:tcPr>
                    <a:solidFill>
                      <a:srgbClr val="19375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FFFFF"/>
                          </a:solidFill>
                        </a:defRPr>
                      </a:pPr>
                      <a:r>
                        <a:t>AR→AR</a:t>
                      </a:r>
                    </a:p>
                  </a:txBody>
                  <a:tcPr>
                    <a:solidFill>
                      <a:srgbClr val="19375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FFFFF"/>
                          </a:solidFill>
                        </a:defRPr>
                      </a:pPr>
                      <a:r>
                        <a:t>Bias Type</a:t>
                      </a:r>
                    </a:p>
                  </a:txBody>
                  <a:tcPr>
                    <a:solidFill>
                      <a:srgbClr val="19375F"/>
                    </a:solidFill>
                  </a:tcPr>
                </a:tc>
              </a:tr>
              <a:tr h="1481328">
                <a:tc>
                  <a:txBody>
                    <a:bodyPr wrap="square"/>
                    <a:lstStyle/>
                    <a:p>
                      <a:pPr algn="ctr">
                        <a:defRPr sz="1000">
                          <a:solidFill>
                            <a:srgbClr val="1F2937"/>
                          </a:solidFill>
                        </a:defRPr>
                      </a:pPr>
                    </a:p>
                  </a:txBody>
                  <a:tcPr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1000">
                          <a:solidFill>
                            <a:srgbClr val="1F2937"/>
                          </a:solidFill>
                        </a:defRPr>
                      </a:pPr>
                      <a:r>
                        <a:t>Woman athlete</a:t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1000">
                          <a:solidFill>
                            <a:srgbClr val="1F2937"/>
                          </a:solidFill>
                        </a:defRPr>
                      </a:pPr>
                      <a:r>
                        <a:t>'female tennis player...'</a:t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1000">
                          <a:solidFill>
                            <a:srgbClr val="1F2937"/>
                          </a:solidFill>
                        </a:defRPr>
                      </a:pPr>
                      <a:r>
                        <a:t>'لاعبة ...' → 'امرأة ...'</a:t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1000">
                          <a:solidFill>
                            <a:srgbClr val="1F2937"/>
                          </a:solidFill>
                        </a:defRPr>
                      </a:pPr>
                      <a:r>
                        <a:t>'woman playing tennis...'</a:t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1000">
                          <a:solidFill>
                            <a:srgbClr val="1F2937"/>
                          </a:solidFill>
                        </a:defRPr>
                      </a:pPr>
                      <a:r>
                        <a:t>'في الصورة نرى امرأة ...'</a:t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1000">
                          <a:solidFill>
                            <a:srgbClr val="1F2937"/>
                          </a:solidFill>
                        </a:defRPr>
                      </a:pPr>
                      <a:r>
                        <a:t>Lexical shift</a:t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</a:tr>
              <a:tr h="1481328">
                <a:tc>
                  <a:txBody>
                    <a:bodyPr wrap="square"/>
                    <a:lstStyle/>
                    <a:p>
                      <a:pPr algn="ctr">
                        <a:defRPr sz="1000">
                          <a:solidFill>
                            <a:srgbClr val="1F2937"/>
                          </a:solidFill>
                        </a:defRPr>
                      </a:pP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pPr algn="ctr">
                        <a:defRPr sz="1000">
                          <a:solidFill>
                            <a:srgbClr val="1F2937"/>
                          </a:solidFill>
                        </a:defRPr>
                      </a:pPr>
                      <a:r>
                        <a:t>Person in wheelchair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pPr algn="ctr">
                        <a:defRPr sz="1000">
                          <a:solidFill>
                            <a:srgbClr val="1F2937"/>
                          </a:solidFill>
                        </a:defRPr>
                      </a:pPr>
                      <a:r>
                        <a:t>'person ...' → 'man ...'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pPr algn="ctr">
                        <a:defRPr sz="1000">
                          <a:solidFill>
                            <a:srgbClr val="1F2937"/>
                          </a:solidFill>
                        </a:defRPr>
                      </a:pPr>
                      <a:r>
                        <a:t>More explicit 'رجل' usage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pPr algn="ctr">
                        <a:defRPr sz="1000">
                          <a:solidFill>
                            <a:srgbClr val="1F2937"/>
                          </a:solidFill>
                        </a:defRPr>
                      </a:pPr>
                      <a:r>
                        <a:t>'person ...' → 'man ...'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pPr algn="ctr">
                        <a:defRPr sz="1000">
                          <a:solidFill>
                            <a:srgbClr val="1F2937"/>
                          </a:solidFill>
                        </a:defRPr>
                      </a:pPr>
                      <a:r>
                        <a:t>Gendered noun substitutions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pPr algn="ctr">
                        <a:defRPr sz="1000">
                          <a:solidFill>
                            <a:srgbClr val="1F2937"/>
                          </a:solidFill>
                        </a:defRPr>
                      </a:pPr>
                      <a:r>
                        <a:t>Gender re-labeling</a:t>
                      </a:r>
                    </a:p>
                  </a:txBody>
                  <a:tcPr/>
                </a:tc>
              </a:tr>
              <a:tr h="1481328">
                <a:tc>
                  <a:txBody>
                    <a:bodyPr wrap="square"/>
                    <a:lstStyle/>
                    <a:p>
                      <a:pPr algn="ctr">
                        <a:defRPr sz="1000">
                          <a:solidFill>
                            <a:srgbClr val="1F2937"/>
                          </a:solidFill>
                        </a:defRPr>
                      </a:pPr>
                    </a:p>
                  </a:txBody>
                  <a:tcPr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1000">
                          <a:solidFill>
                            <a:srgbClr val="1F2937"/>
                          </a:solidFill>
                        </a:defRPr>
                      </a:pPr>
                      <a:r>
                        <a:t>Cyclist (neutral role)</a:t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1000">
                          <a:solidFill>
                            <a:srgbClr val="1F2937"/>
                          </a:solidFill>
                        </a:defRPr>
                      </a:pPr>
                      <a:r>
                        <a:t>'cyclist ...' → 'man ...'</a:t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1000">
                          <a:solidFill>
                            <a:srgbClr val="1F2937"/>
                          </a:solidFill>
                        </a:defRPr>
                      </a:pPr>
                      <a:r>
                        <a:t>Gender-marked nouns ('راكب دراجة' etc.)</a:t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1000">
                          <a:solidFill>
                            <a:srgbClr val="1F2937"/>
                          </a:solidFill>
                        </a:defRPr>
                      </a:pPr>
                      <a:r>
                        <a:t>'cyclist ...' → 'man ...'</a:t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1000">
                          <a:solidFill>
                            <a:srgbClr val="1F2937"/>
                          </a:solidFill>
                        </a:defRPr>
                      </a:pPr>
                      <a:r>
                        <a:t>Role wording becomes gendered</a:t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1000">
                          <a:solidFill>
                            <a:srgbClr val="1F2937"/>
                          </a:solidFill>
                        </a:defRPr>
                      </a:pPr>
                      <a:r>
                        <a:t>Role→gender substitution</a:t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</a:tr>
            </a:tbl>
          </a:graphicData>
        </a:graphic>
      </p:graphicFrame>
      <p:pic>
        <p:nvPicPr>
          <p:cNvPr id="6" name="Picture 5" descr="img_tennis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9456" y="1920240"/>
            <a:ext cx="1335024" cy="1335024"/>
          </a:xfrm>
          <a:prstGeom prst="rect">
            <a:avLst/>
          </a:prstGeom>
        </p:spPr>
      </p:pic>
      <p:pic>
        <p:nvPicPr>
          <p:cNvPr id="7" name="Picture 6" descr="img_wheelchair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19456" y="3401568"/>
            <a:ext cx="1335024" cy="1335024"/>
          </a:xfrm>
          <a:prstGeom prst="rect">
            <a:avLst/>
          </a:prstGeom>
        </p:spPr>
      </p:pic>
      <p:pic>
        <p:nvPicPr>
          <p:cNvPr id="8" name="Picture 7" descr="img_cyclist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19456" y="4882896"/>
            <a:ext cx="1335024" cy="1335024"/>
          </a:xfrm>
          <a:prstGeom prst="rect">
            <a:avLst/>
          </a:prstGeom>
        </p:spPr>
      </p:pic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9FA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228600" y="228600"/>
            <a:ext cx="822960" cy="822960"/>
          </a:xfrm>
          <a:prstGeom prst="ellipse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28600" y="365760"/>
            <a:ext cx="82296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3200" b="1">
                <a:solidFill>
                  <a:srgbClr val="FFFFFF"/>
                </a:solidFill>
              </a:defRPr>
            </a:pPr>
            <a:r>
              <a:t>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88720" y="228600"/>
            <a:ext cx="758952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0">
                <a:solidFill>
                  <a:srgbClr val="3B82F6"/>
                </a:solidFill>
              </a:defRPr>
            </a:pPr>
            <a:r>
              <a:t>Key Finding #1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88720" y="594360"/>
            <a:ext cx="758952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1F2937"/>
                </a:solidFill>
              </a:defRPr>
            </a:pPr>
            <a:r>
              <a:t>Targeted Ablation is Statistically Significant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28600" y="1371600"/>
            <a:ext cx="8686800" cy="1645920"/>
          </a:xfrm>
          <a:prstGeom prst="roundRect">
            <a:avLst/>
          </a:prstGeom>
          <a:solidFill>
            <a:srgbClr val="EFF6FF"/>
          </a:solidFill>
          <a:ln>
            <a:solidFill>
              <a:srgbClr val="3B82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1554480"/>
            <a:ext cx="832104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>
                <a:solidFill>
                  <a:srgbClr val="1F2937"/>
                </a:solidFill>
              </a:defRPr>
            </a:pPr>
            <a:r>
              <a:t>Ablating just 0.6% of SAE features (100 out of 16,384-32,768) produces statistically significant changes in gender-marked language across ALL three models tested. Effect ratios range from 1.8× to 7.1× compared to random feature ablation controls.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28600" y="3200400"/>
            <a:ext cx="8686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3B82F6"/>
                </a:solidFill>
              </a:defRPr>
            </a:pPr>
            <a:r>
              <a:t>Supporting Evidence: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28600" y="3611880"/>
            <a:ext cx="868680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400">
                <a:solidFill>
                  <a:srgbClr val="1F2937"/>
                </a:solidFill>
              </a:defRPr>
            </a:pPr>
            <a:r>
              <a:t>✓ PaLiGemma: Wilcoxon p = 1.65 × 10⁻²¹ (highly significant)</a:t>
            </a:r>
          </a:p>
          <a:p>
            <a:pPr>
              <a:spcAft>
                <a:spcPts val="400"/>
              </a:spcAft>
              <a:defRPr sz="1400">
                <a:solidFill>
                  <a:srgbClr val="1F2937"/>
                </a:solidFill>
              </a:defRPr>
            </a:pPr>
            <a:r>
              <a:t>✓ Qwen2-VL: Bootstrap 95% CI = [+0.038, +0.200] (excludes zero)</a:t>
            </a:r>
          </a:p>
          <a:p>
            <a:pPr>
              <a:spcAft>
                <a:spcPts val="400"/>
              </a:spcAft>
              <a:defRPr sz="1400">
                <a:solidFill>
                  <a:srgbClr val="1F2937"/>
                </a:solidFill>
              </a:defRPr>
            </a:pPr>
            <a:r>
              <a:t>✓ Llama: Bootstrap 95% CI = [+0.078, +0.242] (excludes zero)</a:t>
            </a:r>
          </a:p>
          <a:p>
            <a:pPr>
              <a:defRPr sz="600"/>
            </a:pPr>
          </a:p>
          <a:p>
            <a:pPr>
              <a:spcAft>
                <a:spcPts val="400"/>
              </a:spcAft>
              <a:defRPr sz="1400">
                <a:solidFill>
                  <a:srgbClr val="3B82F6"/>
                </a:solidFill>
              </a:defRPr>
            </a:pPr>
            <a:r>
              <a:t>→ Effect persists even for Llama with poor SAE quality (36.6% EV)</a:t>
            </a:r>
          </a:p>
          <a:p>
            <a:pPr>
              <a:spcAft>
                <a:spcPts val="400"/>
              </a:spcAft>
              <a:defRPr sz="1400">
                <a:solidFill>
                  <a:srgbClr val="3B82F6"/>
                </a:solidFill>
              </a:defRPr>
            </a:pPr>
            <a:r>
              <a:t>→ Results are CONSERVATIVE; better SAEs would likely yield larger effects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9FA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005840"/>
          </a:xfrm>
          <a:prstGeom prst="rect">
            <a:avLst/>
          </a:prstGeom>
          <a:solidFill>
            <a:srgbClr val="1937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228600"/>
            <a:ext cx="841248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FFFFFF"/>
                </a:solidFill>
              </a:defRPr>
            </a:pPr>
            <a:r>
              <a:t>PaLiGemma-3B: Detailed Results (Layer 9)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" y="1097280"/>
            <a:ext cx="859536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 i="1">
                <a:solidFill>
                  <a:srgbClr val="1F2937"/>
                </a:solidFill>
              </a:defRPr>
            </a:pPr>
            <a:r>
              <a:t>Targeted ablation reduces gender terms by 16.1%, nearly 2× the random effect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182880" y="1463040"/>
          <a:ext cx="8778240" cy="28803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55648"/>
                <a:gridCol w="1755648"/>
                <a:gridCol w="1755648"/>
                <a:gridCol w="1755648"/>
                <a:gridCol w="1755648"/>
              </a:tblGrid>
              <a:tr h="411480"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FFFFF"/>
                          </a:solidFill>
                        </a:defRPr>
                      </a:pPr>
                      <a:r>
                        <a:t>Metric</a:t>
                      </a:r>
                    </a:p>
                  </a:txBody>
                  <a:tcPr>
                    <a:solidFill>
                      <a:srgbClr val="19375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FFFFF"/>
                          </a:solidFill>
                        </a:defRPr>
                      </a:pPr>
                      <a:r>
                        <a:t>Baseline</a:t>
                      </a:r>
                    </a:p>
                  </a:txBody>
                  <a:tcPr>
                    <a:solidFill>
                      <a:srgbClr val="19375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FFFFF"/>
                          </a:solidFill>
                        </a:defRPr>
                      </a:pPr>
                      <a:r>
                        <a:t>Targeted</a:t>
                      </a:r>
                    </a:p>
                  </a:txBody>
                  <a:tcPr>
                    <a:solidFill>
                      <a:srgbClr val="19375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FFFFF"/>
                          </a:solidFill>
                        </a:defRPr>
                      </a:pPr>
                      <a:r>
                        <a:t>Random (mean)</a:t>
                      </a:r>
                    </a:p>
                  </a:txBody>
                  <a:tcPr>
                    <a:solidFill>
                      <a:srgbClr val="19375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FFFFF"/>
                          </a:solidFill>
                        </a:defRPr>
                      </a:pPr>
                      <a:r>
                        <a:t>Significance</a:t>
                      </a:r>
                    </a:p>
                  </a:txBody>
                  <a:tcPr>
                    <a:solidFill>
                      <a:srgbClr val="19375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1F2937"/>
                          </a:solidFill>
                        </a:defRPr>
                      </a:pPr>
                      <a:r>
                        <a:t>Gender Terms</a:t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1F2937"/>
                          </a:solidFill>
                        </a:defRPr>
                      </a:pPr>
                      <a:r>
                        <a:t>1,522</a:t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1F2937"/>
                          </a:solidFill>
                        </a:defRPr>
                      </a:pPr>
                      <a:r>
                        <a:t>1,277</a:t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1F2937"/>
                          </a:solidFill>
                        </a:defRPr>
                      </a:pPr>
                      <a:r>
                        <a:t>1,389 ± 59</a:t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1F2937"/>
                          </a:solidFill>
                        </a:defRPr>
                      </a:pPr>
                      <a:r>
                        <a:t>p &lt; 10⁻²⁰</a:t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1F2937"/>
                          </a:solidFill>
                        </a:defRPr>
                      </a:pPr>
                      <a:r>
                        <a:t>Change 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1F2937"/>
                          </a:solidFill>
                        </a:defRPr>
                      </a:pPr>
                      <a:r>
                        <a:t>—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1F2937"/>
                          </a:solidFill>
                        </a:defRPr>
                      </a:pPr>
                      <a:r>
                        <a:t>-16.1%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1F2937"/>
                          </a:solidFill>
                        </a:defRPr>
                      </a:pPr>
                      <a:r>
                        <a:t>-8.7% ± 3.9%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1F2937"/>
                          </a:solidFill>
                        </a:defRPr>
                      </a:pPr>
                      <a:r>
                        <a:t>—</a:t>
                      </a:r>
                    </a:p>
                  </a:txBody>
                  <a:tcPr/>
                </a:tc>
              </a:tr>
              <a:tr h="411480"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1F2937"/>
                          </a:solidFill>
                        </a:defRPr>
                      </a:pPr>
                      <a:r>
                        <a:t>Gender Rate</a:t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1F2937"/>
                          </a:solidFill>
                        </a:defRPr>
                      </a:pPr>
                      <a:r>
                        <a:t>0.0982</a:t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1F2937"/>
                          </a:solidFill>
                        </a:defRPr>
                      </a:pPr>
                      <a:r>
                        <a:t>0.1076</a:t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1F2937"/>
                          </a:solidFill>
                        </a:defRPr>
                      </a:pPr>
                      <a:r>
                        <a:t>0.0858 ± 0.008</a:t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1F2937"/>
                          </a:solidFill>
                        </a:defRPr>
                      </a:pPr>
                      <a:r>
                        <a:t>—</a:t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1F2937"/>
                          </a:solidFill>
                        </a:defRPr>
                      </a:pPr>
                      <a:r>
                        <a:t>Per-image Δ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1F2937"/>
                          </a:solidFill>
                        </a:defRPr>
                      </a:pPr>
                      <a:r>
                        <a:t>—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1F2937"/>
                          </a:solidFill>
                        </a:defRPr>
                      </a:pPr>
                      <a:r>
                        <a:t>-0.490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1F2937"/>
                          </a:solidFill>
                        </a:defRPr>
                      </a:pPr>
                      <a:r>
                        <a:t>-0.266 ± 0.033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1F2937"/>
                          </a:solidFill>
                        </a:defRPr>
                      </a:pPr>
                      <a:r>
                        <a:t>—</a:t>
                      </a:r>
                    </a:p>
                  </a:txBody>
                  <a:tcPr/>
                </a:tc>
              </a:tr>
              <a:tr h="411480"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1F2937"/>
                          </a:solidFill>
                        </a:defRPr>
                      </a:pPr>
                      <a:r>
                        <a:t>95% CI</a:t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1F2937"/>
                          </a:solidFill>
                        </a:defRPr>
                      </a:pPr>
                      <a:r>
                        <a:t>—</a:t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1F2937"/>
                          </a:solidFill>
                        </a:defRPr>
                      </a:pPr>
                      <a:r>
                        <a:t>[-0.570, -0.406]</a:t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1F2937"/>
                          </a:solidFill>
                        </a:defRPr>
                      </a:pPr>
                      <a:r>
                        <a:t>[-0.332, -0.200]</a:t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1F2937"/>
                          </a:solidFill>
                        </a:defRPr>
                      </a:pPr>
                      <a:r>
                        <a:t>Excludes 0</a:t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1F2937"/>
                          </a:solidFill>
                        </a:defRPr>
                      </a:pPr>
                      <a:r>
                        <a:t>Nonbinary Terms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1F2937"/>
                          </a:solidFill>
                        </a:defRPr>
                      </a:pPr>
                      <a:r>
                        <a:t>325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1F2937"/>
                          </a:solidFill>
                        </a:defRPr>
                      </a:pPr>
                      <a:r>
                        <a:t>276 (-15%)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1F2937"/>
                          </a:solidFill>
                        </a:defRPr>
                      </a:pPr>
                      <a:r>
                        <a:t>—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1F2937"/>
                          </a:solidFill>
                        </a:defRPr>
                      </a:pPr>
                      <a:r>
                        <a:t>—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9FA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005840"/>
          </a:xfrm>
          <a:prstGeom prst="rect">
            <a:avLst/>
          </a:prstGeom>
          <a:solidFill>
            <a:srgbClr val="1937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228600"/>
            <a:ext cx="841248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FFFFFF"/>
                </a:solidFill>
              </a:defRPr>
            </a:pPr>
            <a:r>
              <a:t>PaLiGemma: Layer Specificity Analysis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" y="1097280"/>
            <a:ext cx="859536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 i="1">
                <a:solidFill>
                  <a:srgbClr val="1F2937"/>
                </a:solidFill>
              </a:defRPr>
            </a:pPr>
            <a:r>
              <a:t>L9 (mid-layer) carries the ENTIRE effect; L17 (penultimate) has NO significant effect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182880" y="1463040"/>
          <a:ext cx="8778240" cy="2057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55648"/>
                <a:gridCol w="1755648"/>
                <a:gridCol w="1755648"/>
                <a:gridCol w="1755648"/>
                <a:gridCol w="1755648"/>
              </a:tblGrid>
              <a:tr h="411480"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FFFFF"/>
                          </a:solidFill>
                        </a:defRPr>
                      </a:pPr>
                      <a:r>
                        <a:t>Configuration</a:t>
                      </a:r>
                    </a:p>
                  </a:txBody>
                  <a:tcPr>
                    <a:solidFill>
                      <a:srgbClr val="19375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FFFFF"/>
                          </a:solidFill>
                        </a:defRPr>
                      </a:pPr>
                      <a:r>
                        <a:t>Gender Terms</a:t>
                      </a:r>
                    </a:p>
                  </a:txBody>
                  <a:tcPr>
                    <a:solidFill>
                      <a:srgbClr val="19375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FFFFF"/>
                          </a:solidFill>
                        </a:defRPr>
                      </a:pPr>
                      <a:r>
                        <a:t>Change %</a:t>
                      </a:r>
                    </a:p>
                  </a:txBody>
                  <a:tcPr>
                    <a:solidFill>
                      <a:srgbClr val="19375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FFFFF"/>
                          </a:solidFill>
                        </a:defRPr>
                      </a:pPr>
                      <a:r>
                        <a:t>Rate Δ%</a:t>
                      </a:r>
                    </a:p>
                  </a:txBody>
                  <a:tcPr>
                    <a:solidFill>
                      <a:srgbClr val="19375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FFFFF"/>
                          </a:solidFill>
                        </a:defRPr>
                      </a:pPr>
                      <a:r>
                        <a:t>Wilcoxon p</a:t>
                      </a:r>
                    </a:p>
                  </a:txBody>
                  <a:tcPr>
                    <a:solidFill>
                      <a:srgbClr val="19375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1F2937"/>
                          </a:solidFill>
                        </a:defRPr>
                      </a:pPr>
                      <a:r>
                        <a:t>L9 Targeted</a:t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1F2937"/>
                          </a:solidFill>
                        </a:defRPr>
                      </a:pPr>
                      <a:r>
                        <a:t>1,277</a:t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1F2937"/>
                          </a:solidFill>
                        </a:defRPr>
                      </a:pPr>
                      <a:r>
                        <a:t>-16.1%</a:t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1F2937"/>
                          </a:solidFill>
                        </a:defRPr>
                      </a:pPr>
                      <a:r>
                        <a:t>+9.7%</a:t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1F2937"/>
                          </a:solidFill>
                        </a:defRPr>
                      </a:pPr>
                      <a:r>
                        <a:t>1.65×10⁻²¹</a:t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1F2937"/>
                          </a:solidFill>
                        </a:defRPr>
                      </a:pPr>
                      <a:r>
                        <a:t>L17 Targeted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1F2937"/>
                          </a:solidFill>
                        </a:defRPr>
                      </a:pPr>
                      <a:r>
                        <a:t>1,510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1F2937"/>
                          </a:solidFill>
                        </a:defRPr>
                      </a:pPr>
                      <a:r>
                        <a:t>-0.8%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1F2937"/>
                          </a:solidFill>
                        </a:defRPr>
                      </a:pPr>
                      <a:r>
                        <a:t>-21.8%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1F2937"/>
                          </a:solidFill>
                        </a:defRPr>
                      </a:pPr>
                      <a:r>
                        <a:t>0.999 (n.s.)</a:t>
                      </a:r>
                    </a:p>
                  </a:txBody>
                  <a:tcPr/>
                </a:tc>
              </a:tr>
              <a:tr h="411480"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1F2937"/>
                          </a:solidFill>
                        </a:defRPr>
                      </a:pPr>
                      <a:r>
                        <a:t>L9+L17 Combined</a:t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1F2937"/>
                          </a:solidFill>
                        </a:defRPr>
                      </a:pPr>
                      <a:r>
                        <a:t>1,277</a:t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1F2937"/>
                          </a:solidFill>
                        </a:defRPr>
                      </a:pPr>
                      <a:r>
                        <a:t>-16.1%</a:t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1F2937"/>
                          </a:solidFill>
                        </a:defRPr>
                      </a:pPr>
                      <a:r>
                        <a:t>+9.7%</a:t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1F2937"/>
                          </a:solidFill>
                        </a:defRPr>
                      </a:pPr>
                      <a:r>
                        <a:t>1.65×10⁻²¹</a:t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1F2937"/>
                          </a:solidFill>
                        </a:defRPr>
                      </a:pPr>
                      <a:r>
                        <a:t>L17 Alone (in multi)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1F2937"/>
                          </a:solidFill>
                        </a:defRPr>
                      </a:pPr>
                      <a:r>
                        <a:t>1,522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1F2937"/>
                          </a:solidFill>
                        </a:defRPr>
                      </a:pPr>
                      <a:r>
                        <a:t>0.0%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1F2937"/>
                          </a:solidFill>
                        </a:defRPr>
                      </a:pPr>
                      <a:r>
                        <a:t>0.0%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1F2937"/>
                          </a:solidFill>
                        </a:defRPr>
                      </a:pPr>
                      <a:r>
                        <a:t>1.0 (n.s.)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9FA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937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64592"/>
            <a:ext cx="841248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FFFFFF"/>
                </a:solidFill>
              </a:defRPr>
            </a:pPr>
            <a:r>
              <a:t>Layer Specificity Visualization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86868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 i="1">
                <a:solidFill>
                  <a:srgbClr val="1F2937"/>
                </a:solidFill>
              </a:defRPr>
            </a:pPr>
            <a:r>
              <a:t>Consistent with literature: mid-layers encode semantic content, late layers handle output formatting</a:t>
            </a:r>
          </a:p>
        </p:txBody>
      </p:sp>
      <p:pic>
        <p:nvPicPr>
          <p:cNvPr id="5" name="Picture 4" descr="fig4_layer_specificit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234440"/>
            <a:ext cx="8595360" cy="5465981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274320" y="6172200"/>
            <a:ext cx="859536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100" i="1">
                <a:solidFill>
                  <a:srgbClr val="505050"/>
                </a:solidFill>
              </a:defRPr>
            </a:pPr>
            <a:r>
              <a:t>Gender features are LOCALIZED in middle layers, not distributed uniformly across the network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9FA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005840"/>
          </a:xfrm>
          <a:prstGeom prst="rect">
            <a:avLst/>
          </a:prstGeom>
          <a:solidFill>
            <a:srgbClr val="1937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228600"/>
            <a:ext cx="841248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FFFFFF"/>
                </a:solidFill>
              </a:defRPr>
            </a:pPr>
            <a:r>
              <a:t>Per-Term Changes Under Ablation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" y="1097280"/>
            <a:ext cx="859536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 i="1">
                <a:solidFill>
                  <a:srgbClr val="1F2937"/>
                </a:solidFill>
              </a:defRPr>
            </a:pPr>
            <a:r>
              <a:t>Ablation RESHUFFLES which gendered terms appear; does not uniformly suppress all gender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182880" y="1463040"/>
          <a:ext cx="8778240" cy="28803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55648"/>
                <a:gridCol w="1755648"/>
                <a:gridCol w="1755648"/>
                <a:gridCol w="1755648"/>
                <a:gridCol w="1755648"/>
              </a:tblGrid>
              <a:tr h="411480"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FFFFF"/>
                          </a:solidFill>
                        </a:defRPr>
                      </a:pPr>
                      <a:r>
                        <a:t>Term</a:t>
                      </a:r>
                    </a:p>
                  </a:txBody>
                  <a:tcPr>
                    <a:solidFill>
                      <a:srgbClr val="19375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FFFFF"/>
                          </a:solidFill>
                        </a:defRPr>
                      </a:pPr>
                      <a:r>
                        <a:t>PaLiGemma</a:t>
                      </a:r>
                    </a:p>
                  </a:txBody>
                  <a:tcPr>
                    <a:solidFill>
                      <a:srgbClr val="19375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FFFFF"/>
                          </a:solidFill>
                        </a:defRPr>
                      </a:pPr>
                      <a:r>
                        <a:t>Qwen2-VL</a:t>
                      </a:r>
                    </a:p>
                  </a:txBody>
                  <a:tcPr>
                    <a:solidFill>
                      <a:srgbClr val="19375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FFFFF"/>
                          </a:solidFill>
                        </a:defRPr>
                      </a:pPr>
                      <a:r>
                        <a:t>Llama</a:t>
                      </a:r>
                    </a:p>
                  </a:txBody>
                  <a:tcPr>
                    <a:solidFill>
                      <a:srgbClr val="19375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FFFFF"/>
                          </a:solidFill>
                        </a:defRPr>
                      </a:pPr>
                      <a:r>
                        <a:t>Pattern</a:t>
                      </a:r>
                    </a:p>
                  </a:txBody>
                  <a:tcPr>
                    <a:solidFill>
                      <a:srgbClr val="19375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1F2937"/>
                          </a:solidFill>
                        </a:defRPr>
                      </a:pPr>
                      <a:r>
                        <a:t>her</a:t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1F2937"/>
                          </a:solidFill>
                        </a:defRPr>
                      </a:pPr>
                      <a:r>
                        <a:t>-73.2%</a:t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1F2937"/>
                          </a:solidFill>
                        </a:defRPr>
                      </a:pPr>
                      <a:r>
                        <a:t>+4.1%</a:t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1F2937"/>
                          </a:solidFill>
                        </a:defRPr>
                      </a:pPr>
                      <a:r>
                        <a:t>+11.9%</a:t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1F2937"/>
                          </a:solidFill>
                        </a:defRPr>
                      </a:pPr>
                      <a:r>
                        <a:t>Opposite direction</a:t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1F2937"/>
                          </a:solidFill>
                        </a:defRPr>
                      </a:pPr>
                      <a:r>
                        <a:t>him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1F2937"/>
                          </a:solidFill>
                        </a:defRPr>
                      </a:pPr>
                      <a:r>
                        <a:t>-83.3%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1F2937"/>
                          </a:solidFill>
                        </a:defRPr>
                      </a:pPr>
                      <a:r>
                        <a:t>+90.9%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1F2937"/>
                          </a:solidFill>
                        </a:defRPr>
                      </a:pPr>
                      <a:r>
                        <a:t>+5.3%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1F2937"/>
                          </a:solidFill>
                        </a:defRPr>
                      </a:pPr>
                      <a:r>
                        <a:t>Most dramatic in Qwen</a:t>
                      </a:r>
                    </a:p>
                  </a:txBody>
                  <a:tcPr/>
                </a:tc>
              </a:tr>
              <a:tr h="411480"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1F2937"/>
                          </a:solidFill>
                        </a:defRPr>
                      </a:pPr>
                      <a:r>
                        <a:t>he</a:t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1F2937"/>
                          </a:solidFill>
                        </a:defRPr>
                      </a:pPr>
                      <a:r>
                        <a:t>-22.6%</a:t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1F2937"/>
                          </a:solidFill>
                        </a:defRPr>
                      </a:pPr>
                      <a:r>
                        <a:t>+0.2%</a:t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1F2937"/>
                          </a:solidFill>
                        </a:defRPr>
                      </a:pPr>
                      <a:r>
                        <a:t>-0.2%</a:t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1F2937"/>
                          </a:solidFill>
                        </a:defRPr>
                      </a:pPr>
                      <a:r>
                        <a:t>Relatively stable</a:t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1F2937"/>
                          </a:solidFill>
                        </a:defRPr>
                      </a:pPr>
                      <a:r>
                        <a:t>man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1F2937"/>
                          </a:solidFill>
                        </a:defRPr>
                      </a:pPr>
                      <a:r>
                        <a:t>+10.4%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1F2937"/>
                          </a:solidFill>
                        </a:defRPr>
                      </a:pPr>
                      <a:r>
                        <a:t>+53.6%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1F2937"/>
                          </a:solidFill>
                        </a:defRPr>
                      </a:pPr>
                      <a:r>
                        <a:t>+4.8%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1F2937"/>
                          </a:solidFill>
                        </a:defRPr>
                      </a:pPr>
                      <a:r>
                        <a:t>Nouns increase in Qwen</a:t>
                      </a:r>
                    </a:p>
                  </a:txBody>
                  <a:tcPr/>
                </a:tc>
              </a:tr>
              <a:tr h="411480"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1F2937"/>
                          </a:solidFill>
                        </a:defRPr>
                      </a:pPr>
                      <a:r>
                        <a:t>woman</a:t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1F2937"/>
                          </a:solidFill>
                        </a:defRPr>
                      </a:pPr>
                      <a:r>
                        <a:t>+9.3%</a:t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1F2937"/>
                          </a:solidFill>
                        </a:defRPr>
                      </a:pPr>
                      <a:r>
                        <a:t>+43.6%</a:t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1F2937"/>
                          </a:solidFill>
                        </a:defRPr>
                      </a:pPr>
                      <a:r>
                        <a:t>-4.3%</a:t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1F2937"/>
                          </a:solidFill>
                        </a:defRPr>
                      </a:pPr>
                      <a:r>
                        <a:t>Nouns increase in Qwen</a:t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1F2937"/>
                          </a:solidFill>
                        </a:defRPr>
                      </a:pPr>
                      <a:r>
                        <a:t>his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1F2937"/>
                          </a:solidFill>
                        </a:defRPr>
                      </a:pPr>
                      <a:r>
                        <a:t>-0.4%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1F2937"/>
                          </a:solidFill>
                        </a:defRPr>
                      </a:pPr>
                      <a:r>
                        <a:t>+6.3%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1F2937"/>
                          </a:solidFill>
                        </a:defRPr>
                      </a:pPr>
                      <a:r>
                        <a:t>+66.3%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1F2937"/>
                          </a:solidFill>
                        </a:defRPr>
                      </a:pPr>
                      <a:r>
                        <a:t>Increases in Llama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9FA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937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64592"/>
            <a:ext cx="841248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FFFFFF"/>
                </a:solidFill>
              </a:defRPr>
            </a:pPr>
            <a:r>
              <a:t>Per-Term Change Heatmap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86868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 i="1">
                <a:solidFill>
                  <a:srgbClr val="1F2937"/>
                </a:solidFill>
              </a:defRPr>
            </a:pPr>
            <a:r>
              <a:t>Pattern reveals different underlying mechanisms across architectures</a:t>
            </a:r>
          </a:p>
        </p:txBody>
      </p:sp>
      <p:pic>
        <p:nvPicPr>
          <p:cNvPr id="5" name="Picture 4" descr="fig3_per_term_heatma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234440"/>
            <a:ext cx="8595360" cy="2766606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274320" y="6172200"/>
            <a:ext cx="859536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100" i="1">
                <a:solidFill>
                  <a:srgbClr val="505050"/>
                </a:solidFill>
              </a:defRPr>
            </a:pPr>
            <a:r>
              <a:t>Color intensity shows magnitude of change; red = decrease, blue = increase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AF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228600" y="228600"/>
            <a:ext cx="822960" cy="822960"/>
          </a:xfrm>
          <a:prstGeom prst="ellipse">
            <a:avLst/>
          </a:prstGeom>
          <a:solidFill>
            <a:srgbClr val="EA58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28600" y="365760"/>
            <a:ext cx="82296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3200" b="1">
                <a:solidFill>
                  <a:srgbClr val="FFFFFF"/>
                </a:solidFill>
              </a:defRPr>
            </a:pPr>
            <a:r>
              <a:t>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88720" y="228600"/>
            <a:ext cx="758952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EA580C"/>
                </a:solidFill>
              </a:defRPr>
            </a:pPr>
            <a:r>
              <a:t>★ KEY NOVEL FINDING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88720" y="594360"/>
            <a:ext cx="758952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1F2937"/>
                </a:solidFill>
              </a:defRPr>
            </a:pPr>
            <a:r>
              <a:t>DIRECTION DIVERGENCE: Excitatory vs Inhibitory Encoding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28600" y="1371600"/>
            <a:ext cx="8686800" cy="1645920"/>
          </a:xfrm>
          <a:prstGeom prst="roundRect">
            <a:avLst/>
          </a:prstGeom>
          <a:solidFill>
            <a:srgbClr val="FFEDD5"/>
          </a:solidFill>
          <a:ln>
            <a:solidFill>
              <a:srgbClr val="EA580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1554480"/>
            <a:ext cx="832104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>
                <a:solidFill>
                  <a:srgbClr val="1F2937"/>
                </a:solidFill>
              </a:defRPr>
            </a:pPr>
            <a:r>
              <a:t>The DIRECTION of the intervention effect depends on model architecture. This is our most important and novel discovery: the same ablation intervention has OPPOSITE effects across different architectures. This has critical implications for debiasing strategies.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28600" y="3200400"/>
            <a:ext cx="8686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EA580C"/>
                </a:solidFill>
              </a:defRPr>
            </a:pPr>
            <a:r>
              <a:t>Supporting Evidence: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28600" y="3611880"/>
            <a:ext cx="868680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400">
                <a:solidFill>
                  <a:srgbClr val="1F2937"/>
                </a:solidFill>
              </a:defRPr>
            </a:pPr>
            <a:r>
              <a:t>✓ PaLiGemma (captioning model): -16.1% gender terms</a:t>
            </a:r>
          </a:p>
          <a:p>
            <a:pPr>
              <a:spcAft>
                <a:spcPts val="400"/>
              </a:spcAft>
              <a:defRPr sz="1400">
                <a:solidFill>
                  <a:srgbClr val="3B82F6"/>
                </a:solidFill>
              </a:defRPr>
            </a:pPr>
            <a:r>
              <a:t>→ Ablation REMOVES gendered language (excitatory features)</a:t>
            </a:r>
          </a:p>
          <a:p>
            <a:pPr>
              <a:defRPr sz="600"/>
            </a:pPr>
          </a:p>
          <a:p>
            <a:pPr>
              <a:spcAft>
                <a:spcPts val="400"/>
              </a:spcAft>
              <a:defRPr sz="1400">
                <a:solidFill>
                  <a:srgbClr val="1F2937"/>
                </a:solidFill>
              </a:defRPr>
            </a:pPr>
            <a:r>
              <a:t>✓ Qwen2-VL + Llama (instruction-tuned): +4-5% gender terms</a:t>
            </a:r>
          </a:p>
          <a:p>
            <a:pPr>
              <a:spcAft>
                <a:spcPts val="400"/>
              </a:spcAft>
              <a:defRPr sz="1400">
                <a:solidFill>
                  <a:srgbClr val="3B82F6"/>
                </a:solidFill>
              </a:defRPr>
            </a:pPr>
            <a:r>
              <a:t>→ Ablation RELEASES gendered language (inhibitory features)</a:t>
            </a:r>
          </a:p>
          <a:p>
            <a:pPr>
              <a:defRPr sz="600"/>
            </a:pPr>
          </a:p>
          <a:p>
            <a:pPr>
              <a:spcAft>
                <a:spcPts val="400"/>
              </a:spcAft>
              <a:defRPr sz="1400">
                <a:solidFill>
                  <a:srgbClr val="1F2937"/>
                </a:solidFill>
              </a:defRPr>
            </a:pPr>
            <a:r>
              <a:t>✓ PRACTICAL IMPLICATION: Same 'debiasing' intervention would</a:t>
            </a:r>
          </a:p>
          <a:p>
            <a:pPr>
              <a:spcAft>
                <a:spcPts val="400"/>
              </a:spcAft>
              <a:defRPr sz="1400">
                <a:solidFill>
                  <a:srgbClr val="3B82F6"/>
                </a:solidFill>
              </a:defRPr>
            </a:pPr>
            <a:r>
              <a:t>→ REDUCE bias in PaLiGemma (intended effect)</a:t>
            </a:r>
          </a:p>
          <a:p>
            <a:pPr>
              <a:spcAft>
                <a:spcPts val="400"/>
              </a:spcAft>
              <a:defRPr sz="1400">
                <a:solidFill>
                  <a:srgbClr val="3B82F6"/>
                </a:solidFill>
              </a:defRPr>
            </a:pPr>
            <a:r>
              <a:t>→ INCREASE bias in Qwen/Llama (opposite of intended!)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9FA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005840"/>
          </a:xfrm>
          <a:prstGeom prst="rect">
            <a:avLst/>
          </a:prstGeom>
          <a:solidFill>
            <a:srgbClr val="1937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228600"/>
            <a:ext cx="841248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FFFFFF"/>
                </a:solidFill>
              </a:defRPr>
            </a:pPr>
            <a:r>
              <a:t>Two Mechanisms of Gender Encoding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" y="1188720"/>
            <a:ext cx="41148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>
                <a:solidFill>
                  <a:srgbClr val="EA580C"/>
                </a:solidFill>
              </a:defRPr>
            </a:pPr>
            <a:r>
              <a:t>EXCITATORY (PaLiGemma)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74320" y="1645920"/>
            <a:ext cx="411480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  <a:defRPr sz="1500">
                <a:solidFill>
                  <a:srgbClr val="1F2937"/>
                </a:solidFill>
              </a:defRPr>
            </a:pPr>
            <a:r>
              <a:t>• Smaller, captioning-focused model</a:t>
            </a:r>
          </a:p>
          <a:p>
            <a:pPr>
              <a:spcAft>
                <a:spcPts val="500"/>
              </a:spcAft>
              <a:defRPr sz="1500">
                <a:solidFill>
                  <a:srgbClr val="1F2937"/>
                </a:solidFill>
              </a:defRPr>
            </a:pPr>
            <a:r>
              <a:t>• Gender features PRODUCE gendered output</a:t>
            </a:r>
          </a:p>
          <a:p>
            <a:pPr>
              <a:spcAft>
                <a:spcPts val="500"/>
              </a:spcAft>
              <a:defRPr sz="1500">
                <a:solidFill>
                  <a:srgbClr val="1F2937"/>
                </a:solidFill>
              </a:defRPr>
            </a:pPr>
            <a:r>
              <a:t>• Like a light switch: ON → gender terms</a:t>
            </a:r>
          </a:p>
          <a:p>
            <a:pPr>
              <a:spcAft>
                <a:spcPts val="500"/>
              </a:spcAft>
              <a:defRPr sz="1500">
                <a:solidFill>
                  <a:srgbClr val="1F2937"/>
                </a:solidFill>
              </a:defRPr>
            </a:pPr>
            <a:r>
              <a:t>• Ablation turns switch OFF → fewer terms</a:t>
            </a:r>
          </a:p>
          <a:p>
            <a:pPr>
              <a:spcAft>
                <a:spcPts val="500"/>
              </a:spcAft>
              <a:defRPr sz="1500">
                <a:solidFill>
                  <a:srgbClr val="1F2937"/>
                </a:solidFill>
              </a:defRPr>
            </a:pPr>
            <a:r>
              <a:t>• </a:t>
            </a:r>
          </a:p>
          <a:p>
            <a:pPr>
              <a:spcAft>
                <a:spcPts val="500"/>
              </a:spcAft>
              <a:defRPr sz="1500">
                <a:solidFill>
                  <a:srgbClr val="1F2937"/>
                </a:solidFill>
              </a:defRPr>
            </a:pPr>
            <a:r>
              <a:t>• Trained to describe images directly</a:t>
            </a:r>
          </a:p>
          <a:p>
            <a:pPr>
              <a:spcAft>
                <a:spcPts val="500"/>
              </a:spcAft>
              <a:defRPr sz="1500">
                <a:solidFill>
                  <a:srgbClr val="1F2937"/>
                </a:solidFill>
              </a:defRPr>
            </a:pPr>
            <a:r>
              <a:t>• Simple task: see person → describe gender</a:t>
            </a:r>
          </a:p>
        </p:txBody>
      </p:sp>
      <p:sp>
        <p:nvSpPr>
          <p:cNvPr id="6" name="Rectangle 5"/>
          <p:cNvSpPr/>
          <p:nvPr/>
        </p:nvSpPr>
        <p:spPr>
          <a:xfrm>
            <a:off x="4526280" y="1188720"/>
            <a:ext cx="18288" cy="4846320"/>
          </a:xfrm>
          <a:prstGeom prst="rect">
            <a:avLst/>
          </a:prstGeom>
          <a:solidFill>
            <a:srgbClr val="C8C8C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754880" y="1188720"/>
            <a:ext cx="41148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>
                <a:solidFill>
                  <a:srgbClr val="9333EA"/>
                </a:solidFill>
              </a:defRPr>
            </a:pPr>
            <a:r>
              <a:t>INHIBITORY (Qwen, Llama)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754880" y="1645920"/>
            <a:ext cx="411480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  <a:defRPr sz="1500">
                <a:solidFill>
                  <a:srgbClr val="1F2937"/>
                </a:solidFill>
              </a:defRPr>
            </a:pPr>
            <a:r>
              <a:t>• Larger, instruction-tuned models</a:t>
            </a:r>
          </a:p>
          <a:p>
            <a:pPr>
              <a:spcAft>
                <a:spcPts val="500"/>
              </a:spcAft>
              <a:defRPr sz="1500">
                <a:solidFill>
                  <a:srgbClr val="1F2937"/>
                </a:solidFill>
              </a:defRPr>
            </a:pPr>
            <a:r>
              <a:t>• Features REGULATE/SUPPRESS gender</a:t>
            </a:r>
          </a:p>
          <a:p>
            <a:pPr>
              <a:spcAft>
                <a:spcPts val="500"/>
              </a:spcAft>
              <a:defRPr sz="1500">
                <a:solidFill>
                  <a:srgbClr val="1F2937"/>
                </a:solidFill>
              </a:defRPr>
            </a:pPr>
            <a:r>
              <a:t>• Like a governor/brake on a car</a:t>
            </a:r>
          </a:p>
          <a:p>
            <a:pPr>
              <a:spcAft>
                <a:spcPts val="500"/>
              </a:spcAft>
              <a:defRPr sz="1500">
                <a:solidFill>
                  <a:srgbClr val="1F2937"/>
                </a:solidFill>
              </a:defRPr>
            </a:pPr>
            <a:r>
              <a:t>• Ablation removes brake → more terms</a:t>
            </a:r>
          </a:p>
          <a:p>
            <a:pPr>
              <a:spcAft>
                <a:spcPts val="500"/>
              </a:spcAft>
              <a:defRPr sz="1500">
                <a:solidFill>
                  <a:srgbClr val="1F2937"/>
                </a:solidFill>
              </a:defRPr>
            </a:pPr>
            <a:r>
              <a:t>• </a:t>
            </a:r>
          </a:p>
          <a:p>
            <a:pPr>
              <a:spcAft>
                <a:spcPts val="500"/>
              </a:spcAft>
              <a:defRPr sz="1500">
                <a:solidFill>
                  <a:srgbClr val="1F2937"/>
                </a:solidFill>
              </a:defRPr>
            </a:pPr>
            <a:r>
              <a:t>• RLHF/alignment training may create</a:t>
            </a:r>
          </a:p>
          <a:p>
            <a:pPr>
              <a:spcAft>
                <a:spcPts val="500"/>
              </a:spcAft>
              <a:defRPr sz="1500">
                <a:solidFill>
                  <a:srgbClr val="1F2937"/>
                </a:solidFill>
              </a:defRPr>
            </a:pPr>
            <a:r>
              <a:t>• 'safety circuits' that regulate bias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9FA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005840"/>
          </a:xfrm>
          <a:prstGeom prst="rect">
            <a:avLst/>
          </a:prstGeom>
          <a:solidFill>
            <a:srgbClr val="1937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228600"/>
            <a:ext cx="841248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FFFFFF"/>
                </a:solidFill>
              </a:defRPr>
            </a:pPr>
            <a:r>
              <a:t>Hypothesis: Why Direction Divergence?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1234440"/>
            <a:ext cx="841248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800" b="1">
                <a:solidFill>
                  <a:srgbClr val="EA580C"/>
                </a:solidFill>
              </a:defRPr>
            </a:pPr>
            <a:r>
              <a:t>★ Captioning models (PaLiGemma):</a:t>
            </a:r>
          </a:p>
          <a:p>
            <a:pPr lvl="1">
              <a:spcAft>
                <a:spcPts val="600"/>
              </a:spcAft>
              <a:defRPr sz="1600">
                <a:solidFill>
                  <a:srgbClr val="1F2937"/>
                </a:solidFill>
              </a:defRPr>
            </a:pPr>
            <a:r>
              <a:t>   Trained to describe images directly</a:t>
            </a:r>
          </a:p>
          <a:p>
            <a:pPr lvl="1">
              <a:spcAft>
                <a:spcPts val="600"/>
              </a:spcAft>
              <a:defRPr sz="1600">
                <a:solidFill>
                  <a:srgbClr val="1F2937"/>
                </a:solidFill>
              </a:defRPr>
            </a:pPr>
            <a:r>
              <a:t>   Task: 'See person, describe attributes including gender'</a:t>
            </a:r>
          </a:p>
          <a:p>
            <a:pPr lvl="1">
              <a:spcAft>
                <a:spcPts val="600"/>
              </a:spcAft>
              <a:defRPr sz="1600">
                <a:solidFill>
                  <a:srgbClr val="1F2937"/>
                </a:solidFill>
              </a:defRPr>
            </a:pPr>
            <a:r>
              <a:t>   Learn features that PRODUCE gendered descriptions</a:t>
            </a:r>
          </a:p>
          <a:p>
            <a:pPr lvl="1">
              <a:spcAft>
                <a:spcPts val="600"/>
              </a:spcAft>
              <a:defRPr sz="1600">
                <a:solidFill>
                  <a:srgbClr val="1F2937"/>
                </a:solidFill>
              </a:defRPr>
            </a:pPr>
            <a:r>
              <a:t>   Gender features are EXCITATORY</a:t>
            </a:r>
          </a:p>
          <a:p>
            <a:pPr>
              <a:spcAft>
                <a:spcPts val="600"/>
              </a:spcAft>
              <a:defRPr sz="800">
                <a:solidFill>
                  <a:srgbClr val="1F2937"/>
                </a:solidFill>
              </a:defRPr>
            </a:pPr>
          </a:p>
          <a:p>
            <a:pPr>
              <a:spcAft>
                <a:spcPts val="600"/>
              </a:spcAft>
              <a:defRPr sz="1800" b="1">
                <a:solidFill>
                  <a:srgbClr val="EA580C"/>
                </a:solidFill>
              </a:defRPr>
            </a:pPr>
            <a:r>
              <a:t>★ Instruction-tuned models (Qwen, Llama):</a:t>
            </a:r>
          </a:p>
          <a:p>
            <a:pPr lvl="1">
              <a:spcAft>
                <a:spcPts val="600"/>
              </a:spcAft>
              <a:defRPr sz="1600">
                <a:solidFill>
                  <a:srgbClr val="1F2937"/>
                </a:solidFill>
              </a:defRPr>
            </a:pPr>
            <a:r>
              <a:t>   Trained with RLHF/alignment procedures</a:t>
            </a:r>
          </a:p>
          <a:p>
            <a:pPr lvl="1">
              <a:spcAft>
                <a:spcPts val="600"/>
              </a:spcAft>
              <a:defRPr sz="1600">
                <a:solidFill>
                  <a:srgbClr val="1F2937"/>
                </a:solidFill>
              </a:defRPr>
            </a:pPr>
            <a:r>
              <a:t>   May have learned to MODERATE/SUPPRESS gendered language</a:t>
            </a:r>
          </a:p>
          <a:p>
            <a:pPr lvl="1">
              <a:spcAft>
                <a:spcPts val="600"/>
              </a:spcAft>
              <a:defRPr sz="1600">
                <a:solidFill>
                  <a:srgbClr val="1F2937"/>
                </a:solidFill>
              </a:defRPr>
            </a:pPr>
            <a:r>
              <a:t>   Potentially developed 'safety circuits' during alignment</a:t>
            </a:r>
          </a:p>
          <a:p>
            <a:pPr lvl="1">
              <a:spcAft>
                <a:spcPts val="600"/>
              </a:spcAft>
              <a:defRPr sz="1600">
                <a:solidFill>
                  <a:srgbClr val="1F2937"/>
                </a:solidFill>
              </a:defRPr>
            </a:pPr>
            <a:r>
              <a:t>   Gender features act as INHIBITORY regulators</a:t>
            </a:r>
          </a:p>
          <a:p>
            <a:pPr>
              <a:spcAft>
                <a:spcPts val="600"/>
              </a:spcAft>
              <a:defRPr sz="800">
                <a:solidFill>
                  <a:srgbClr val="1F2937"/>
                </a:solidFill>
              </a:defRPr>
            </a:pPr>
          </a:p>
          <a:p>
            <a:pPr>
              <a:spcAft>
                <a:spcPts val="600"/>
              </a:spcAft>
              <a:defRPr sz="1700">
                <a:solidFill>
                  <a:srgbClr val="16A34A"/>
                </a:solidFill>
              </a:defRPr>
            </a:pPr>
            <a:r>
              <a:t>✓ Supporting evidence: BOTH instruction-tuned models show same direction</a:t>
            </a:r>
          </a:p>
          <a:p>
            <a:pPr>
              <a:spcAft>
                <a:spcPts val="600"/>
              </a:spcAft>
              <a:defRPr sz="1700">
                <a:solidFill>
                  <a:srgbClr val="DC2626"/>
                </a:solidFill>
              </a:defRPr>
            </a:pPr>
            <a:r>
              <a:t>⚠ Caveat: Could partially reflect different hook methods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9FA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005840"/>
          </a:xfrm>
          <a:prstGeom prst="rect">
            <a:avLst/>
          </a:prstGeom>
          <a:solidFill>
            <a:srgbClr val="1937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228600"/>
            <a:ext cx="841248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FFFFFF"/>
                </a:solidFill>
              </a:defRPr>
            </a:pPr>
            <a:r>
              <a:t>SAE Quality Metrics Across Models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" y="1097280"/>
            <a:ext cx="859536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 i="1">
                <a:solidFill>
                  <a:srgbClr val="1F2937"/>
                </a:solidFill>
              </a:defRPr>
            </a:pPr>
            <a:r>
              <a:t>Quality varies substantially; intervention works even with poor SAE (Llama 36.6% EV)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182880" y="1463040"/>
          <a:ext cx="8778240" cy="16459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55648"/>
                <a:gridCol w="1755648"/>
                <a:gridCol w="1755648"/>
                <a:gridCol w="1755648"/>
                <a:gridCol w="1755648"/>
              </a:tblGrid>
              <a:tr h="411480"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FFFFF"/>
                          </a:solidFill>
                        </a:defRPr>
                      </a:pPr>
                      <a:r>
                        <a:t>Model</a:t>
                      </a:r>
                    </a:p>
                  </a:txBody>
                  <a:tcPr>
                    <a:solidFill>
                      <a:srgbClr val="19375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FFFFF"/>
                          </a:solidFill>
                        </a:defRPr>
                      </a:pPr>
                      <a:r>
                        <a:t>Cosine Sim</a:t>
                      </a:r>
                    </a:p>
                  </a:txBody>
                  <a:tcPr>
                    <a:solidFill>
                      <a:srgbClr val="19375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FFFFF"/>
                          </a:solidFill>
                        </a:defRPr>
                      </a:pPr>
                      <a:r>
                        <a:t>Explained Var.</a:t>
                      </a:r>
                    </a:p>
                  </a:txBody>
                  <a:tcPr>
                    <a:solidFill>
                      <a:srgbClr val="19375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FFFFF"/>
                          </a:solidFill>
                        </a:defRPr>
                      </a:pPr>
                      <a:r>
                        <a:t>L0 (Active)</a:t>
                      </a:r>
                    </a:p>
                  </a:txBody>
                  <a:tcPr>
                    <a:solidFill>
                      <a:srgbClr val="19375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FFFFF"/>
                          </a:solidFill>
                        </a:defRPr>
                      </a:pPr>
                      <a:r>
                        <a:t>Dead %</a:t>
                      </a:r>
                    </a:p>
                  </a:txBody>
                  <a:tcPr>
                    <a:solidFill>
                      <a:srgbClr val="19375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1F2937"/>
                          </a:solidFill>
                        </a:defRPr>
                      </a:pPr>
                      <a:r>
                        <a:t>PaLiGemma (L9)</a:t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1F2937"/>
                          </a:solidFill>
                        </a:defRPr>
                      </a:pPr>
                      <a:r>
                        <a:t>0.9999</a:t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1F2937"/>
                          </a:solidFill>
                        </a:defRPr>
                      </a:pPr>
                      <a:r>
                        <a:t>99.8%</a:t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1F2937"/>
                          </a:solidFill>
                        </a:defRPr>
                      </a:pPr>
                      <a:r>
                        <a:t>7,992</a:t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1F2937"/>
                          </a:solidFill>
                        </a:defRPr>
                      </a:pPr>
                      <a:r>
                        <a:t>51.2%</a:t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1F2937"/>
                          </a:solidFill>
                        </a:defRPr>
                      </a:pPr>
                      <a:r>
                        <a:t>Qwen2-VL (L12)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1F2937"/>
                          </a:solidFill>
                        </a:defRPr>
                      </a:pPr>
                      <a:r>
                        <a:t>0.9965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1F2937"/>
                          </a:solidFill>
                        </a:defRPr>
                      </a:pPr>
                      <a:r>
                        <a:t>66.4%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1F2937"/>
                          </a:solidFill>
                        </a:defRPr>
                      </a:pPr>
                      <a:r>
                        <a:t>2,049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1F2937"/>
                          </a:solidFill>
                        </a:defRPr>
                      </a:pPr>
                      <a:r>
                        <a:t>71.6%</a:t>
                      </a:r>
                    </a:p>
                  </a:txBody>
                  <a:tcPr/>
                </a:tc>
              </a:tr>
              <a:tr h="411480"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1F2937"/>
                          </a:solidFill>
                        </a:defRPr>
                      </a:pPr>
                      <a:r>
                        <a:t>Llama (L20)</a:t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1F2937"/>
                          </a:solidFill>
                        </a:defRPr>
                      </a:pPr>
                      <a:r>
                        <a:t>0.9956</a:t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1F2937"/>
                          </a:solidFill>
                        </a:defRPr>
                      </a:pPr>
                      <a:r>
                        <a:t>36.6%</a:t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1F2937"/>
                          </a:solidFill>
                        </a:defRPr>
                      </a:pPr>
                      <a:r>
                        <a:t>344</a:t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1F2937"/>
                          </a:solidFill>
                        </a:defRPr>
                      </a:pPr>
                      <a:r>
                        <a:t>98.6%</a:t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9FA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005840"/>
          </a:xfrm>
          <a:prstGeom prst="rect">
            <a:avLst/>
          </a:prstGeom>
          <a:solidFill>
            <a:srgbClr val="1937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228600"/>
            <a:ext cx="841248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FFFFFF"/>
                </a:solidFill>
              </a:defRPr>
            </a:pPr>
            <a:r>
              <a:t>Robustness to SAE Quality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1234440"/>
            <a:ext cx="841248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800" b="1">
                <a:solidFill>
                  <a:srgbClr val="EA580C"/>
                </a:solidFill>
              </a:defRPr>
            </a:pPr>
            <a:r>
              <a:t>★ SAE quality varies SUBSTANTIALLY across models:</a:t>
            </a:r>
          </a:p>
          <a:p>
            <a:pPr lvl="1">
              <a:spcAft>
                <a:spcPts val="600"/>
              </a:spcAft>
              <a:defRPr sz="1600">
                <a:solidFill>
                  <a:srgbClr val="1F2937"/>
                </a:solidFill>
              </a:defRPr>
            </a:pPr>
            <a:r>
              <a:t>   PaLiGemma: Excellent (99.8% explained variance)</a:t>
            </a:r>
          </a:p>
          <a:p>
            <a:pPr lvl="1">
              <a:spcAft>
                <a:spcPts val="600"/>
              </a:spcAft>
              <a:defRPr sz="1600">
                <a:solidFill>
                  <a:srgbClr val="1F2937"/>
                </a:solidFill>
              </a:defRPr>
            </a:pPr>
            <a:r>
              <a:t>   Qwen2-VL: Good (66.4% explained variance)</a:t>
            </a:r>
          </a:p>
          <a:p>
            <a:pPr lvl="1">
              <a:spcAft>
                <a:spcPts val="600"/>
              </a:spcAft>
              <a:defRPr sz="1600">
                <a:solidFill>
                  <a:srgbClr val="1F2937"/>
                </a:solidFill>
              </a:defRPr>
            </a:pPr>
            <a:r>
              <a:t>   Llama: Poor (36.6% explained variance, 98.6% dead features)</a:t>
            </a:r>
          </a:p>
          <a:p>
            <a:pPr>
              <a:spcAft>
                <a:spcPts val="600"/>
              </a:spcAft>
              <a:defRPr sz="800">
                <a:solidFill>
                  <a:srgbClr val="1F2937"/>
                </a:solidFill>
              </a:defRPr>
            </a:pPr>
          </a:p>
          <a:p>
            <a:pPr>
              <a:spcAft>
                <a:spcPts val="600"/>
              </a:spcAft>
              <a:defRPr sz="1800" b="1">
                <a:solidFill>
                  <a:srgbClr val="EA580C"/>
                </a:solidFill>
              </a:defRPr>
            </a:pPr>
            <a:r>
              <a:t>★ KEY FINDING: Intervention works even with low-quality SAEs!</a:t>
            </a:r>
          </a:p>
          <a:p>
            <a:pPr lvl="1">
              <a:spcAft>
                <a:spcPts val="600"/>
              </a:spcAft>
              <a:defRPr sz="1600">
                <a:solidFill>
                  <a:srgbClr val="1F2937"/>
                </a:solidFill>
              </a:defRPr>
            </a:pPr>
            <a:r>
              <a:t>   Llama achieves 6.0× effect ratio despite only 36.6% EV</a:t>
            </a:r>
          </a:p>
          <a:p>
            <a:pPr lvl="1">
              <a:spcAft>
                <a:spcPts val="600"/>
              </a:spcAft>
              <a:defRPr sz="1600">
                <a:solidFill>
                  <a:srgbClr val="1F2937"/>
                </a:solidFill>
              </a:defRPr>
            </a:pPr>
            <a:r>
              <a:t>   This is a CONSERVATIVE test of the approach</a:t>
            </a:r>
          </a:p>
          <a:p>
            <a:pPr lvl="1">
              <a:spcAft>
                <a:spcPts val="600"/>
              </a:spcAft>
              <a:defRPr sz="1600">
                <a:solidFill>
                  <a:srgbClr val="1F2937"/>
                </a:solidFill>
              </a:defRPr>
            </a:pPr>
            <a:r>
              <a:t>   Better SAEs would likely yield LARGER effects</a:t>
            </a:r>
          </a:p>
          <a:p>
            <a:pPr>
              <a:spcAft>
                <a:spcPts val="600"/>
              </a:spcAft>
              <a:defRPr sz="800">
                <a:solidFill>
                  <a:srgbClr val="1F2937"/>
                </a:solidFill>
              </a:defRPr>
            </a:pPr>
          </a:p>
          <a:p>
            <a:pPr>
              <a:spcAft>
                <a:spcPts val="600"/>
              </a:spcAft>
              <a:defRPr sz="1800" b="1">
                <a:solidFill>
                  <a:srgbClr val="EA580C"/>
                </a:solidFill>
              </a:defRPr>
            </a:pPr>
            <a:r>
              <a:t>★ Interpretation:</a:t>
            </a:r>
          </a:p>
          <a:p>
            <a:pPr lvl="1">
              <a:spcAft>
                <a:spcPts val="600"/>
              </a:spcAft>
              <a:defRPr sz="1600">
                <a:solidFill>
                  <a:srgbClr val="1F2937"/>
                </a:solidFill>
              </a:defRPr>
            </a:pPr>
            <a:r>
              <a:t>   Results are ROBUST to SAE training quality</a:t>
            </a:r>
          </a:p>
          <a:p>
            <a:pPr lvl="1">
              <a:spcAft>
                <a:spcPts val="600"/>
              </a:spcAft>
              <a:defRPr sz="1600">
                <a:solidFill>
                  <a:srgbClr val="1F2937"/>
                </a:solidFill>
              </a:defRPr>
            </a:pPr>
            <a:r>
              <a:t>   The causal relationship is real, not an artifact</a:t>
            </a:r>
          </a:p>
          <a:p>
            <a:pPr lvl="1">
              <a:spcAft>
                <a:spcPts val="600"/>
              </a:spcAft>
              <a:defRPr sz="1600">
                <a:solidFill>
                  <a:srgbClr val="1F2937"/>
                </a:solidFill>
              </a:defRPr>
            </a:pPr>
            <a:r>
              <a:t>   This is a STRENGTH, not a weakness of the methodology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D558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828800"/>
            <a:ext cx="8229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200">
                <a:solidFill>
                  <a:srgbClr val="B4C8E6"/>
                </a:solidFill>
              </a:defRPr>
            </a:pPr>
            <a:r>
              <a:t>Part 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256032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800" b="1">
                <a:solidFill>
                  <a:srgbClr val="FFFFFF"/>
                </a:solidFill>
              </a:defRPr>
            </a:pPr>
            <a:r>
              <a:t>Cross-Lingual Analysis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023360"/>
            <a:ext cx="8229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800" i="1">
                <a:solidFill>
                  <a:srgbClr val="C8D2DC"/>
                </a:solidFill>
              </a:defRPr>
            </a:pPr>
            <a:r>
              <a:t>Do English and Arabic share gender bias features?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9FA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005840"/>
          </a:xfrm>
          <a:prstGeom prst="rect">
            <a:avLst/>
          </a:prstGeom>
          <a:solidFill>
            <a:srgbClr val="1937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228600"/>
            <a:ext cx="841248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FFFFFF"/>
                </a:solidFill>
              </a:defRPr>
            </a:pPr>
            <a:r>
              <a:t>Cross-Lingual Research Question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1234440"/>
            <a:ext cx="841248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800" b="1">
                <a:solidFill>
                  <a:srgbClr val="EA580C"/>
                </a:solidFill>
              </a:defRPr>
            </a:pPr>
            <a:r>
              <a:t>★ Core question: Do English and Arabic share gender bias features?</a:t>
            </a:r>
          </a:p>
          <a:p>
            <a:pPr>
              <a:spcAft>
                <a:spcPts val="600"/>
              </a:spcAft>
              <a:defRPr sz="800">
                <a:solidFill>
                  <a:srgbClr val="1F2937"/>
                </a:solidFill>
              </a:defRPr>
            </a:pPr>
          </a:p>
          <a:p>
            <a:pPr>
              <a:spcAft>
                <a:spcPts val="600"/>
              </a:spcAft>
              <a:defRPr sz="1700">
                <a:solidFill>
                  <a:srgbClr val="1F2937"/>
                </a:solidFill>
              </a:defRPr>
            </a:pPr>
            <a:r>
              <a:t>• IF YES → Debiasing in English automatically helps Arabic</a:t>
            </a:r>
          </a:p>
          <a:p>
            <a:pPr>
              <a:spcAft>
                <a:spcPts val="600"/>
              </a:spcAft>
              <a:defRPr sz="1700">
                <a:solidFill>
                  <a:srgbClr val="1F2937"/>
                </a:solidFill>
              </a:defRPr>
            </a:pPr>
            <a:r>
              <a:t>• IF NO → Language-specific interventions required</a:t>
            </a:r>
          </a:p>
          <a:p>
            <a:pPr>
              <a:spcAft>
                <a:spcPts val="600"/>
              </a:spcAft>
              <a:defRPr sz="800">
                <a:solidFill>
                  <a:srgbClr val="1F2937"/>
                </a:solidFill>
              </a:defRPr>
            </a:pPr>
          </a:p>
          <a:p>
            <a:pPr>
              <a:spcAft>
                <a:spcPts val="600"/>
              </a:spcAft>
              <a:defRPr sz="1800" b="1">
                <a:solidFill>
                  <a:srgbClr val="EA580C"/>
                </a:solidFill>
              </a:defRPr>
            </a:pPr>
            <a:r>
              <a:t>★ Why this matters:</a:t>
            </a:r>
          </a:p>
          <a:p>
            <a:pPr lvl="1">
              <a:spcAft>
                <a:spcPts val="600"/>
              </a:spcAft>
              <a:defRPr sz="1600">
                <a:solidFill>
                  <a:srgbClr val="1F2937"/>
                </a:solidFill>
              </a:defRPr>
            </a:pPr>
            <a:r>
              <a:t>   Multilingual VLMs serve users globally</a:t>
            </a:r>
          </a:p>
          <a:p>
            <a:pPr lvl="1">
              <a:spcAft>
                <a:spcPts val="600"/>
              </a:spcAft>
              <a:defRPr sz="1600">
                <a:solidFill>
                  <a:srgbClr val="1F2937"/>
                </a:solidFill>
              </a:defRPr>
            </a:pPr>
            <a:r>
              <a:t>   Debiasing only in English would leave other languages biased</a:t>
            </a:r>
          </a:p>
          <a:p>
            <a:pPr lvl="1">
              <a:spcAft>
                <a:spcPts val="600"/>
              </a:spcAft>
              <a:defRPr sz="1600">
                <a:solidFill>
                  <a:srgbClr val="1F2937"/>
                </a:solidFill>
              </a:defRPr>
            </a:pPr>
            <a:r>
              <a:t>   Need to understand if features transfer across languages</a:t>
            </a:r>
          </a:p>
          <a:p>
            <a:pPr>
              <a:spcAft>
                <a:spcPts val="600"/>
              </a:spcAft>
              <a:defRPr sz="800">
                <a:solidFill>
                  <a:srgbClr val="1F2937"/>
                </a:solidFill>
              </a:defRPr>
            </a:pPr>
          </a:p>
          <a:p>
            <a:pPr>
              <a:spcAft>
                <a:spcPts val="600"/>
              </a:spcAft>
              <a:defRPr sz="1800" b="1">
                <a:solidFill>
                  <a:srgbClr val="EA580C"/>
                </a:solidFill>
              </a:defRPr>
            </a:pPr>
            <a:r>
              <a:t>★ Languages differ fundamentally:</a:t>
            </a:r>
          </a:p>
          <a:p>
            <a:pPr lvl="1">
              <a:spcAft>
                <a:spcPts val="600"/>
              </a:spcAft>
              <a:defRPr sz="1600">
                <a:solidFill>
                  <a:srgbClr val="1F2937"/>
                </a:solidFill>
              </a:defRPr>
            </a:pPr>
            <a:r>
              <a:t>   English: Minimal grammatical gender</a:t>
            </a:r>
          </a:p>
          <a:p>
            <a:pPr lvl="1">
              <a:spcAft>
                <a:spcPts val="600"/>
              </a:spcAft>
              <a:defRPr sz="1600">
                <a:solidFill>
                  <a:srgbClr val="1F2937"/>
                </a:solidFill>
              </a:defRPr>
            </a:pPr>
            <a:r>
              <a:t>   Arabic: Extensive grammatical gender marking</a:t>
            </a:r>
          </a:p>
          <a:p>
            <a:pPr lvl="1">
              <a:spcAft>
                <a:spcPts val="600"/>
              </a:spcAft>
              <a:defRPr sz="1600">
                <a:solidFill>
                  <a:srgbClr val="1F2937"/>
                </a:solidFill>
              </a:defRPr>
            </a:pPr>
            <a:r>
              <a:t>   Different linguistic encoding → potentially different features?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9FA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005840"/>
          </a:xfrm>
          <a:prstGeom prst="rect">
            <a:avLst/>
          </a:prstGeom>
          <a:solidFill>
            <a:srgbClr val="1937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228600"/>
            <a:ext cx="841248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FFFFFF"/>
                </a:solidFill>
              </a:defRPr>
            </a:pPr>
            <a:r>
              <a:t>Cross-Lingual Feature Overlap (Jaccard Index)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" y="1097280"/>
            <a:ext cx="859536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 i="1">
                <a:solidFill>
                  <a:srgbClr val="1F2937"/>
                </a:solidFill>
              </a:defRPr>
            </a:pPr>
            <a:r>
              <a:t>Most models encode gender through LANGUAGE-SPECIFIC features (Jaccard &lt; 3%)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182880" y="1463040"/>
          <a:ext cx="8778240" cy="2057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94560"/>
                <a:gridCol w="2194560"/>
                <a:gridCol w="2194560"/>
                <a:gridCol w="2194560"/>
              </a:tblGrid>
              <a:tr h="411480"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FFFFF"/>
                          </a:solidFill>
                        </a:defRPr>
                      </a:pPr>
                      <a:r>
                        <a:t>Model</a:t>
                      </a:r>
                    </a:p>
                  </a:txBody>
                  <a:tcPr>
                    <a:solidFill>
                      <a:srgbClr val="19375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FFFFF"/>
                          </a:solidFill>
                        </a:defRPr>
                      </a:pPr>
                      <a:r>
                        <a:t>Overlap (top-100)</a:t>
                      </a:r>
                    </a:p>
                  </a:txBody>
                  <a:tcPr>
                    <a:solidFill>
                      <a:srgbClr val="19375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FFFFF"/>
                          </a:solidFill>
                        </a:defRPr>
                      </a:pPr>
                      <a:r>
                        <a:t>Jaccard</a:t>
                      </a:r>
                    </a:p>
                  </a:txBody>
                  <a:tcPr>
                    <a:solidFill>
                      <a:srgbClr val="19375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FFFFF"/>
                          </a:solidFill>
                        </a:defRPr>
                      </a:pPr>
                      <a:r>
                        <a:t>Interpretation</a:t>
                      </a:r>
                    </a:p>
                  </a:txBody>
                  <a:tcPr>
                    <a:solidFill>
                      <a:srgbClr val="19375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1F2937"/>
                          </a:solidFill>
                        </a:defRPr>
                      </a:pPr>
                      <a:r>
                        <a:t>PaLiGemma</a:t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1F2937"/>
                          </a:solidFill>
                        </a:defRPr>
                      </a:pPr>
                      <a:r>
                        <a:t>57 / 100</a:t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1F2937"/>
                          </a:solidFill>
                        </a:defRPr>
                      </a:pPr>
                      <a:r>
                        <a:t>0.399</a:t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1F2937"/>
                          </a:solidFill>
                        </a:defRPr>
                      </a:pPr>
                      <a:r>
                        <a:t>Substantial overlap</a:t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1F2937"/>
                          </a:solidFill>
                        </a:defRPr>
                      </a:pPr>
                      <a:r>
                        <a:t>Qwen2-VL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1F2937"/>
                          </a:solidFill>
                        </a:defRPr>
                      </a:pPr>
                      <a:r>
                        <a:t>0 / 100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1F2937"/>
                          </a:solidFill>
                        </a:defRPr>
                      </a:pPr>
                      <a:r>
                        <a:t>0.000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1F2937"/>
                          </a:solidFill>
                        </a:defRPr>
                      </a:pPr>
                      <a:r>
                        <a:t>Zero overlap</a:t>
                      </a:r>
                    </a:p>
                  </a:txBody>
                  <a:tcPr/>
                </a:tc>
              </a:tr>
              <a:tr h="411480"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1F2937"/>
                          </a:solidFill>
                        </a:defRPr>
                      </a:pPr>
                      <a:r>
                        <a:t>LLaVA</a:t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1F2937"/>
                          </a:solidFill>
                        </a:defRPr>
                      </a:pPr>
                      <a:r>
                        <a:t>2 / 100</a:t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1F2937"/>
                          </a:solidFill>
                        </a:defRPr>
                      </a:pPr>
                      <a:r>
                        <a:t>0.010</a:t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1F2937"/>
                          </a:solidFill>
                        </a:defRPr>
                      </a:pPr>
                      <a:r>
                        <a:t>Near-zero overlap</a:t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1F2937"/>
                          </a:solidFill>
                        </a:defRPr>
                      </a:pPr>
                      <a:r>
                        <a:t>Llama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1F2937"/>
                          </a:solidFill>
                        </a:defRPr>
                      </a:pPr>
                      <a:r>
                        <a:t>1 / 100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1F2937"/>
                          </a:solidFill>
                        </a:defRPr>
                      </a:pPr>
                      <a:r>
                        <a:t>0.005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1F2937"/>
                          </a:solidFill>
                        </a:defRPr>
                      </a:pPr>
                      <a:r>
                        <a:t>Near-zero overlap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9FA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005840"/>
          </a:xfrm>
          <a:prstGeom prst="rect">
            <a:avLst/>
          </a:prstGeom>
          <a:solidFill>
            <a:srgbClr val="1937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228600"/>
            <a:ext cx="841248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FFFFFF"/>
                </a:solidFill>
              </a:defRPr>
            </a:pPr>
            <a:r>
              <a:t>Causal 2×2 Cross-Lingual Ablation (Qwen2-VL)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" y="1097280"/>
            <a:ext cx="859536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 i="1">
                <a:solidFill>
                  <a:srgbClr val="1F2937"/>
                </a:solidFill>
              </a:defRPr>
            </a:pPr>
            <a:r>
              <a:t>Only within-language (EN→EN) is significant; cross-language ablation shows NO transfer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182880" y="1463040"/>
          <a:ext cx="8778240" cy="2057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55648"/>
                <a:gridCol w="1755648"/>
                <a:gridCol w="1755648"/>
                <a:gridCol w="1755648"/>
                <a:gridCol w="1755648"/>
              </a:tblGrid>
              <a:tr h="411480"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FFFFF"/>
                          </a:solidFill>
                        </a:defRPr>
                      </a:pPr>
                      <a:r>
                        <a:t>Condition</a:t>
                      </a:r>
                    </a:p>
                  </a:txBody>
                  <a:tcPr>
                    <a:solidFill>
                      <a:srgbClr val="19375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FFFFF"/>
                          </a:solidFill>
                        </a:defRPr>
                      </a:pPr>
                      <a:r>
                        <a:t>Features</a:t>
                      </a:r>
                    </a:p>
                  </a:txBody>
                  <a:tcPr>
                    <a:solidFill>
                      <a:srgbClr val="19375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FFFFF"/>
                          </a:solidFill>
                        </a:defRPr>
                      </a:pPr>
                      <a:r>
                        <a:t>Caption</a:t>
                      </a:r>
                    </a:p>
                  </a:txBody>
                  <a:tcPr>
                    <a:solidFill>
                      <a:srgbClr val="19375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FFFFF"/>
                          </a:solidFill>
                        </a:defRPr>
                      </a:pPr>
                      <a:r>
                        <a:t>Δ %</a:t>
                      </a:r>
                    </a:p>
                  </a:txBody>
                  <a:tcPr>
                    <a:solidFill>
                      <a:srgbClr val="19375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FFFFF"/>
                          </a:solidFill>
                        </a:defRPr>
                      </a:pPr>
                      <a:r>
                        <a:t>Significant?</a:t>
                      </a:r>
                    </a:p>
                  </a:txBody>
                  <a:tcPr>
                    <a:solidFill>
                      <a:srgbClr val="19375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1F2937"/>
                          </a:solidFill>
                        </a:defRPr>
                      </a:pPr>
                      <a:r>
                        <a:t>EN→EN (within)</a:t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1F2937"/>
                          </a:solidFill>
                        </a:defRPr>
                      </a:pPr>
                      <a:r>
                        <a:t>English</a:t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1F2937"/>
                          </a:solidFill>
                        </a:defRPr>
                      </a:pPr>
                      <a:r>
                        <a:t>English</a:t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1F2937"/>
                          </a:solidFill>
                        </a:defRPr>
                      </a:pPr>
                      <a:r>
                        <a:t>+4.0%</a:t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1F2937"/>
                          </a:solidFill>
                        </a:defRPr>
                      </a:pPr>
                      <a:r>
                        <a:t>YES ✓</a:t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1F2937"/>
                          </a:solidFill>
                        </a:defRPr>
                      </a:pPr>
                      <a:r>
                        <a:t>EN→AR (cross)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1F2937"/>
                          </a:solidFill>
                        </a:defRPr>
                      </a:pPr>
                      <a:r>
                        <a:t>English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1F2937"/>
                          </a:solidFill>
                        </a:defRPr>
                      </a:pPr>
                      <a:r>
                        <a:t>Arabic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1F2937"/>
                          </a:solidFill>
                        </a:defRPr>
                      </a:pPr>
                      <a:r>
                        <a:t>-2.5%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1F2937"/>
                          </a:solidFill>
                        </a:defRPr>
                      </a:pPr>
                      <a:r>
                        <a:t>NO ✗</a:t>
                      </a:r>
                    </a:p>
                  </a:txBody>
                  <a:tcPr/>
                </a:tc>
              </a:tr>
              <a:tr h="411480"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1F2937"/>
                          </a:solidFill>
                        </a:defRPr>
                      </a:pPr>
                      <a:r>
                        <a:t>AR→EN (cross)</a:t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1F2937"/>
                          </a:solidFill>
                        </a:defRPr>
                      </a:pPr>
                      <a:r>
                        <a:t>Arabic</a:t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1F2937"/>
                          </a:solidFill>
                        </a:defRPr>
                      </a:pPr>
                      <a:r>
                        <a:t>English</a:t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1F2937"/>
                          </a:solidFill>
                        </a:defRPr>
                      </a:pPr>
                      <a:r>
                        <a:t>+0.4%</a:t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1F2937"/>
                          </a:solidFill>
                        </a:defRPr>
                      </a:pPr>
                      <a:r>
                        <a:t>NO ✗</a:t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1F2937"/>
                          </a:solidFill>
                        </a:defRPr>
                      </a:pPr>
                      <a:r>
                        <a:t>AR→AR (within)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1F2937"/>
                          </a:solidFill>
                        </a:defRPr>
                      </a:pPr>
                      <a:r>
                        <a:t>Arabic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1F2937"/>
                          </a:solidFill>
                        </a:defRPr>
                      </a:pPr>
                      <a:r>
                        <a:t>Arabic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1F2937"/>
                          </a:solidFill>
                        </a:defRPr>
                      </a:pPr>
                      <a:r>
                        <a:t>-6.4%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1F2937"/>
                          </a:solidFill>
                        </a:defRPr>
                      </a:pPr>
                      <a:r>
                        <a:t>NO ✗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9FA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228600" y="228600"/>
            <a:ext cx="822960" cy="822960"/>
          </a:xfrm>
          <a:prstGeom prst="ellipse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28600" y="365760"/>
            <a:ext cx="82296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3200" b="1">
                <a:solidFill>
                  <a:srgbClr val="FFFFFF"/>
                </a:solidFill>
              </a:defRPr>
            </a:pPr>
            <a:r>
              <a:t>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88720" y="228600"/>
            <a:ext cx="758952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0">
                <a:solidFill>
                  <a:srgbClr val="3B82F6"/>
                </a:solidFill>
              </a:defRPr>
            </a:pPr>
            <a:r>
              <a:t>Key Finding #3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88720" y="594360"/>
            <a:ext cx="758952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1F2937"/>
                </a:solidFill>
              </a:defRPr>
            </a:pPr>
            <a:r>
              <a:t>Language-Specific Gender Encoding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28600" y="1371600"/>
            <a:ext cx="8686800" cy="1645920"/>
          </a:xfrm>
          <a:prstGeom prst="roundRect">
            <a:avLst/>
          </a:prstGeom>
          <a:solidFill>
            <a:srgbClr val="EFF6FF"/>
          </a:solidFill>
          <a:ln>
            <a:solidFill>
              <a:srgbClr val="3B82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1554480"/>
            <a:ext cx="832104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>
                <a:solidFill>
                  <a:srgbClr val="1F2937"/>
                </a:solidFill>
              </a:defRPr>
            </a:pPr>
            <a:r>
              <a:t>Cross-lingual feature overlap is near-zero (Jaccard &lt; 3%) for most models. Our causal 2×2 ablation experiment confirms: ablating English features has NO effect on Arabic captions when overlap is zero, but transfer DOES occur when overlap is high.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28600" y="3200400"/>
            <a:ext cx="8686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3B82F6"/>
                </a:solidFill>
              </a:defRPr>
            </a:pPr>
            <a:r>
              <a:t>Supporting Evidence: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28600" y="3611880"/>
            <a:ext cx="868680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400">
                <a:solidFill>
                  <a:srgbClr val="1F2937"/>
                </a:solidFill>
              </a:defRPr>
            </a:pPr>
            <a:r>
              <a:t>✓ Qwen2-VL: 0% overlap → NO cross-lingual transfer</a:t>
            </a:r>
          </a:p>
          <a:p>
            <a:pPr>
              <a:spcAft>
                <a:spcPts val="400"/>
              </a:spcAft>
              <a:defRPr sz="1400">
                <a:solidFill>
                  <a:srgbClr val="1F2937"/>
                </a:solidFill>
              </a:defRPr>
            </a:pPr>
            <a:r>
              <a:t>✓ PaLiGemma: 57% overlap → Transfer DOES occur</a:t>
            </a:r>
          </a:p>
          <a:p>
            <a:pPr>
              <a:defRPr sz="600"/>
            </a:pPr>
          </a:p>
          <a:p>
            <a:pPr>
              <a:spcAft>
                <a:spcPts val="400"/>
              </a:spcAft>
              <a:defRPr sz="1400">
                <a:solidFill>
                  <a:srgbClr val="1F2937"/>
                </a:solidFill>
              </a:defRPr>
            </a:pPr>
            <a:r>
              <a:t>✓ Feature overlap PREDICTS transferability:</a:t>
            </a:r>
          </a:p>
          <a:p>
            <a:pPr>
              <a:spcAft>
                <a:spcPts val="400"/>
              </a:spcAft>
              <a:defRPr sz="1400">
                <a:solidFill>
                  <a:srgbClr val="3B82F6"/>
                </a:solidFill>
              </a:defRPr>
            </a:pPr>
            <a:r>
              <a:t>→ Zero overlap → No transfer (independent encodings)</a:t>
            </a:r>
          </a:p>
          <a:p>
            <a:pPr>
              <a:spcAft>
                <a:spcPts val="400"/>
              </a:spcAft>
              <a:defRPr sz="1400">
                <a:solidFill>
                  <a:srgbClr val="3B82F6"/>
                </a:solidFill>
              </a:defRPr>
            </a:pPr>
            <a:r>
              <a:t>→ High overlap → Transfer occurs (shared representations)</a:t>
            </a:r>
          </a:p>
          <a:p>
            <a:pPr>
              <a:defRPr sz="600"/>
            </a:pPr>
          </a:p>
          <a:p>
            <a:pPr>
              <a:spcAft>
                <a:spcPts val="400"/>
              </a:spcAft>
              <a:defRPr sz="1400">
                <a:solidFill>
                  <a:srgbClr val="1F2937"/>
                </a:solidFill>
              </a:defRPr>
            </a:pPr>
            <a:r>
              <a:t>✓ PRACTICAL IMPLICATION:</a:t>
            </a:r>
          </a:p>
          <a:p>
            <a:pPr>
              <a:spcAft>
                <a:spcPts val="400"/>
              </a:spcAft>
              <a:defRPr sz="1400">
                <a:solidFill>
                  <a:srgbClr val="1F2937"/>
                </a:solidFill>
              </a:defRPr>
            </a:pPr>
            <a:r>
              <a:t>✓ Multilingual fairness requires language-specific interventions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9FA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937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64592"/>
            <a:ext cx="841248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FFFFFF"/>
                </a:solidFill>
              </a:defRPr>
            </a:pPr>
            <a:r>
              <a:t>Cross-Lingual Feature Analysis Summary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86868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 i="1">
                <a:solidFill>
                  <a:srgbClr val="1F2937"/>
                </a:solidFill>
              </a:defRPr>
            </a:pPr>
            <a:r>
              <a:t>Jaccard similarity computed over top-100 gender features per language</a:t>
            </a:r>
          </a:p>
        </p:txBody>
      </p:sp>
      <p:pic>
        <p:nvPicPr>
          <p:cNvPr id="5" name="Picture 4" descr="fig5_cross_lingual_summar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234440"/>
            <a:ext cx="8595360" cy="746084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274320" y="6172200"/>
            <a:ext cx="859536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100" i="1">
                <a:solidFill>
                  <a:srgbClr val="505050"/>
                </a:solidFill>
              </a:defRPr>
            </a:pPr>
            <a:r>
              <a:t>Feature overlap predicts cross-lingual transferability of debiasing interventions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D558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828800"/>
            <a:ext cx="8229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200">
                <a:solidFill>
                  <a:srgbClr val="B4C8E6"/>
                </a:solidFill>
              </a:defRPr>
            </a:pPr>
            <a:r>
              <a:t>Part 5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256032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800" b="1">
                <a:solidFill>
                  <a:srgbClr val="FFFFFF"/>
                </a:solidFill>
              </a:defRPr>
            </a:pPr>
            <a:r>
              <a:t>Implications, Limitations &amp; Future Work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023360"/>
            <a:ext cx="8229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800" i="1">
                <a:solidFill>
                  <a:srgbClr val="C8D2DC"/>
                </a:solidFill>
              </a:defRPr>
            </a:pPr>
            <a:r>
              <a:t>What does this mean for VLM bias mitigation?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9FA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005840"/>
          </a:xfrm>
          <a:prstGeom prst="rect">
            <a:avLst/>
          </a:prstGeom>
          <a:solidFill>
            <a:srgbClr val="1937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228600"/>
            <a:ext cx="841248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FFFFFF"/>
                </a:solidFill>
              </a:defRPr>
            </a:pPr>
            <a:r>
              <a:t>Practical Implications for Bias Mitigation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1234440"/>
            <a:ext cx="841248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700">
                <a:solidFill>
                  <a:srgbClr val="DC2626"/>
                </a:solidFill>
              </a:defRPr>
            </a:pPr>
            <a:r>
              <a:t>⚠ CRITICAL WARNING:</a:t>
            </a:r>
          </a:p>
          <a:p>
            <a:pPr lvl="1">
              <a:spcAft>
                <a:spcPts val="600"/>
              </a:spcAft>
              <a:defRPr sz="1600">
                <a:solidFill>
                  <a:srgbClr val="1F2937"/>
                </a:solidFill>
              </a:defRPr>
            </a:pPr>
            <a:r>
              <a:t>   Same intervention has OPPOSITE effects across architectures!</a:t>
            </a:r>
          </a:p>
          <a:p>
            <a:pPr>
              <a:spcAft>
                <a:spcPts val="600"/>
              </a:spcAft>
              <a:defRPr sz="800">
                <a:solidFill>
                  <a:srgbClr val="1F2937"/>
                </a:solidFill>
              </a:defRPr>
            </a:pPr>
          </a:p>
          <a:p>
            <a:pPr>
              <a:spcAft>
                <a:spcPts val="600"/>
              </a:spcAft>
              <a:defRPr sz="1800" b="1">
                <a:solidFill>
                  <a:srgbClr val="EA580C"/>
                </a:solidFill>
              </a:defRPr>
            </a:pPr>
            <a:r>
              <a:t>★ Naive debiasing (ablate top-differential features):</a:t>
            </a:r>
          </a:p>
          <a:p>
            <a:pPr lvl="1">
              <a:spcAft>
                <a:spcPts val="600"/>
              </a:spcAft>
              <a:defRPr sz="1600">
                <a:solidFill>
                  <a:srgbClr val="1F2937"/>
                </a:solidFill>
              </a:defRPr>
            </a:pPr>
            <a:r>
              <a:t>   REDUCES bias in PaLiGemma (captioning model) ✓</a:t>
            </a:r>
          </a:p>
          <a:p>
            <a:pPr lvl="1">
              <a:spcAft>
                <a:spcPts val="600"/>
              </a:spcAft>
              <a:defRPr sz="1600">
                <a:solidFill>
                  <a:srgbClr val="1F2937"/>
                </a:solidFill>
              </a:defRPr>
            </a:pPr>
            <a:r>
              <a:t>   INCREASES bias in Qwen/Llama (instruction-tuned) ✗</a:t>
            </a:r>
          </a:p>
          <a:p>
            <a:pPr>
              <a:spcAft>
                <a:spcPts val="600"/>
              </a:spcAft>
              <a:defRPr sz="800">
                <a:solidFill>
                  <a:srgbClr val="1F2937"/>
                </a:solidFill>
              </a:defRPr>
            </a:pPr>
          </a:p>
          <a:p>
            <a:pPr>
              <a:spcAft>
                <a:spcPts val="600"/>
              </a:spcAft>
              <a:defRPr sz="1800" b="1">
                <a:solidFill>
                  <a:srgbClr val="EA580C"/>
                </a:solidFill>
              </a:defRPr>
            </a:pPr>
            <a:r>
              <a:t>★ Architecture-specific analysis is ESSENTIAL before deployment</a:t>
            </a:r>
          </a:p>
          <a:p>
            <a:pPr lvl="1">
              <a:spcAft>
                <a:spcPts val="600"/>
              </a:spcAft>
              <a:defRPr sz="1600">
                <a:solidFill>
                  <a:srgbClr val="1F2937"/>
                </a:solidFill>
              </a:defRPr>
            </a:pPr>
            <a:r>
              <a:t>   Cannot assume one-size-fits-all debiasing</a:t>
            </a:r>
          </a:p>
          <a:p>
            <a:pPr lvl="1">
              <a:spcAft>
                <a:spcPts val="600"/>
              </a:spcAft>
              <a:defRPr sz="1600">
                <a:solidFill>
                  <a:srgbClr val="1F2937"/>
                </a:solidFill>
              </a:defRPr>
            </a:pPr>
            <a:r>
              <a:t>   Must understand whether features are excitatory or inhibitory</a:t>
            </a:r>
          </a:p>
          <a:p>
            <a:pPr>
              <a:spcAft>
                <a:spcPts val="600"/>
              </a:spcAft>
              <a:defRPr sz="800">
                <a:solidFill>
                  <a:srgbClr val="1F2937"/>
                </a:solidFill>
              </a:defRPr>
            </a:pPr>
          </a:p>
          <a:p>
            <a:pPr>
              <a:spcAft>
                <a:spcPts val="600"/>
              </a:spcAft>
              <a:defRPr sz="1800" b="1">
                <a:solidFill>
                  <a:srgbClr val="EA580C"/>
                </a:solidFill>
              </a:defRPr>
            </a:pPr>
            <a:r>
              <a:t>★ Language-specific interventions needed for multilingual fairness</a:t>
            </a:r>
          </a:p>
          <a:p>
            <a:pPr lvl="1">
              <a:spcAft>
                <a:spcPts val="600"/>
              </a:spcAft>
              <a:defRPr sz="1600">
                <a:solidFill>
                  <a:srgbClr val="1F2937"/>
                </a:solidFill>
              </a:defRPr>
            </a:pPr>
            <a:r>
              <a:t>   Cannot assume cross-lingual transfer without measuring overlap</a:t>
            </a:r>
          </a:p>
          <a:p>
            <a:pPr lvl="1">
              <a:spcAft>
                <a:spcPts val="600"/>
              </a:spcAft>
              <a:defRPr sz="1600">
                <a:solidFill>
                  <a:srgbClr val="1F2937"/>
                </a:solidFill>
              </a:defRPr>
            </a:pPr>
            <a:r>
              <a:t>   Each language may require independent debiasing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9FA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005840"/>
          </a:xfrm>
          <a:prstGeom prst="rect">
            <a:avLst/>
          </a:prstGeom>
          <a:solidFill>
            <a:srgbClr val="1937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228600"/>
            <a:ext cx="841248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FFFFFF"/>
                </a:solidFill>
              </a:defRPr>
            </a:pPr>
            <a:r>
              <a:t>Summary of Contributions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1234440"/>
            <a:ext cx="841248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800" b="1">
                <a:solidFill>
                  <a:srgbClr val="EA580C"/>
                </a:solidFill>
              </a:defRPr>
            </a:pPr>
            <a:r>
              <a:t>★ METHODOLOGICAL:</a:t>
            </a:r>
          </a:p>
          <a:p>
            <a:pPr lvl="1">
              <a:spcAft>
                <a:spcPts val="600"/>
              </a:spcAft>
              <a:defRPr sz="1600">
                <a:solidFill>
                  <a:srgbClr val="1F2937"/>
                </a:solidFill>
              </a:defRPr>
            </a:pPr>
            <a:r>
              <a:t>   First SAE-based mechanistic interpretability of VLM bias</a:t>
            </a:r>
          </a:p>
          <a:p>
            <a:pPr lvl="1">
              <a:spcAft>
                <a:spcPts val="600"/>
              </a:spcAft>
              <a:defRPr sz="1600">
                <a:solidFill>
                  <a:srgbClr val="1F2937"/>
                </a:solidFill>
              </a:defRPr>
            </a:pPr>
            <a:r>
              <a:t>   Extended SAE framework from text-only LLMs to multimodal VLMs</a:t>
            </a:r>
          </a:p>
          <a:p>
            <a:pPr>
              <a:spcAft>
                <a:spcPts val="600"/>
              </a:spcAft>
              <a:defRPr sz="800">
                <a:solidFill>
                  <a:srgbClr val="1F2937"/>
                </a:solidFill>
              </a:defRPr>
            </a:pPr>
          </a:p>
          <a:p>
            <a:pPr>
              <a:spcAft>
                <a:spcPts val="600"/>
              </a:spcAft>
              <a:defRPr sz="1800" b="1">
                <a:solidFill>
                  <a:srgbClr val="EA580C"/>
                </a:solidFill>
              </a:defRPr>
            </a:pPr>
            <a:r>
              <a:t>★ EMPIRICAL:</a:t>
            </a:r>
          </a:p>
          <a:p>
            <a:pPr lvl="1">
              <a:spcAft>
                <a:spcPts val="600"/>
              </a:spcAft>
              <a:defRPr sz="1600">
                <a:solidFill>
                  <a:srgbClr val="1F2937"/>
                </a:solidFill>
              </a:defRPr>
            </a:pPr>
            <a:r>
              <a:t>   Causal evidence across 3 architectures (2.9B - 10.6B params)</a:t>
            </a:r>
          </a:p>
          <a:p>
            <a:pPr lvl="1">
              <a:spcAft>
                <a:spcPts val="600"/>
              </a:spcAft>
              <a:defRPr sz="1600">
                <a:solidFill>
                  <a:srgbClr val="1F2937"/>
                </a:solidFill>
              </a:defRPr>
            </a:pPr>
            <a:r>
              <a:t>   0.6% of features → 1.8-7.1× effect ratios vs random</a:t>
            </a:r>
          </a:p>
          <a:p>
            <a:pPr>
              <a:spcAft>
                <a:spcPts val="600"/>
              </a:spcAft>
              <a:defRPr sz="800">
                <a:solidFill>
                  <a:srgbClr val="1F2937"/>
                </a:solidFill>
              </a:defRPr>
            </a:pPr>
          </a:p>
          <a:p>
            <a:pPr>
              <a:spcAft>
                <a:spcPts val="600"/>
              </a:spcAft>
              <a:defRPr sz="1800" b="1">
                <a:solidFill>
                  <a:srgbClr val="EA580C"/>
                </a:solidFill>
              </a:defRPr>
            </a:pPr>
            <a:r>
              <a:t>★ MECHANISTIC (KEY NOVEL FINDING):</a:t>
            </a:r>
          </a:p>
          <a:p>
            <a:pPr lvl="1">
              <a:spcAft>
                <a:spcPts val="600"/>
              </a:spcAft>
              <a:defRPr sz="1600">
                <a:solidFill>
                  <a:srgbClr val="1F2937"/>
                </a:solidFill>
              </a:defRPr>
            </a:pPr>
            <a:r>
              <a:t>   Discovery of excitatory vs inhibitory gender encoding</a:t>
            </a:r>
          </a:p>
          <a:p>
            <a:pPr lvl="1">
              <a:spcAft>
                <a:spcPts val="600"/>
              </a:spcAft>
              <a:defRPr sz="1600">
                <a:solidFill>
                  <a:srgbClr val="1F2937"/>
                </a:solidFill>
              </a:defRPr>
            </a:pPr>
            <a:r>
              <a:t>   Different architectures use fundamentally different mechanisms</a:t>
            </a:r>
          </a:p>
          <a:p>
            <a:pPr>
              <a:spcAft>
                <a:spcPts val="600"/>
              </a:spcAft>
              <a:defRPr sz="800">
                <a:solidFill>
                  <a:srgbClr val="1F2937"/>
                </a:solidFill>
              </a:defRPr>
            </a:pPr>
          </a:p>
          <a:p>
            <a:pPr>
              <a:spcAft>
                <a:spcPts val="600"/>
              </a:spcAft>
              <a:defRPr sz="1800" b="1">
                <a:solidFill>
                  <a:srgbClr val="EA580C"/>
                </a:solidFill>
              </a:defRPr>
            </a:pPr>
            <a:r>
              <a:t>★ CROSS-LINGUAL:</a:t>
            </a:r>
          </a:p>
          <a:p>
            <a:pPr lvl="1">
              <a:spcAft>
                <a:spcPts val="600"/>
              </a:spcAft>
              <a:defRPr sz="1600">
                <a:solidFill>
                  <a:srgbClr val="1F2937"/>
                </a:solidFill>
              </a:defRPr>
            </a:pPr>
            <a:r>
              <a:t>   First causal 2×2 ablation on VLM gender features</a:t>
            </a:r>
          </a:p>
          <a:p>
            <a:pPr lvl="1">
              <a:spcAft>
                <a:spcPts val="600"/>
              </a:spcAft>
              <a:defRPr sz="1600">
                <a:solidFill>
                  <a:srgbClr val="1F2937"/>
                </a:solidFill>
              </a:defRPr>
            </a:pPr>
            <a:r>
              <a:t>   Feature overlap predicts cross-lingual transferability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9FA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005840"/>
          </a:xfrm>
          <a:prstGeom prst="rect">
            <a:avLst/>
          </a:prstGeom>
          <a:solidFill>
            <a:srgbClr val="1937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228600"/>
            <a:ext cx="841248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FFFFFF"/>
                </a:solidFill>
              </a:defRPr>
            </a:pPr>
            <a:r>
              <a:t>Comparison with Prior Work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" y="1097280"/>
            <a:ext cx="859536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 i="1">
                <a:solidFill>
                  <a:srgbClr val="1F2937"/>
                </a:solidFill>
              </a:defRPr>
            </a:pPr>
            <a:r>
              <a:t>First to combine SAE interpretability with VLM bias analysis and cross-lingual causal experiments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182880" y="1463040"/>
          <a:ext cx="8778240" cy="24688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94560"/>
                <a:gridCol w="2194560"/>
                <a:gridCol w="2194560"/>
                <a:gridCol w="2194560"/>
              </a:tblGrid>
              <a:tr h="411480"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FFFFF"/>
                          </a:solidFill>
                        </a:defRPr>
                      </a:pPr>
                      <a:r>
                        <a:t>Work</a:t>
                      </a:r>
                    </a:p>
                  </a:txBody>
                  <a:tcPr>
                    <a:solidFill>
                      <a:srgbClr val="19375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FFFFF"/>
                          </a:solidFill>
                        </a:defRPr>
                      </a:pPr>
                      <a:r>
                        <a:t>Domain</a:t>
                      </a:r>
                    </a:p>
                  </a:txBody>
                  <a:tcPr>
                    <a:solidFill>
                      <a:srgbClr val="19375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FFFFF"/>
                          </a:solidFill>
                        </a:defRPr>
                      </a:pPr>
                      <a:r>
                        <a:t>Method</a:t>
                      </a:r>
                    </a:p>
                  </a:txBody>
                  <a:tcPr>
                    <a:solidFill>
                      <a:srgbClr val="19375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FFFFF"/>
                          </a:solidFill>
                        </a:defRPr>
                      </a:pPr>
                      <a:r>
                        <a:t>Our Advance</a:t>
                      </a:r>
                    </a:p>
                  </a:txBody>
                  <a:tcPr>
                    <a:solidFill>
                      <a:srgbClr val="19375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1F2937"/>
                          </a:solidFill>
                        </a:defRPr>
                      </a:pPr>
                      <a:r>
                        <a:t>Hendricks et al. 2018</a:t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1F2937"/>
                          </a:solidFill>
                        </a:defRPr>
                      </a:pPr>
                      <a:r>
                        <a:t>VLM bias</a:t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1F2937"/>
                          </a:solidFill>
                        </a:defRPr>
                      </a:pPr>
                      <a:r>
                        <a:t>Measurement</a:t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1F2937"/>
                          </a:solidFill>
                        </a:defRPr>
                      </a:pPr>
                      <a:r>
                        <a:t>Mechanistic explanation</a:t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1F2937"/>
                          </a:solidFill>
                        </a:defRPr>
                      </a:pPr>
                      <a:r>
                        <a:t>Zhao et al. 2017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1F2937"/>
                          </a:solidFill>
                        </a:defRPr>
                      </a:pPr>
                      <a:r>
                        <a:t>VLM bias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1F2937"/>
                          </a:solidFill>
                        </a:defRPr>
                      </a:pPr>
                      <a:r>
                        <a:t>Data augmentation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1F2937"/>
                          </a:solidFill>
                        </a:defRPr>
                      </a:pPr>
                      <a:r>
                        <a:t>Feature-level intervention</a:t>
                      </a:r>
                    </a:p>
                  </a:txBody>
                  <a:tcPr/>
                </a:tc>
              </a:tr>
              <a:tr h="411480"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1F2937"/>
                          </a:solidFill>
                        </a:defRPr>
                      </a:pPr>
                      <a:r>
                        <a:t>Cunningham et al. 2023</a:t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1F2937"/>
                          </a:solidFill>
                        </a:defRPr>
                      </a:pPr>
                      <a:r>
                        <a:t>Text LLM</a:t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1F2937"/>
                          </a:solidFill>
                        </a:defRPr>
                      </a:pPr>
                      <a:r>
                        <a:t>SAE interpretability</a:t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1F2937"/>
                          </a:solidFill>
                        </a:defRPr>
                      </a:pPr>
                      <a:r>
                        <a:t>Extension to VLMs</a:t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1F2937"/>
                          </a:solidFill>
                        </a:defRPr>
                      </a:pPr>
                      <a:r>
                        <a:t>Templeton et al. 2024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1F2937"/>
                          </a:solidFill>
                        </a:defRPr>
                      </a:pPr>
                      <a:r>
                        <a:t>Text LLM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1F2937"/>
                          </a:solidFill>
                        </a:defRPr>
                      </a:pPr>
                      <a:r>
                        <a:t>34M SAE features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1F2937"/>
                          </a:solidFill>
                        </a:defRPr>
                      </a:pPr>
                      <a:r>
                        <a:t>Bias-focused analysis</a:t>
                      </a:r>
                    </a:p>
                  </a:txBody>
                  <a:tcPr/>
                </a:tc>
              </a:tr>
              <a:tr h="411480"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1F2937"/>
                          </a:solidFill>
                        </a:defRPr>
                      </a:pPr>
                      <a:r>
                        <a:t>Bricken et al. 2023</a:t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1F2937"/>
                          </a:solidFill>
                        </a:defRPr>
                      </a:pPr>
                      <a:r>
                        <a:t>Text LLM</a:t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1F2937"/>
                          </a:solidFill>
                        </a:defRPr>
                      </a:pPr>
                      <a:r>
                        <a:t>Monosemanticity</a:t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1F2937"/>
                          </a:solidFill>
                        </a:defRPr>
                      </a:pPr>
                      <a:r>
                        <a:t>Causal intervention</a:t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9FA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005840"/>
          </a:xfrm>
          <a:prstGeom prst="rect">
            <a:avLst/>
          </a:prstGeom>
          <a:solidFill>
            <a:srgbClr val="1937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228600"/>
            <a:ext cx="841248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FFFFFF"/>
                </a:solidFill>
              </a:defRPr>
            </a:pPr>
            <a:r>
              <a:t>Limitations &amp; Honest Assessment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1234440"/>
            <a:ext cx="841248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800" b="1">
                <a:solidFill>
                  <a:srgbClr val="EA580C"/>
                </a:solidFill>
              </a:defRPr>
            </a:pPr>
            <a:r>
              <a:t>★ SAE training scale:</a:t>
            </a:r>
          </a:p>
          <a:p>
            <a:pPr lvl="1">
              <a:spcAft>
                <a:spcPts val="600"/>
              </a:spcAft>
              <a:defRPr sz="1600">
                <a:solidFill>
                  <a:srgbClr val="1F2937"/>
                </a:solidFill>
              </a:defRPr>
            </a:pPr>
            <a:r>
              <a:t>   5K-10K samples per model (larger sets may help)</a:t>
            </a:r>
          </a:p>
          <a:p>
            <a:pPr>
              <a:spcAft>
                <a:spcPts val="600"/>
              </a:spcAft>
              <a:defRPr sz="800">
                <a:solidFill>
                  <a:srgbClr val="1F2937"/>
                </a:solidFill>
              </a:defRPr>
            </a:pPr>
          </a:p>
          <a:p>
            <a:pPr>
              <a:spcAft>
                <a:spcPts val="600"/>
              </a:spcAft>
              <a:defRPr sz="1800" b="1">
                <a:solidFill>
                  <a:srgbClr val="EA580C"/>
                </a:solidFill>
              </a:defRPr>
            </a:pPr>
            <a:r>
              <a:t>★ SAE architecture:</a:t>
            </a:r>
          </a:p>
          <a:p>
            <a:pPr lvl="1">
              <a:spcAft>
                <a:spcPts val="600"/>
              </a:spcAft>
              <a:defRPr sz="1600">
                <a:solidFill>
                  <a:srgbClr val="1F2937"/>
                </a:solidFill>
              </a:defRPr>
            </a:pPr>
            <a:r>
              <a:t>   Vanilla ReLU only (TopK/JumpReLU not tested)</a:t>
            </a:r>
          </a:p>
          <a:p>
            <a:pPr>
              <a:spcAft>
                <a:spcPts val="600"/>
              </a:spcAft>
              <a:defRPr sz="800">
                <a:solidFill>
                  <a:srgbClr val="1F2937"/>
                </a:solidFill>
              </a:defRPr>
            </a:pPr>
          </a:p>
          <a:p>
            <a:pPr>
              <a:spcAft>
                <a:spcPts val="600"/>
              </a:spcAft>
              <a:defRPr sz="1800" b="1">
                <a:solidFill>
                  <a:srgbClr val="EA580C"/>
                </a:solidFill>
              </a:defRPr>
            </a:pPr>
            <a:r>
              <a:t>★ Hook inconsistency:</a:t>
            </a:r>
          </a:p>
          <a:p>
            <a:pPr lvl="1">
              <a:spcAft>
                <a:spcPts val="600"/>
              </a:spcAft>
              <a:defRPr sz="1600">
                <a:solidFill>
                  <a:srgbClr val="1F2937"/>
                </a:solidFill>
              </a:defRPr>
            </a:pPr>
            <a:r>
              <a:t>   Different methods for different models (full recon vs residual)</a:t>
            </a:r>
          </a:p>
          <a:p>
            <a:pPr lvl="1">
              <a:spcAft>
                <a:spcPts val="600"/>
              </a:spcAft>
              <a:defRPr sz="1600">
                <a:solidFill>
                  <a:srgbClr val="1F2937"/>
                </a:solidFill>
              </a:defRPr>
            </a:pPr>
            <a:r>
              <a:t>   Within-model comparisons valid, cross-model needs caution</a:t>
            </a:r>
          </a:p>
          <a:p>
            <a:pPr>
              <a:spcAft>
                <a:spcPts val="600"/>
              </a:spcAft>
              <a:defRPr sz="800">
                <a:solidFill>
                  <a:srgbClr val="1F2937"/>
                </a:solidFill>
              </a:defRPr>
            </a:pPr>
          </a:p>
          <a:p>
            <a:pPr>
              <a:spcAft>
                <a:spcPts val="600"/>
              </a:spcAft>
              <a:defRPr sz="1800" b="1">
                <a:solidFill>
                  <a:srgbClr val="EA580C"/>
                </a:solidFill>
              </a:defRPr>
            </a:pPr>
            <a:r>
              <a:t>★ No human evaluation:</a:t>
            </a:r>
          </a:p>
          <a:p>
            <a:pPr lvl="1">
              <a:spcAft>
                <a:spcPts val="600"/>
              </a:spcAft>
              <a:defRPr sz="1600">
                <a:solidFill>
                  <a:srgbClr val="1F2937"/>
                </a:solidFill>
              </a:defRPr>
            </a:pPr>
            <a:r>
              <a:t>   Caption fluency/quality not assessed after ablation</a:t>
            </a:r>
          </a:p>
          <a:p>
            <a:pPr>
              <a:spcAft>
                <a:spcPts val="600"/>
              </a:spcAft>
              <a:defRPr sz="800">
                <a:solidFill>
                  <a:srgbClr val="1F2937"/>
                </a:solidFill>
              </a:defRPr>
            </a:pPr>
          </a:p>
          <a:p>
            <a:pPr>
              <a:spcAft>
                <a:spcPts val="600"/>
              </a:spcAft>
              <a:defRPr sz="1800" b="1">
                <a:solidFill>
                  <a:srgbClr val="EA580C"/>
                </a:solidFill>
              </a:defRPr>
            </a:pPr>
            <a:r>
              <a:t>★ Binary gender focus:</a:t>
            </a:r>
          </a:p>
          <a:p>
            <a:pPr lvl="1">
              <a:spcAft>
                <a:spcPts val="600"/>
              </a:spcAft>
              <a:defRPr sz="1600">
                <a:solidFill>
                  <a:srgbClr val="1F2937"/>
                </a:solidFill>
              </a:defRPr>
            </a:pPr>
            <a:r>
              <a:t>   Non-binary terms tracked but not primary metric</a:t>
            </a:r>
          </a:p>
          <a:p>
            <a:pPr>
              <a:spcAft>
                <a:spcPts val="600"/>
              </a:spcAft>
              <a:defRPr sz="800">
                <a:solidFill>
                  <a:srgbClr val="1F2937"/>
                </a:solidFill>
              </a:defRPr>
            </a:pPr>
          </a:p>
          <a:p>
            <a:pPr>
              <a:spcAft>
                <a:spcPts val="600"/>
              </a:spcAft>
              <a:defRPr sz="1800" b="1">
                <a:solidFill>
                  <a:srgbClr val="EA580C"/>
                </a:solidFill>
              </a:defRPr>
            </a:pPr>
            <a:r>
              <a:t>★ Llama SAE quality:</a:t>
            </a:r>
          </a:p>
          <a:p>
            <a:pPr lvl="1">
              <a:spcAft>
                <a:spcPts val="600"/>
              </a:spcAft>
              <a:defRPr sz="1600">
                <a:solidFill>
                  <a:srgbClr val="1F2937"/>
                </a:solidFill>
              </a:defRPr>
            </a:pPr>
            <a:r>
              <a:t>   Only 36.6% explained variance; results may be conservative</a:t>
            </a:r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9FA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005840"/>
          </a:xfrm>
          <a:prstGeom prst="rect">
            <a:avLst/>
          </a:prstGeom>
          <a:solidFill>
            <a:srgbClr val="1937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228600"/>
            <a:ext cx="841248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FFFFFF"/>
                </a:solidFill>
              </a:defRPr>
            </a:pPr>
            <a:r>
              <a:t>Future Work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1234440"/>
            <a:ext cx="841248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800" b="1">
                <a:solidFill>
                  <a:srgbClr val="EA580C"/>
                </a:solidFill>
              </a:defRPr>
            </a:pPr>
            <a:r>
              <a:t>★ Scale up SAE training:</a:t>
            </a:r>
          </a:p>
          <a:p>
            <a:pPr lvl="1">
              <a:spcAft>
                <a:spcPts val="600"/>
              </a:spcAft>
              <a:defRPr sz="1600">
                <a:solidFill>
                  <a:srgbClr val="1F2937"/>
                </a:solidFill>
              </a:defRPr>
            </a:pPr>
            <a:r>
              <a:t>   100K+ samples per model</a:t>
            </a:r>
          </a:p>
          <a:p>
            <a:pPr lvl="1">
              <a:spcAft>
                <a:spcPts val="600"/>
              </a:spcAft>
              <a:defRPr sz="1600">
                <a:solidFill>
                  <a:srgbClr val="1F2937"/>
                </a:solidFill>
              </a:defRPr>
            </a:pPr>
            <a:r>
              <a:t>   Full 40K Flickr8K captions</a:t>
            </a:r>
          </a:p>
          <a:p>
            <a:pPr>
              <a:spcAft>
                <a:spcPts val="600"/>
              </a:spcAft>
              <a:defRPr sz="800">
                <a:solidFill>
                  <a:srgbClr val="1F2937"/>
                </a:solidFill>
              </a:defRPr>
            </a:pPr>
          </a:p>
          <a:p>
            <a:pPr>
              <a:spcAft>
                <a:spcPts val="600"/>
              </a:spcAft>
              <a:defRPr sz="1800" b="1">
                <a:solidFill>
                  <a:srgbClr val="EA580C"/>
                </a:solidFill>
              </a:defRPr>
            </a:pPr>
            <a:r>
              <a:t>★ Compare SAE architectures:</a:t>
            </a:r>
          </a:p>
          <a:p>
            <a:pPr lvl="1">
              <a:spcAft>
                <a:spcPts val="600"/>
              </a:spcAft>
              <a:defRPr sz="1600">
                <a:solidFill>
                  <a:srgbClr val="1F2937"/>
                </a:solidFill>
              </a:defRPr>
            </a:pPr>
            <a:r>
              <a:t>   TopK SAEs (Gao et al., 2024)</a:t>
            </a:r>
          </a:p>
          <a:p>
            <a:pPr lvl="1">
              <a:spcAft>
                <a:spcPts val="600"/>
              </a:spcAft>
              <a:defRPr sz="1600">
                <a:solidFill>
                  <a:srgbClr val="1F2937"/>
                </a:solidFill>
              </a:defRPr>
            </a:pPr>
            <a:r>
              <a:t>   JumpReLU SAEs (Rajamanoharan et al., 2024)</a:t>
            </a:r>
          </a:p>
          <a:p>
            <a:pPr>
              <a:spcAft>
                <a:spcPts val="600"/>
              </a:spcAft>
              <a:defRPr sz="800">
                <a:solidFill>
                  <a:srgbClr val="1F2937"/>
                </a:solidFill>
              </a:defRPr>
            </a:pPr>
          </a:p>
          <a:p>
            <a:pPr>
              <a:spcAft>
                <a:spcPts val="600"/>
              </a:spcAft>
              <a:defRPr sz="1800" b="1">
                <a:solidFill>
                  <a:srgbClr val="EA580C"/>
                </a:solidFill>
              </a:defRPr>
            </a:pPr>
            <a:r>
              <a:t>★ Extend scope:</a:t>
            </a:r>
          </a:p>
          <a:p>
            <a:pPr lvl="1">
              <a:spcAft>
                <a:spcPts val="600"/>
              </a:spcAft>
              <a:defRPr sz="1600">
                <a:solidFill>
                  <a:srgbClr val="1F2937"/>
                </a:solidFill>
              </a:defRPr>
            </a:pPr>
            <a:r>
              <a:t>   More languages beyond English/Arabic</a:t>
            </a:r>
          </a:p>
          <a:p>
            <a:pPr lvl="1">
              <a:spcAft>
                <a:spcPts val="600"/>
              </a:spcAft>
              <a:defRPr sz="1600">
                <a:solidFill>
                  <a:srgbClr val="1F2937"/>
                </a:solidFill>
              </a:defRPr>
            </a:pPr>
            <a:r>
              <a:t>   Other bias types (race, age, profession)</a:t>
            </a:r>
          </a:p>
          <a:p>
            <a:pPr lvl="1">
              <a:spcAft>
                <a:spcPts val="600"/>
              </a:spcAft>
              <a:defRPr sz="1600">
                <a:solidFill>
                  <a:srgbClr val="1F2937"/>
                </a:solidFill>
              </a:defRPr>
            </a:pPr>
            <a:r>
              <a:t>   Human evaluation of caption quality</a:t>
            </a:r>
          </a:p>
          <a:p>
            <a:pPr>
              <a:spcAft>
                <a:spcPts val="600"/>
              </a:spcAft>
              <a:defRPr sz="800">
                <a:solidFill>
                  <a:srgbClr val="1F2937"/>
                </a:solidFill>
              </a:defRPr>
            </a:pPr>
          </a:p>
          <a:p>
            <a:pPr>
              <a:spcAft>
                <a:spcPts val="600"/>
              </a:spcAft>
              <a:defRPr sz="1800" b="1">
                <a:solidFill>
                  <a:srgbClr val="EA580C"/>
                </a:solidFill>
              </a:defRPr>
            </a:pPr>
            <a:r>
              <a:t>★ Investigate mechanisms:</a:t>
            </a:r>
          </a:p>
          <a:p>
            <a:pPr lvl="1">
              <a:spcAft>
                <a:spcPts val="600"/>
              </a:spcAft>
              <a:defRPr sz="1600">
                <a:solidFill>
                  <a:srgbClr val="1F2937"/>
                </a:solidFill>
              </a:defRPr>
            </a:pPr>
            <a:r>
              <a:t>   Why does instruction tuning create inhibitory features?</a:t>
            </a:r>
          </a:p>
          <a:p>
            <a:pPr lvl="1">
              <a:spcAft>
                <a:spcPts val="600"/>
              </a:spcAft>
              <a:defRPr sz="1600">
                <a:solidFill>
                  <a:srgbClr val="1F2937"/>
                </a:solidFill>
              </a:defRPr>
            </a:pPr>
            <a:r>
              <a:t>   Can we predict excitatory/inhibitory from architecture alone?</a:t>
            </a:r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9FA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005840"/>
          </a:xfrm>
          <a:prstGeom prst="rect">
            <a:avLst/>
          </a:prstGeom>
          <a:solidFill>
            <a:srgbClr val="1937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228600"/>
            <a:ext cx="841248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FFFFFF"/>
                </a:solidFill>
              </a:defRPr>
            </a:pPr>
            <a:r>
              <a:t>Key Takeaways for Supervisor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1234440"/>
            <a:ext cx="841248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800" b="1">
                <a:solidFill>
                  <a:srgbClr val="EA580C"/>
                </a:solidFill>
              </a:defRPr>
            </a:pPr>
            <a:r>
              <a:t>★ 1. SAEs can identify causal gender features in VLMs</a:t>
            </a:r>
          </a:p>
          <a:p>
            <a:pPr lvl="1">
              <a:spcAft>
                <a:spcPts val="600"/>
              </a:spcAft>
              <a:defRPr sz="1600">
                <a:solidFill>
                  <a:srgbClr val="1F2937"/>
                </a:solidFill>
              </a:defRPr>
            </a:pPr>
            <a:r>
              <a:t>   First application of mechanistic interpretability to VLM bias</a:t>
            </a:r>
          </a:p>
          <a:p>
            <a:pPr>
              <a:spcAft>
                <a:spcPts val="600"/>
              </a:spcAft>
              <a:defRPr sz="800">
                <a:solidFill>
                  <a:srgbClr val="1F2937"/>
                </a:solidFill>
              </a:defRPr>
            </a:pPr>
          </a:p>
          <a:p>
            <a:pPr>
              <a:spcAft>
                <a:spcPts val="600"/>
              </a:spcAft>
              <a:defRPr sz="1800" b="1">
                <a:solidFill>
                  <a:srgbClr val="EA580C"/>
                </a:solidFill>
              </a:defRPr>
            </a:pPr>
            <a:r>
              <a:t>★ 2. Direction of effect depends on architecture (NOVEL)</a:t>
            </a:r>
          </a:p>
          <a:p>
            <a:pPr lvl="1">
              <a:spcAft>
                <a:spcPts val="600"/>
              </a:spcAft>
              <a:defRPr sz="1600">
                <a:solidFill>
                  <a:srgbClr val="1F2937"/>
                </a:solidFill>
              </a:defRPr>
            </a:pPr>
            <a:r>
              <a:t>   Captioning models: excitatory features (ablation reduces)</a:t>
            </a:r>
          </a:p>
          <a:p>
            <a:pPr lvl="1">
              <a:spcAft>
                <a:spcPts val="600"/>
              </a:spcAft>
              <a:defRPr sz="1600">
                <a:solidFill>
                  <a:srgbClr val="1F2937"/>
                </a:solidFill>
              </a:defRPr>
            </a:pPr>
            <a:r>
              <a:t>   Instruction-tuned: inhibitory features (ablation increases)</a:t>
            </a:r>
          </a:p>
          <a:p>
            <a:pPr>
              <a:spcAft>
                <a:spcPts val="600"/>
              </a:spcAft>
              <a:defRPr sz="800">
                <a:solidFill>
                  <a:srgbClr val="1F2937"/>
                </a:solidFill>
              </a:defRPr>
            </a:pPr>
          </a:p>
          <a:p>
            <a:pPr>
              <a:spcAft>
                <a:spcPts val="600"/>
              </a:spcAft>
              <a:defRPr sz="1800" b="1">
                <a:solidFill>
                  <a:srgbClr val="EA580C"/>
                </a:solidFill>
              </a:defRPr>
            </a:pPr>
            <a:r>
              <a:t>★ 3. Cross-lingual features are language-specific</a:t>
            </a:r>
          </a:p>
          <a:p>
            <a:pPr lvl="1">
              <a:spcAft>
                <a:spcPts val="600"/>
              </a:spcAft>
              <a:defRPr sz="1600">
                <a:solidFill>
                  <a:srgbClr val="1F2937"/>
                </a:solidFill>
              </a:defRPr>
            </a:pPr>
            <a:r>
              <a:t>   Zero overlap → no transfer; high overlap → transfer occurs</a:t>
            </a:r>
          </a:p>
          <a:p>
            <a:pPr>
              <a:spcAft>
                <a:spcPts val="600"/>
              </a:spcAft>
              <a:defRPr sz="800">
                <a:solidFill>
                  <a:srgbClr val="1F2937"/>
                </a:solidFill>
              </a:defRPr>
            </a:pPr>
          </a:p>
          <a:p>
            <a:pPr>
              <a:spcAft>
                <a:spcPts val="600"/>
              </a:spcAft>
              <a:defRPr sz="1800" b="1">
                <a:solidFill>
                  <a:srgbClr val="EA580C"/>
                </a:solidFill>
              </a:defRPr>
            </a:pPr>
            <a:r>
              <a:t>★ 4. Intervention is robust to SAE quality</a:t>
            </a:r>
          </a:p>
          <a:p>
            <a:pPr lvl="1">
              <a:spcAft>
                <a:spcPts val="600"/>
              </a:spcAft>
              <a:defRPr sz="1600">
                <a:solidFill>
                  <a:srgbClr val="1F2937"/>
                </a:solidFill>
              </a:defRPr>
            </a:pPr>
            <a:r>
              <a:t>   Works even with 36.6% explained variance</a:t>
            </a:r>
          </a:p>
          <a:p>
            <a:pPr>
              <a:spcAft>
                <a:spcPts val="600"/>
              </a:spcAft>
              <a:defRPr sz="800">
                <a:solidFill>
                  <a:srgbClr val="1F2937"/>
                </a:solidFill>
              </a:defRPr>
            </a:pPr>
          </a:p>
          <a:p>
            <a:pPr>
              <a:spcAft>
                <a:spcPts val="600"/>
              </a:spcAft>
              <a:defRPr sz="1800" b="1">
                <a:solidFill>
                  <a:srgbClr val="EA580C"/>
                </a:solidFill>
              </a:defRPr>
            </a:pPr>
            <a:r>
              <a:t>★ 5. Bias mitigation requires architecture-specific strategies</a:t>
            </a:r>
          </a:p>
          <a:p>
            <a:pPr lvl="1">
              <a:spcAft>
                <a:spcPts val="600"/>
              </a:spcAft>
              <a:defRPr sz="1600">
                <a:solidFill>
                  <a:srgbClr val="1F2937"/>
                </a:solidFill>
              </a:defRPr>
            </a:pPr>
            <a:r>
              <a:t>   Same intervention can INCREASE or DECREASE bias</a:t>
            </a:r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9375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011680"/>
            <a:ext cx="822960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000" b="1">
                <a:solidFill>
                  <a:srgbClr val="FFFFFF"/>
                </a:solidFill>
              </a:defRPr>
            </a:pPr>
            <a:r>
              <a:t>Thank You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38404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>
                <a:solidFill>
                  <a:srgbClr val="C8D2DC"/>
                </a:solidFill>
              </a:defRPr>
            </a:pPr>
            <a:r>
              <a:t>Questions &amp; Discussion</a:t>
            </a:r>
            <a:br/>
            <a:br/>
            <a:r>
              <a:t>Code: github.com/nour-mubarak/mechanistic_intrep</a:t>
            </a:r>
            <a:br/>
            <a:r>
              <a:t>Email: nour.mubarak@durham.ac.uk</a:t>
            </a:r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D558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828800"/>
            <a:ext cx="8229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200">
                <a:solidFill>
                  <a:srgbClr val="B4C8E6"/>
                </a:solidFill>
              </a:defRPr>
            </a:pPr>
            <a:r>
              <a:t>Part 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256032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800" b="1">
                <a:solidFill>
                  <a:srgbClr val="FFFFFF"/>
                </a:solidFill>
              </a:defRPr>
            </a:pPr>
            <a:r>
              <a:t>Supplementary Material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023360"/>
            <a:ext cx="8229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800" i="1">
                <a:solidFill>
                  <a:srgbClr val="C8D2DC"/>
                </a:solidFill>
              </a:defRPr>
            </a:pPr>
            <a:r>
              <a:t>Technical details, additional results, and references</a:t>
            </a:r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9FA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005840"/>
          </a:xfrm>
          <a:prstGeom prst="rect">
            <a:avLst/>
          </a:prstGeom>
          <a:solidFill>
            <a:srgbClr val="1937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228600"/>
            <a:ext cx="841248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FFFFFF"/>
                </a:solidFill>
              </a:defRPr>
            </a:pPr>
            <a:r>
              <a:t>Statistical Methods: Details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1234440"/>
            <a:ext cx="841248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800" b="1">
                <a:solidFill>
                  <a:srgbClr val="EA580C"/>
                </a:solidFill>
              </a:defRPr>
            </a:pPr>
            <a:r>
              <a:t>★ Primary metric: Total gender terms across 500 captions</a:t>
            </a:r>
          </a:p>
          <a:p>
            <a:pPr>
              <a:spcAft>
                <a:spcPts val="600"/>
              </a:spcAft>
              <a:defRPr sz="800">
                <a:solidFill>
                  <a:srgbClr val="1F2937"/>
                </a:solidFill>
              </a:defRPr>
            </a:pPr>
          </a:p>
          <a:p>
            <a:pPr>
              <a:spcAft>
                <a:spcPts val="600"/>
              </a:spcAft>
              <a:defRPr sz="1800" b="1">
                <a:solidFill>
                  <a:srgbClr val="EA580C"/>
                </a:solidFill>
              </a:defRPr>
            </a:pPr>
            <a:r>
              <a:t>★ Paired analysis (per-image):</a:t>
            </a:r>
          </a:p>
          <a:p>
            <a:pPr lvl="1">
              <a:spcAft>
                <a:spcPts val="600"/>
              </a:spcAft>
              <a:defRPr sz="1600">
                <a:solidFill>
                  <a:srgbClr val="1F2937"/>
                </a:solidFill>
              </a:defRPr>
            </a:pPr>
            <a:r>
              <a:t>   Δᵢ = count(ablated_i) - count(baseline_i)</a:t>
            </a:r>
          </a:p>
          <a:p>
            <a:pPr lvl="1">
              <a:spcAft>
                <a:spcPts val="600"/>
              </a:spcAft>
              <a:defRPr sz="1600">
                <a:solidFill>
                  <a:srgbClr val="1F2937"/>
                </a:solidFill>
              </a:defRPr>
            </a:pPr>
            <a:r>
              <a:t>   Bootstrap 95% CI: 10,000 resamples</a:t>
            </a:r>
          </a:p>
          <a:p>
            <a:pPr lvl="1">
              <a:spcAft>
                <a:spcPts val="600"/>
              </a:spcAft>
              <a:defRPr sz="1600">
                <a:solidFill>
                  <a:srgbClr val="1F2937"/>
                </a:solidFill>
              </a:defRPr>
            </a:pPr>
            <a:r>
              <a:t>   Wilcoxon signed-rank test (non-parametric)</a:t>
            </a:r>
          </a:p>
          <a:p>
            <a:pPr>
              <a:spcAft>
                <a:spcPts val="600"/>
              </a:spcAft>
              <a:defRPr sz="800">
                <a:solidFill>
                  <a:srgbClr val="1F2937"/>
                </a:solidFill>
              </a:defRPr>
            </a:pPr>
          </a:p>
          <a:p>
            <a:pPr>
              <a:spcAft>
                <a:spcPts val="600"/>
              </a:spcAft>
              <a:defRPr sz="1800" b="1">
                <a:solidFill>
                  <a:srgbClr val="EA580C"/>
                </a:solidFill>
              </a:defRPr>
            </a:pPr>
            <a:r>
              <a:t>★ Effect specificity:</a:t>
            </a:r>
          </a:p>
          <a:p>
            <a:pPr lvl="1">
              <a:spcAft>
                <a:spcPts val="600"/>
              </a:spcAft>
              <a:defRPr sz="1600">
                <a:solidFill>
                  <a:srgbClr val="1F2937"/>
                </a:solidFill>
              </a:defRPr>
            </a:pPr>
            <a:r>
              <a:t>   Specificity = |targeted%| - |random%|</a:t>
            </a:r>
          </a:p>
          <a:p>
            <a:pPr lvl="1">
              <a:spcAft>
                <a:spcPts val="600"/>
              </a:spcAft>
              <a:defRPr sz="1600">
                <a:solidFill>
                  <a:srgbClr val="1F2937"/>
                </a:solidFill>
              </a:defRPr>
            </a:pPr>
            <a:r>
              <a:t>   Ratio = |targeted| / |random|</a:t>
            </a:r>
          </a:p>
          <a:p>
            <a:pPr lvl="1">
              <a:spcAft>
                <a:spcPts val="600"/>
              </a:spcAft>
              <a:defRPr sz="1600">
                <a:solidFill>
                  <a:srgbClr val="1F2937"/>
                </a:solidFill>
              </a:defRPr>
            </a:pPr>
            <a:r>
              <a:t>   Ratio &gt; 1 → targeted exceeds random</a:t>
            </a:r>
          </a:p>
          <a:p>
            <a:pPr>
              <a:spcAft>
                <a:spcPts val="600"/>
              </a:spcAft>
              <a:defRPr sz="800">
                <a:solidFill>
                  <a:srgbClr val="1F2937"/>
                </a:solidFill>
              </a:defRPr>
            </a:pPr>
          </a:p>
          <a:p>
            <a:pPr>
              <a:spcAft>
                <a:spcPts val="600"/>
              </a:spcAft>
              <a:defRPr sz="1800" b="1">
                <a:solidFill>
                  <a:srgbClr val="EA580C"/>
                </a:solidFill>
              </a:defRPr>
            </a:pPr>
            <a:r>
              <a:t>★ Note on Wilcoxon one-sided test:</a:t>
            </a:r>
          </a:p>
          <a:p>
            <a:pPr lvl="1">
              <a:spcAft>
                <a:spcPts val="600"/>
              </a:spcAft>
              <a:defRPr sz="1600">
                <a:solidFill>
                  <a:srgbClr val="1F2937"/>
                </a:solidFill>
              </a:defRPr>
            </a:pPr>
            <a:r>
              <a:t>   Originally configured for decrease (PaLiGemma)</a:t>
            </a:r>
          </a:p>
          <a:p>
            <a:pPr lvl="1">
              <a:spcAft>
                <a:spcPts val="600"/>
              </a:spcAft>
              <a:defRPr sz="1600">
                <a:solidFill>
                  <a:srgbClr val="1F2937"/>
                </a:solidFill>
              </a:defRPr>
            </a:pPr>
            <a:r>
              <a:t>   For Qwen/Llama (increases), bootstrap CI is primary test</a:t>
            </a:r>
          </a:p>
          <a:p>
            <a:pPr lvl="1">
              <a:spcAft>
                <a:spcPts val="600"/>
              </a:spcAft>
              <a:defRPr sz="1600">
                <a:solidFill>
                  <a:srgbClr val="1F2937"/>
                </a:solidFill>
              </a:defRPr>
            </a:pPr>
            <a:r>
              <a:t>   CI excluding zero confirms significance regardless of direction</a:t>
            </a:r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9FA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005840"/>
          </a:xfrm>
          <a:prstGeom prst="rect">
            <a:avLst/>
          </a:prstGeom>
          <a:solidFill>
            <a:srgbClr val="1937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228600"/>
            <a:ext cx="841248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FFFFFF"/>
                </a:solidFill>
              </a:defRPr>
            </a:pPr>
            <a:r>
              <a:t>Why LLaVA Was Not Used for Intervention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1234440"/>
            <a:ext cx="841248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800" b="1">
                <a:solidFill>
                  <a:srgbClr val="EA580C"/>
                </a:solidFill>
              </a:defRPr>
            </a:pPr>
            <a:r>
              <a:t>★ LLaVA-1.5-7B trained but excluded from intervention:</a:t>
            </a:r>
          </a:p>
          <a:p>
            <a:pPr>
              <a:spcAft>
                <a:spcPts val="600"/>
              </a:spcAft>
              <a:defRPr sz="800">
                <a:solidFill>
                  <a:srgbClr val="1F2937"/>
                </a:solidFill>
              </a:defRPr>
            </a:pPr>
          </a:p>
          <a:p>
            <a:pPr>
              <a:spcAft>
                <a:spcPts val="600"/>
              </a:spcAft>
              <a:defRPr sz="1700">
                <a:solidFill>
                  <a:srgbClr val="1F2937"/>
                </a:solidFill>
              </a:defRPr>
            </a:pPr>
            <a:r>
              <a:t>• Primary reason: 95% dead SAE features</a:t>
            </a:r>
          </a:p>
          <a:p>
            <a:pPr lvl="1">
              <a:spcAft>
                <a:spcPts val="600"/>
              </a:spcAft>
              <a:defRPr sz="1600">
                <a:solidFill>
                  <a:srgbClr val="1F2937"/>
                </a:solidFill>
              </a:defRPr>
            </a:pPr>
            <a:r>
              <a:t>   Most features never activate</a:t>
            </a:r>
          </a:p>
          <a:p>
            <a:pPr lvl="1">
              <a:spcAft>
                <a:spcPts val="600"/>
              </a:spcAft>
              <a:defRPr sz="1600">
                <a:solidFill>
                  <a:srgbClr val="1F2937"/>
                </a:solidFill>
              </a:defRPr>
            </a:pPr>
            <a:r>
              <a:t>   Insufficient active features for meaningful ablation</a:t>
            </a:r>
          </a:p>
          <a:p>
            <a:pPr>
              <a:spcAft>
                <a:spcPts val="600"/>
              </a:spcAft>
              <a:defRPr sz="800">
                <a:solidFill>
                  <a:srgbClr val="1F2937"/>
                </a:solidFill>
              </a:defRPr>
            </a:pPr>
          </a:p>
          <a:p>
            <a:pPr>
              <a:spcAft>
                <a:spcPts val="600"/>
              </a:spcAft>
              <a:defRPr sz="1700">
                <a:solidFill>
                  <a:srgbClr val="1F2937"/>
                </a:solidFill>
              </a:defRPr>
            </a:pPr>
            <a:r>
              <a:t>• Secondary reason: Architectural similarity to Qwen2-VL</a:t>
            </a:r>
          </a:p>
          <a:p>
            <a:pPr lvl="1">
              <a:spcAft>
                <a:spcPts val="600"/>
              </a:spcAft>
              <a:defRPr sz="1600">
                <a:solidFill>
                  <a:srgbClr val="1F2937"/>
                </a:solidFill>
              </a:defRPr>
            </a:pPr>
            <a:r>
              <a:t>   Both instruction-tuned 7B models</a:t>
            </a:r>
          </a:p>
          <a:p>
            <a:pPr lvl="1">
              <a:spcAft>
                <a:spcPts val="600"/>
              </a:spcAft>
              <a:defRPr sz="1600">
                <a:solidFill>
                  <a:srgbClr val="1F2937"/>
                </a:solidFill>
              </a:defRPr>
            </a:pPr>
            <a:r>
              <a:t>   Would likely show same direction (inhibitory)</a:t>
            </a:r>
          </a:p>
          <a:p>
            <a:pPr lvl="1">
              <a:spcAft>
                <a:spcPts val="600"/>
              </a:spcAft>
              <a:defRPr sz="1600">
                <a:solidFill>
                  <a:srgbClr val="1F2937"/>
                </a:solidFill>
              </a:defRPr>
            </a:pPr>
            <a:r>
              <a:t>   Qwen provides sufficient evidence for this class</a:t>
            </a:r>
          </a:p>
          <a:p>
            <a:pPr>
              <a:spcAft>
                <a:spcPts val="600"/>
              </a:spcAft>
              <a:defRPr sz="800">
                <a:solidFill>
                  <a:srgbClr val="1F2937"/>
                </a:solidFill>
              </a:defRPr>
            </a:pPr>
          </a:p>
          <a:p>
            <a:pPr>
              <a:spcAft>
                <a:spcPts val="600"/>
              </a:spcAft>
              <a:defRPr sz="1700">
                <a:solidFill>
                  <a:srgbClr val="1F2937"/>
                </a:solidFill>
              </a:defRPr>
            </a:pPr>
            <a:r>
              <a:t>• LLaVA results included in:</a:t>
            </a:r>
          </a:p>
          <a:p>
            <a:pPr lvl="1">
              <a:spcAft>
                <a:spcPts val="600"/>
              </a:spcAft>
              <a:defRPr sz="1600">
                <a:solidFill>
                  <a:srgbClr val="1F2937"/>
                </a:solidFill>
              </a:defRPr>
            </a:pPr>
            <a:r>
              <a:t>   SAE quality metrics</a:t>
            </a:r>
          </a:p>
          <a:p>
            <a:pPr lvl="1">
              <a:spcAft>
                <a:spcPts val="600"/>
              </a:spcAft>
              <a:defRPr sz="1600">
                <a:solidFill>
                  <a:srgbClr val="1F2937"/>
                </a:solidFill>
              </a:defRPr>
            </a:pPr>
            <a:r>
              <a:t>   Cross-lingual feature overlap analysis</a:t>
            </a:r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9FA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005840"/>
          </a:xfrm>
          <a:prstGeom prst="rect">
            <a:avLst/>
          </a:prstGeom>
          <a:solidFill>
            <a:srgbClr val="1937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228600"/>
            <a:ext cx="841248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FFFFFF"/>
                </a:solidFill>
              </a:defRPr>
            </a:pPr>
            <a:r>
              <a:t>Anticipated Reviewer Concerns (Addressed)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" y="1097280"/>
            <a:ext cx="859536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 i="1">
                <a:solidFill>
                  <a:srgbClr val="1F2937"/>
                </a:solidFill>
              </a:defRPr>
            </a:pPr>
            <a:r>
              <a:t>Proactive responses to anticipated reviewer feedback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182880" y="1463040"/>
          <a:ext cx="8778240" cy="24688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389120"/>
                <a:gridCol w="4389120"/>
              </a:tblGrid>
              <a:tr h="411480"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FFFFF"/>
                          </a:solidFill>
                        </a:defRPr>
                      </a:pPr>
                      <a:r>
                        <a:t>Concern</a:t>
                      </a:r>
                    </a:p>
                  </a:txBody>
                  <a:tcPr>
                    <a:solidFill>
                      <a:srgbClr val="19375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FFFFF"/>
                          </a:solidFill>
                        </a:defRPr>
                      </a:pPr>
                      <a:r>
                        <a:t>Our Response</a:t>
                      </a:r>
                    </a:p>
                  </a:txBody>
                  <a:tcPr>
                    <a:solidFill>
                      <a:srgbClr val="19375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1F2937"/>
                          </a:solidFill>
                        </a:defRPr>
                      </a:pPr>
                      <a:r>
                        <a:t>Dataset size (Flickr8K small)</a:t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1F2937"/>
                          </a:solidFill>
                        </a:defRPr>
                      </a:pPr>
                      <a:r>
                        <a:t>Sufficient for activation analysis; not training new models</a:t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1F2937"/>
                          </a:solidFill>
                        </a:defRPr>
                      </a:pPr>
                      <a:r>
                        <a:t>Gender term counting bias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1F2937"/>
                          </a:solidFill>
                        </a:defRPr>
                      </a:pPr>
                      <a:r>
                        <a:t>Report both raw count AND length-normalized rate</a:t>
                      </a:r>
                    </a:p>
                  </a:txBody>
                  <a:tcPr/>
                </a:tc>
              </a:tr>
              <a:tr h="411480"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1F2937"/>
                          </a:solidFill>
                        </a:defRPr>
                      </a:pPr>
                      <a:r>
                        <a:t>CLBAS metric (not standard)</a:t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1F2937"/>
                          </a:solidFill>
                        </a:defRPr>
                      </a:pPr>
                      <a:r>
                        <a:t>Removed; using causal 2×2 ablation + Jaccard overlap</a:t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1F2937"/>
                          </a:solidFill>
                        </a:defRPr>
                      </a:pPr>
                      <a:r>
                        <a:t>Single model limited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1F2937"/>
                          </a:solidFill>
                        </a:defRPr>
                      </a:pPr>
                      <a:r>
                        <a:t>3 models spanning 2.9B-10.6B parameters</a:t>
                      </a:r>
                    </a:p>
                  </a:txBody>
                  <a:tcPr/>
                </a:tc>
              </a:tr>
              <a:tr h="411480"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1F2937"/>
                          </a:solidFill>
                        </a:defRPr>
                      </a:pPr>
                      <a:r>
                        <a:t>Hook method inconsistency</a:t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1F2937"/>
                          </a:solidFill>
                        </a:defRPr>
                      </a:pPr>
                      <a:r>
                        <a:t>Justified; within-model comparisons valid</a:t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6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DF7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005840"/>
          </a:xfrm>
          <a:prstGeom prst="rect">
            <a:avLst/>
          </a:prstGeom>
          <a:solidFill>
            <a:srgbClr val="1937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228600"/>
            <a:ext cx="841248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FFFFFF"/>
                </a:solidFill>
              </a:defRPr>
            </a:pPr>
            <a:r>
              <a:t>Key References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1188720"/>
            <a:ext cx="841248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  <a:defRPr sz="1500" b="1">
                <a:solidFill>
                  <a:srgbClr val="3B82F6"/>
                </a:solidFill>
              </a:defRPr>
            </a:pPr>
            <a:r>
              <a:t>[Hendricks et al., 2018] Women Also Snowboard. ECCV.</a:t>
            </a:r>
          </a:p>
          <a:p>
            <a:pPr>
              <a:spcAft>
                <a:spcPts val="300"/>
              </a:spcAft>
              <a:defRPr sz="1400">
                <a:solidFill>
                  <a:srgbClr val="1F2937"/>
                </a:solidFill>
              </a:defRPr>
            </a:pPr>
            <a:r>
              <a:t>      Gender bias measurement in image captioning.</a:t>
            </a:r>
          </a:p>
          <a:p>
            <a:pPr>
              <a:spcAft>
                <a:spcPts val="300"/>
              </a:spcAft>
              <a:defRPr sz="600"/>
            </a:pPr>
          </a:p>
          <a:p>
            <a:pPr>
              <a:spcAft>
                <a:spcPts val="300"/>
              </a:spcAft>
              <a:defRPr sz="1500" b="1">
                <a:solidFill>
                  <a:srgbClr val="3B82F6"/>
                </a:solidFill>
              </a:defRPr>
            </a:pPr>
            <a:r>
              <a:t>[Cunningham et al., 2023] Sparse Autoencoders for GPT-2. ICLR.</a:t>
            </a:r>
          </a:p>
          <a:p>
            <a:pPr>
              <a:spcAft>
                <a:spcPts val="300"/>
              </a:spcAft>
              <a:defRPr sz="1400">
                <a:solidFill>
                  <a:srgbClr val="1F2937"/>
                </a:solidFill>
              </a:defRPr>
            </a:pPr>
            <a:r>
              <a:t>      Foundation for SAE-based interpretability.</a:t>
            </a:r>
          </a:p>
          <a:p>
            <a:pPr>
              <a:spcAft>
                <a:spcPts val="300"/>
              </a:spcAft>
              <a:defRPr sz="600"/>
            </a:pPr>
          </a:p>
          <a:p>
            <a:pPr>
              <a:spcAft>
                <a:spcPts val="300"/>
              </a:spcAft>
              <a:defRPr sz="1500" b="1">
                <a:solidFill>
                  <a:srgbClr val="3B82F6"/>
                </a:solidFill>
              </a:defRPr>
            </a:pPr>
            <a:r>
              <a:t>[Bricken et al., 2023] Monosemanticity. Anthropic.</a:t>
            </a:r>
          </a:p>
          <a:p>
            <a:pPr>
              <a:spcAft>
                <a:spcPts val="300"/>
              </a:spcAft>
              <a:defRPr sz="1400">
                <a:solidFill>
                  <a:srgbClr val="1F2937"/>
                </a:solidFill>
              </a:defRPr>
            </a:pPr>
            <a:r>
              <a:t>      Scaling SAEs to larger language models.</a:t>
            </a:r>
          </a:p>
          <a:p>
            <a:pPr>
              <a:spcAft>
                <a:spcPts val="300"/>
              </a:spcAft>
              <a:defRPr sz="600"/>
            </a:pPr>
          </a:p>
          <a:p>
            <a:pPr>
              <a:spcAft>
                <a:spcPts val="300"/>
              </a:spcAft>
              <a:defRPr sz="1500" b="1">
                <a:solidFill>
                  <a:srgbClr val="3B82F6"/>
                </a:solidFill>
              </a:defRPr>
            </a:pPr>
            <a:r>
              <a:t>[Templeton et al., 2024] Scaling Monosemanticity. Anthropic.</a:t>
            </a:r>
          </a:p>
          <a:p>
            <a:pPr>
              <a:spcAft>
                <a:spcPts val="300"/>
              </a:spcAft>
              <a:defRPr sz="1400">
                <a:solidFill>
                  <a:srgbClr val="1F2937"/>
                </a:solidFill>
              </a:defRPr>
            </a:pPr>
            <a:r>
              <a:t>      34M features on Claude; safety-relevant concepts.</a:t>
            </a:r>
          </a:p>
          <a:p>
            <a:pPr>
              <a:spcAft>
                <a:spcPts val="300"/>
              </a:spcAft>
              <a:defRPr sz="600"/>
            </a:pPr>
          </a:p>
          <a:p>
            <a:pPr>
              <a:spcAft>
                <a:spcPts val="300"/>
              </a:spcAft>
              <a:defRPr sz="1500" b="1">
                <a:solidFill>
                  <a:srgbClr val="3B82F6"/>
                </a:solidFill>
              </a:defRPr>
            </a:pPr>
            <a:r>
              <a:t>[Gao et al., 2024] TopK SAEs. Proceedings.</a:t>
            </a:r>
          </a:p>
          <a:p>
            <a:pPr>
              <a:spcAft>
                <a:spcPts val="300"/>
              </a:spcAft>
              <a:defRPr sz="1400">
                <a:solidFill>
                  <a:srgbClr val="1F2937"/>
                </a:solidFill>
              </a:defRPr>
            </a:pPr>
            <a:r>
              <a:t>      Alternative SAE architecture with hard sparsity.</a:t>
            </a:r>
          </a:p>
          <a:p>
            <a:pPr>
              <a:spcAft>
                <a:spcPts val="300"/>
              </a:spcAft>
              <a:defRPr sz="600"/>
            </a:pPr>
          </a:p>
          <a:p>
            <a:pPr>
              <a:spcAft>
                <a:spcPts val="300"/>
              </a:spcAft>
              <a:defRPr sz="1500" b="1">
                <a:solidFill>
                  <a:srgbClr val="3B82F6"/>
                </a:solidFill>
              </a:defRPr>
            </a:pPr>
            <a:r>
              <a:t>[Rajamanoharan et al., 2024] JumpReLU SAEs.</a:t>
            </a:r>
          </a:p>
          <a:p>
            <a:pPr>
              <a:spcAft>
                <a:spcPts val="300"/>
              </a:spcAft>
              <a:defRPr sz="1400">
                <a:solidFill>
                  <a:srgbClr val="1F2937"/>
                </a:solidFill>
              </a:defRPr>
            </a:pPr>
            <a:r>
              <a:t>      Improved sparsity through learned thresholds.</a:t>
            </a:r>
          </a:p>
        </p:txBody>
      </p:sp>
    </p:spTree>
  </p:cSld>
  <p:clrMapOvr>
    <a:masterClrMapping/>
  </p:clrMapOvr>
</p:sld>
</file>

<file path=ppt/slides/slide6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9FA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005840"/>
          </a:xfrm>
          <a:prstGeom prst="rect">
            <a:avLst/>
          </a:prstGeom>
          <a:solidFill>
            <a:srgbClr val="1937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228600"/>
            <a:ext cx="841248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FFFFFF"/>
                </a:solidFill>
              </a:defRPr>
            </a:pPr>
            <a:r>
              <a:t>All Figures in Presentation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1234440"/>
            <a:ext cx="841248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800" b="1">
                <a:solidFill>
                  <a:srgbClr val="EA580C"/>
                </a:solidFill>
              </a:defRPr>
            </a:pPr>
            <a:r>
              <a:t>★ Pipeline &amp; Methodology:</a:t>
            </a:r>
          </a:p>
          <a:p>
            <a:pPr lvl="1">
              <a:spcAft>
                <a:spcPts val="600"/>
              </a:spcAft>
              <a:defRPr sz="1600">
                <a:solidFill>
                  <a:srgbClr val="1F2937"/>
                </a:solidFill>
              </a:defRPr>
            </a:pPr>
            <a:r>
              <a:t>   Fig 1: Four-stage pipeline overview</a:t>
            </a:r>
          </a:p>
          <a:p>
            <a:pPr lvl="1">
              <a:spcAft>
                <a:spcPts val="600"/>
              </a:spcAft>
              <a:defRPr sz="1600">
                <a:solidFill>
                  <a:srgbClr val="1F2937"/>
                </a:solidFill>
              </a:defRPr>
            </a:pPr>
            <a:r>
              <a:t>   Fig 2: Intervention experiment design</a:t>
            </a:r>
          </a:p>
          <a:p>
            <a:pPr>
              <a:spcAft>
                <a:spcPts val="600"/>
              </a:spcAft>
              <a:defRPr sz="800">
                <a:solidFill>
                  <a:srgbClr val="1F2937"/>
                </a:solidFill>
              </a:defRPr>
            </a:pPr>
          </a:p>
          <a:p>
            <a:pPr>
              <a:spcAft>
                <a:spcPts val="600"/>
              </a:spcAft>
              <a:defRPr sz="1800" b="1">
                <a:solidFill>
                  <a:srgbClr val="EA580C"/>
                </a:solidFill>
              </a:defRPr>
            </a:pPr>
            <a:r>
              <a:t>★ Main Results:</a:t>
            </a:r>
          </a:p>
          <a:p>
            <a:pPr lvl="1">
              <a:spcAft>
                <a:spcPts val="600"/>
              </a:spcAft>
              <a:defRPr sz="1600">
                <a:solidFill>
                  <a:srgbClr val="1F2937"/>
                </a:solidFill>
              </a:defRPr>
            </a:pPr>
            <a:r>
              <a:t>   Fig 3: Cross-model intervention comparison</a:t>
            </a:r>
          </a:p>
          <a:p>
            <a:pPr lvl="1">
              <a:spcAft>
                <a:spcPts val="600"/>
              </a:spcAft>
              <a:defRPr sz="1600">
                <a:solidFill>
                  <a:srgbClr val="1F2937"/>
                </a:solidFill>
              </a:defRPr>
            </a:pPr>
            <a:r>
              <a:t>   Fig 4: Layer specificity analysis</a:t>
            </a:r>
          </a:p>
          <a:p>
            <a:pPr lvl="1">
              <a:spcAft>
                <a:spcPts val="600"/>
              </a:spcAft>
              <a:defRPr sz="1600">
                <a:solidFill>
                  <a:srgbClr val="1F2937"/>
                </a:solidFill>
              </a:defRPr>
            </a:pPr>
            <a:r>
              <a:t>   Fig 5: Per-term change heatmap</a:t>
            </a:r>
          </a:p>
          <a:p>
            <a:pPr>
              <a:spcAft>
                <a:spcPts val="600"/>
              </a:spcAft>
              <a:defRPr sz="800">
                <a:solidFill>
                  <a:srgbClr val="1F2937"/>
                </a:solidFill>
              </a:defRPr>
            </a:pPr>
          </a:p>
          <a:p>
            <a:pPr>
              <a:spcAft>
                <a:spcPts val="600"/>
              </a:spcAft>
              <a:defRPr sz="1800" b="1">
                <a:solidFill>
                  <a:srgbClr val="EA580C"/>
                </a:solidFill>
              </a:defRPr>
            </a:pPr>
            <a:r>
              <a:t>★ Cross-Lingual:</a:t>
            </a:r>
          </a:p>
          <a:p>
            <a:pPr lvl="1">
              <a:spcAft>
                <a:spcPts val="600"/>
              </a:spcAft>
              <a:defRPr sz="1600">
                <a:solidFill>
                  <a:srgbClr val="1F2937"/>
                </a:solidFill>
              </a:defRPr>
            </a:pPr>
            <a:r>
              <a:t>   Fig 6: Cross-lingual feature analysis</a:t>
            </a:r>
          </a:p>
          <a:p>
            <a:pPr>
              <a:spcAft>
                <a:spcPts val="600"/>
              </a:spcAft>
              <a:defRPr sz="800">
                <a:solidFill>
                  <a:srgbClr val="1F2937"/>
                </a:solidFill>
              </a:defRPr>
            </a:pPr>
          </a:p>
          <a:p>
            <a:pPr>
              <a:spcAft>
                <a:spcPts val="600"/>
              </a:spcAft>
              <a:defRPr sz="1800" b="1">
                <a:solidFill>
                  <a:srgbClr val="EA580C"/>
                </a:solidFill>
              </a:defRPr>
            </a:pPr>
            <a:r>
              <a:t>★ All figures available in:</a:t>
            </a:r>
          </a:p>
          <a:p>
            <a:pPr lvl="1">
              <a:spcAft>
                <a:spcPts val="600"/>
              </a:spcAft>
              <a:defRPr sz="1600">
                <a:solidFill>
                  <a:srgbClr val="1F2937"/>
                </a:solidFill>
              </a:defRPr>
            </a:pPr>
            <a:r>
              <a:t>   publication/figures/main/</a:t>
            </a:r>
          </a:p>
          <a:p>
            <a:pPr lvl="1">
              <a:spcAft>
                <a:spcPts val="600"/>
              </a:spcAft>
              <a:defRPr sz="1600">
                <a:solidFill>
                  <a:srgbClr val="1F2937"/>
                </a:solidFill>
              </a:defRPr>
            </a:pPr>
            <a:r>
              <a:t>   publication/figures/supplementary/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